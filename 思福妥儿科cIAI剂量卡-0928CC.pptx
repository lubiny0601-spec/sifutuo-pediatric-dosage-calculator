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261" r:id="rId4"/>
    <p:sldId id="259" r:id="rId5"/>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蔡 蔡" initials="蔡" lastIdx="6" clrIdx="0">
    <p:extLst>
      <p:ext uri="{19B8F6BF-5375-455C-9EA6-DF929625EA0E}">
        <p15:presenceInfo xmlns:p15="http://schemas.microsoft.com/office/powerpoint/2012/main" userId="3fcf5b56609c5ee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A8AAB"/>
    <a:srgbClr val="EDB9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0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2-09-28T10:10:53.525" idx="5">
    <p:pos x="2006" y="7143"/>
    <p:text>待更新为最新版说明书审批日期</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2-09-28T10:11:37.188" idx="6">
    <p:pos x="2024" y="7143"/>
    <p:text>待更新为最新版说明书审批日期</p:text>
    <p:extLst>
      <p:ext uri="{C676402C-5697-4E1C-873F-D02D1690AC5C}">
        <p15:threadingInfo xmlns:p15="http://schemas.microsoft.com/office/powerpoint/2012/main" timeZoneBias="-4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2-09-23T15:09:31.565" idx="3">
    <p:pos x="1441" y="92"/>
    <p:text>待替换为儿科简版说明书</p:text>
    <p:extLst>
      <p:ext uri="{C676402C-5697-4E1C-873F-D02D1690AC5C}">
        <p15:threadingInfo xmlns:p15="http://schemas.microsoft.com/office/powerpoint/2012/main" timeZoneBias="-480"/>
      </p:ext>
    </p:extLst>
  </p:cm>
  <p:cm authorId="1" dt="2022-09-23T15:10:37.648" idx="4">
    <p:pos x="3901" y="6813"/>
    <p:text>待替换为儿科说明书二维码</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2036369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169093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1728437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27028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472381" y="4453467"/>
            <a:ext cx="2901255" cy="655037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3471863" y="4453467"/>
            <a:ext cx="2915543" cy="655037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249641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248543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4126472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292744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229060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815930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2893161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75000"/>
                  </a:schemeClr>
                </a:solidFill>
              </a:defRPr>
            </a:lvl1pPr>
          </a:lstStyle>
          <a:p>
            <a:fld id="{798E2395-FA59-48E3-BC04-D02BB515156B}" type="datetimeFigureOut">
              <a:rPr lang="zh-CN" altLang="en-US" smtClean="0"/>
              <a:t>2022/9/28</a:t>
            </a:fld>
            <a:endParaRPr lang="zh-CN" alt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75000"/>
                  </a:schemeClr>
                </a:solidFill>
              </a:defRPr>
            </a:lvl1pPr>
          </a:lstStyle>
          <a:p>
            <a:fld id="{94D713D6-7055-4A40-997E-7C2003BDF463}" type="slidenum">
              <a:rPr lang="zh-CN" altLang="en-US" smtClean="0"/>
              <a:t>‹#›</a:t>
            </a:fld>
            <a:endParaRPr lang="zh-CN" altLang="en-US"/>
          </a:p>
        </p:txBody>
      </p:sp>
    </p:spTree>
    <p:extLst>
      <p:ext uri="{BB962C8B-B14F-4D97-AF65-F5344CB8AC3E}">
        <p14:creationId xmlns:p14="http://schemas.microsoft.com/office/powerpoint/2010/main" val="3809402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comments" Target="../comments/commen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comments" Target="../comments/comment3.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90C184E-8169-709F-A417-AF4CB8810558}"/>
              </a:ext>
            </a:extLst>
          </p:cNvPr>
          <p:cNvPicPr>
            <a:picLocks noChangeAspect="1"/>
          </p:cNvPicPr>
          <p:nvPr/>
        </p:nvPicPr>
        <p:blipFill>
          <a:blip r:embed="rId2"/>
          <a:stretch>
            <a:fillRect/>
          </a:stretch>
        </p:blipFill>
        <p:spPr>
          <a:xfrm>
            <a:off x="0" y="4976159"/>
            <a:ext cx="6858000" cy="4287928"/>
          </a:xfrm>
          <a:prstGeom prst="rect">
            <a:avLst/>
          </a:prstGeom>
        </p:spPr>
      </p:pic>
      <p:pic>
        <p:nvPicPr>
          <p:cNvPr id="5" name="图片 4">
            <a:extLst>
              <a:ext uri="{FF2B5EF4-FFF2-40B4-BE49-F238E27FC236}">
                <a16:creationId xmlns:a16="http://schemas.microsoft.com/office/drawing/2014/main" id="{2C73FD4C-8062-FBB0-3BC1-A5319A63289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96236" y="30875"/>
            <a:ext cx="561975" cy="400050"/>
          </a:xfrm>
          <a:prstGeom prst="rect">
            <a:avLst/>
          </a:prstGeom>
        </p:spPr>
      </p:pic>
      <p:pic>
        <p:nvPicPr>
          <p:cNvPr id="7" name="图片 6">
            <a:extLst>
              <a:ext uri="{FF2B5EF4-FFF2-40B4-BE49-F238E27FC236}">
                <a16:creationId xmlns:a16="http://schemas.microsoft.com/office/drawing/2014/main" id="{90C1FF4B-618F-D3AC-E0FC-CA3C6238C0D8}"/>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837839" y="30875"/>
            <a:ext cx="923925" cy="400050"/>
          </a:xfrm>
          <a:prstGeom prst="rect">
            <a:avLst/>
          </a:prstGeom>
        </p:spPr>
      </p:pic>
      <p:grpSp>
        <p:nvGrpSpPr>
          <p:cNvPr id="8" name="组合 7">
            <a:extLst>
              <a:ext uri="{FF2B5EF4-FFF2-40B4-BE49-F238E27FC236}">
                <a16:creationId xmlns:a16="http://schemas.microsoft.com/office/drawing/2014/main" id="{D30B7D6B-B485-1F1A-6AAC-048A40A86A9B}"/>
              </a:ext>
            </a:extLst>
          </p:cNvPr>
          <p:cNvGrpSpPr/>
          <p:nvPr/>
        </p:nvGrpSpPr>
        <p:grpSpPr>
          <a:xfrm>
            <a:off x="0" y="10451701"/>
            <a:ext cx="6858000" cy="1772488"/>
            <a:chOff x="0" y="4275130"/>
            <a:chExt cx="5143500" cy="1822310"/>
          </a:xfrm>
        </p:grpSpPr>
        <p:sp>
          <p:nvSpPr>
            <p:cNvPr id="9" name="任意多边形: 形状 8">
              <a:extLst>
                <a:ext uri="{FF2B5EF4-FFF2-40B4-BE49-F238E27FC236}">
                  <a16:creationId xmlns:a16="http://schemas.microsoft.com/office/drawing/2014/main" id="{F691F4DA-95DF-65DD-6567-A47B74AA50BC}"/>
                </a:ext>
              </a:extLst>
            </p:cNvPr>
            <p:cNvSpPr/>
            <p:nvPr/>
          </p:nvSpPr>
          <p:spPr>
            <a:xfrm>
              <a:off x="0" y="4275130"/>
              <a:ext cx="5143500" cy="1700617"/>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EDB9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sp>
          <p:nvSpPr>
            <p:cNvPr id="10" name="任意多边形: 形状 9">
              <a:extLst>
                <a:ext uri="{FF2B5EF4-FFF2-40B4-BE49-F238E27FC236}">
                  <a16:creationId xmlns:a16="http://schemas.microsoft.com/office/drawing/2014/main" id="{29B07AA5-1D55-B5A8-3042-0C0EFCC34B71}"/>
                </a:ext>
              </a:extLst>
            </p:cNvPr>
            <p:cNvSpPr/>
            <p:nvPr/>
          </p:nvSpPr>
          <p:spPr>
            <a:xfrm>
              <a:off x="0" y="4438077"/>
              <a:ext cx="5143500" cy="1659363"/>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1986A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grpSp>
      <p:sp>
        <p:nvSpPr>
          <p:cNvPr id="17" name="文本框 16">
            <a:extLst>
              <a:ext uri="{FF2B5EF4-FFF2-40B4-BE49-F238E27FC236}">
                <a16:creationId xmlns:a16="http://schemas.microsoft.com/office/drawing/2014/main" id="{4B1CF9B6-C789-017F-861D-C60E63EBA9E2}"/>
              </a:ext>
            </a:extLst>
          </p:cNvPr>
          <p:cNvSpPr txBox="1"/>
          <p:nvPr/>
        </p:nvSpPr>
        <p:spPr>
          <a:xfrm>
            <a:off x="-6350" y="1511696"/>
            <a:ext cx="6858000" cy="2240422"/>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4000" b="1">
                <a:gradFill>
                  <a:gsLst>
                    <a:gs pos="0">
                      <a:srgbClr val="1986A6"/>
                    </a:gs>
                    <a:gs pos="100000">
                      <a:srgbClr val="126078"/>
                    </a:gs>
                  </a:gsLst>
                  <a:lin ang="5400000" scaled="1"/>
                </a:gradFill>
                <a:effectLst>
                  <a:outerShdw dist="63500" dir="2700000" algn="tl" rotWithShape="0">
                    <a:srgbClr val="1986A6">
                      <a:alpha val="24000"/>
                    </a:srgbClr>
                  </a:outerShdw>
                </a:effectLst>
                <a:cs typeface="+mn-ea"/>
                <a:sym typeface="+mn-lt"/>
              </a:rPr>
              <a:t>思福妥</a:t>
            </a:r>
            <a:r>
              <a:rPr lang="en-US" altLang="zh-CN" sz="4000" b="1" baseline="30000">
                <a:gradFill>
                  <a:gsLst>
                    <a:gs pos="0">
                      <a:srgbClr val="1986A6"/>
                    </a:gs>
                    <a:gs pos="100000">
                      <a:srgbClr val="126078"/>
                    </a:gs>
                  </a:gsLst>
                  <a:lin ang="5400000" scaled="1"/>
                </a:gradFill>
                <a:effectLst>
                  <a:outerShdw dist="63500" dir="2700000" algn="tl" rotWithShape="0">
                    <a:srgbClr val="1986A6">
                      <a:alpha val="24000"/>
                    </a:srgbClr>
                  </a:outerShdw>
                </a:effectLst>
                <a:cs typeface="+mn-ea"/>
                <a:sym typeface="+mn-lt"/>
              </a:rPr>
              <a:t>®</a:t>
            </a:r>
          </a:p>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4000" b="1" i="0" u="none" strike="noStrike" kern="1200" cap="none" spc="0" normalizeH="0" baseline="0" noProof="0">
                <a:ln>
                  <a:noFill/>
                </a:ln>
                <a:gradFill>
                  <a:gsLst>
                    <a:gs pos="0">
                      <a:srgbClr val="1986A6"/>
                    </a:gs>
                    <a:gs pos="100000">
                      <a:srgbClr val="126078"/>
                    </a:gs>
                  </a:gsLst>
                  <a:lin ang="5400000" scaled="1"/>
                </a:gradFill>
                <a:effectLst>
                  <a:outerShdw dist="63500" dir="2700000" algn="tl" rotWithShape="0">
                    <a:srgbClr val="1986A6">
                      <a:alpha val="24000"/>
                    </a:srgbClr>
                  </a:outerShdw>
                </a:effectLst>
                <a:uLnTx/>
                <a:uFillTx/>
                <a:cs typeface="+mn-ea"/>
                <a:sym typeface="+mn-lt"/>
              </a:rPr>
              <a:t>注射用头孢他啶阿维巴坦钠</a:t>
            </a:r>
            <a:endParaRPr kumimoji="0" lang="en-US" altLang="zh-CN" sz="4000" b="1" i="0" u="none" strike="noStrike" kern="1200" cap="none" spc="0" normalizeH="0" baseline="0" noProof="0">
              <a:ln>
                <a:noFill/>
              </a:ln>
              <a:gradFill>
                <a:gsLst>
                  <a:gs pos="0">
                    <a:srgbClr val="1986A6"/>
                  </a:gs>
                  <a:gs pos="100000">
                    <a:srgbClr val="126078"/>
                  </a:gs>
                </a:gsLst>
                <a:lin ang="5400000" scaled="1"/>
              </a:gradFill>
              <a:effectLst>
                <a:outerShdw dist="63500" dir="2700000" algn="tl" rotWithShape="0">
                  <a:srgbClr val="1986A6">
                    <a:alpha val="24000"/>
                  </a:srgbClr>
                </a:outerShdw>
              </a:effectLst>
              <a:uLnTx/>
              <a:uFillTx/>
              <a:cs typeface="+mn-ea"/>
              <a:sym typeface="+mn-lt"/>
            </a:endParaRPr>
          </a:p>
          <a:p>
            <a:pPr marL="0" marR="0" lvl="0" indent="0" algn="ctr" defTabSz="914400" rtl="0" eaLnBrk="1" fontAlgn="auto" latinLnBrk="0" hangingPunct="1">
              <a:lnSpc>
                <a:spcPct val="120000"/>
              </a:lnSpc>
              <a:spcBef>
                <a:spcPts val="0"/>
              </a:spcBef>
              <a:spcAft>
                <a:spcPts val="0"/>
              </a:spcAft>
              <a:buClrTx/>
              <a:buSzTx/>
              <a:buFontTx/>
              <a:buNone/>
              <a:tabLst/>
              <a:defRPr/>
            </a:pPr>
            <a:r>
              <a:rPr lang="zh-CN" altLang="en-US" sz="4000" b="1">
                <a:gradFill>
                  <a:gsLst>
                    <a:gs pos="0">
                      <a:srgbClr val="1986A6"/>
                    </a:gs>
                    <a:gs pos="100000">
                      <a:srgbClr val="126078"/>
                    </a:gs>
                  </a:gsLst>
                  <a:lin ang="5400000" scaled="1"/>
                </a:gradFill>
                <a:effectLst>
                  <a:outerShdw dist="63500" dir="2700000" algn="tl" rotWithShape="0">
                    <a:srgbClr val="1986A6">
                      <a:alpha val="24000"/>
                    </a:srgbClr>
                  </a:outerShdw>
                </a:effectLst>
                <a:cs typeface="+mn-ea"/>
                <a:sym typeface="+mn-lt"/>
              </a:rPr>
              <a:t>儿童患者剂量卡</a:t>
            </a:r>
            <a:endParaRPr kumimoji="0" lang="en-US" altLang="zh-CN" sz="4000" b="1" i="0" u="none" strike="noStrike" kern="1200" cap="none" spc="0" normalizeH="0" baseline="0" noProof="0">
              <a:ln>
                <a:noFill/>
              </a:ln>
              <a:gradFill>
                <a:gsLst>
                  <a:gs pos="0">
                    <a:srgbClr val="1986A6"/>
                  </a:gs>
                  <a:gs pos="100000">
                    <a:srgbClr val="126078"/>
                  </a:gs>
                </a:gsLst>
                <a:lin ang="5400000" scaled="1"/>
              </a:gradFill>
              <a:effectLst>
                <a:outerShdw dist="63500" dir="2700000" algn="tl" rotWithShape="0">
                  <a:srgbClr val="1986A6">
                    <a:alpha val="24000"/>
                  </a:srgbClr>
                </a:outerShdw>
              </a:effectLst>
              <a:uLnTx/>
              <a:uFillTx/>
              <a:cs typeface="+mn-ea"/>
              <a:sym typeface="+mn-lt"/>
            </a:endParaRPr>
          </a:p>
        </p:txBody>
      </p:sp>
    </p:spTree>
    <p:extLst>
      <p:ext uri="{BB962C8B-B14F-4D97-AF65-F5344CB8AC3E}">
        <p14:creationId xmlns:p14="http://schemas.microsoft.com/office/powerpoint/2010/main" val="671295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DC60169-656B-6E5E-BFEF-C6978C6E5C42}"/>
              </a:ext>
            </a:extLst>
          </p:cNvPr>
          <p:cNvGrpSpPr/>
          <p:nvPr/>
        </p:nvGrpSpPr>
        <p:grpSpPr>
          <a:xfrm>
            <a:off x="0" y="10451701"/>
            <a:ext cx="6858000" cy="1772488"/>
            <a:chOff x="0" y="4275130"/>
            <a:chExt cx="5143500" cy="1822310"/>
          </a:xfrm>
        </p:grpSpPr>
        <p:sp>
          <p:nvSpPr>
            <p:cNvPr id="6" name="任意多边形: 形状 5">
              <a:extLst>
                <a:ext uri="{FF2B5EF4-FFF2-40B4-BE49-F238E27FC236}">
                  <a16:creationId xmlns:a16="http://schemas.microsoft.com/office/drawing/2014/main" id="{A469A7A6-3A10-22DD-20D5-59F7910232E8}"/>
                </a:ext>
              </a:extLst>
            </p:cNvPr>
            <p:cNvSpPr/>
            <p:nvPr/>
          </p:nvSpPr>
          <p:spPr>
            <a:xfrm>
              <a:off x="0" y="4275130"/>
              <a:ext cx="5143500" cy="1700617"/>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EDB9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sp>
          <p:nvSpPr>
            <p:cNvPr id="7" name="任意多边形: 形状 6">
              <a:extLst>
                <a:ext uri="{FF2B5EF4-FFF2-40B4-BE49-F238E27FC236}">
                  <a16:creationId xmlns:a16="http://schemas.microsoft.com/office/drawing/2014/main" id="{E6594966-8CD5-7160-6404-CEFCFCC91644}"/>
                </a:ext>
              </a:extLst>
            </p:cNvPr>
            <p:cNvSpPr/>
            <p:nvPr/>
          </p:nvSpPr>
          <p:spPr>
            <a:xfrm>
              <a:off x="0" y="4438077"/>
              <a:ext cx="5143500" cy="1659363"/>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1986A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grpSp>
      <p:sp>
        <p:nvSpPr>
          <p:cNvPr id="9" name="矩形 8">
            <a:extLst>
              <a:ext uri="{FF2B5EF4-FFF2-40B4-BE49-F238E27FC236}">
                <a16:creationId xmlns:a16="http://schemas.microsoft.com/office/drawing/2014/main" id="{430BCF7C-9A32-1798-7365-9AFA34FB7D22}"/>
              </a:ext>
            </a:extLst>
          </p:cNvPr>
          <p:cNvSpPr/>
          <p:nvPr/>
        </p:nvSpPr>
        <p:spPr>
          <a:xfrm>
            <a:off x="-12701" y="-1211"/>
            <a:ext cx="6858000" cy="439469"/>
          </a:xfrm>
          <a:prstGeom prst="rect">
            <a:avLst/>
          </a:prstGeom>
          <a:solidFill>
            <a:srgbClr val="1A8AAB"/>
          </a:solidFill>
          <a:ln>
            <a:solidFill>
              <a:srgbClr val="1A8A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pic>
        <p:nvPicPr>
          <p:cNvPr id="11" name="图片 10">
            <a:extLst>
              <a:ext uri="{FF2B5EF4-FFF2-40B4-BE49-F238E27FC236}">
                <a16:creationId xmlns:a16="http://schemas.microsoft.com/office/drawing/2014/main" id="{E2600474-2610-3CB3-AA34-F007539FCEF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6236" y="30875"/>
            <a:ext cx="561975" cy="400050"/>
          </a:xfrm>
          <a:prstGeom prst="rect">
            <a:avLst/>
          </a:prstGeom>
        </p:spPr>
      </p:pic>
      <p:pic>
        <p:nvPicPr>
          <p:cNvPr id="13" name="图片 12">
            <a:extLst>
              <a:ext uri="{FF2B5EF4-FFF2-40B4-BE49-F238E27FC236}">
                <a16:creationId xmlns:a16="http://schemas.microsoft.com/office/drawing/2014/main" id="{2F2AB6CA-D3CF-D1AA-97DC-212002F6CA0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37839" y="30875"/>
            <a:ext cx="923925" cy="400050"/>
          </a:xfrm>
          <a:prstGeom prst="rect">
            <a:avLst/>
          </a:prstGeom>
        </p:spPr>
      </p:pic>
      <p:sp>
        <p:nvSpPr>
          <p:cNvPr id="15" name="文本框 14">
            <a:extLst>
              <a:ext uri="{FF2B5EF4-FFF2-40B4-BE49-F238E27FC236}">
                <a16:creationId xmlns:a16="http://schemas.microsoft.com/office/drawing/2014/main" id="{F2932F5A-619F-1773-CF35-A6614930714B}"/>
              </a:ext>
            </a:extLst>
          </p:cNvPr>
          <p:cNvSpPr txBox="1"/>
          <p:nvPr/>
        </p:nvSpPr>
        <p:spPr>
          <a:xfrm>
            <a:off x="621402" y="70747"/>
            <a:ext cx="5392565" cy="29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white"/>
                </a:solidFill>
                <a:effectLst/>
                <a:uLnTx/>
                <a:uFillTx/>
                <a:cs typeface="+mn-ea"/>
                <a:sym typeface="+mn-lt"/>
              </a:rPr>
              <a:t>思福妥</a:t>
            </a:r>
            <a:r>
              <a:rPr kumimoji="0" lang="en-US" altLang="zh-CN" sz="1200" b="1" i="0" u="none" strike="noStrike" kern="1200" cap="none" spc="0" normalizeH="0" baseline="30000" noProof="0">
                <a:ln>
                  <a:noFill/>
                </a:ln>
                <a:solidFill>
                  <a:prstClr val="white"/>
                </a:solidFill>
                <a:effectLst/>
                <a:uLnTx/>
                <a:uFillTx/>
                <a:cs typeface="+mn-ea"/>
                <a:sym typeface="+mn-lt"/>
              </a:rPr>
              <a:t>®</a:t>
            </a:r>
            <a:r>
              <a:rPr kumimoji="0" lang="zh-CN" altLang="en-US" sz="1200" b="1" i="0" u="none" strike="noStrike" kern="1200" cap="none" spc="0" normalizeH="0" baseline="0" noProof="0">
                <a:ln>
                  <a:noFill/>
                </a:ln>
                <a:solidFill>
                  <a:prstClr val="white"/>
                </a:solidFill>
                <a:effectLst/>
                <a:uLnTx/>
                <a:uFillTx/>
                <a:cs typeface="+mn-ea"/>
                <a:sym typeface="+mn-lt"/>
              </a:rPr>
              <a:t>治疗</a:t>
            </a:r>
            <a:r>
              <a:rPr kumimoji="0" lang="en-US" altLang="zh-CN" sz="1200" b="1" i="0" u="none" strike="noStrike" kern="1200" cap="none" spc="0" normalizeH="0" baseline="0" noProof="0">
                <a:ln>
                  <a:noFill/>
                </a:ln>
                <a:solidFill>
                  <a:prstClr val="white"/>
                </a:solidFill>
                <a:effectLst/>
                <a:uLnTx/>
                <a:uFillTx/>
                <a:cs typeface="+mn-ea"/>
                <a:sym typeface="+mn-lt"/>
              </a:rPr>
              <a:t>cIAI</a:t>
            </a:r>
            <a:r>
              <a:rPr kumimoji="0" lang="zh-CN" altLang="en-US" sz="1200" b="1" i="0" u="none" strike="noStrike" kern="1200" cap="none" spc="0" normalizeH="0" baseline="0" noProof="0">
                <a:ln>
                  <a:noFill/>
                </a:ln>
                <a:solidFill>
                  <a:prstClr val="white"/>
                </a:solidFill>
                <a:effectLst/>
                <a:uLnTx/>
                <a:uFillTx/>
                <a:cs typeface="+mn-ea"/>
                <a:sym typeface="+mn-lt"/>
              </a:rPr>
              <a:t>患儿剂量、给药频率需根据其肾功能及年龄给予适当调整</a:t>
            </a:r>
            <a:endParaRPr kumimoji="0" lang="en-US" altLang="zh-CN" sz="1200" b="1" i="0" u="none" strike="noStrike" kern="1200" cap="none" spc="0" normalizeH="0" baseline="0" noProof="0">
              <a:ln>
                <a:noFill/>
              </a:ln>
              <a:solidFill>
                <a:prstClr val="white"/>
              </a:solidFill>
              <a:effectLst/>
              <a:uLnTx/>
              <a:uFillTx/>
              <a:cs typeface="+mn-ea"/>
              <a:sym typeface="+mn-lt"/>
            </a:endParaRPr>
          </a:p>
        </p:txBody>
      </p:sp>
      <p:graphicFrame>
        <p:nvGraphicFramePr>
          <p:cNvPr id="3" name="表格 2">
            <a:extLst>
              <a:ext uri="{FF2B5EF4-FFF2-40B4-BE49-F238E27FC236}">
                <a16:creationId xmlns:a16="http://schemas.microsoft.com/office/drawing/2014/main" id="{3E1CFD0F-1D4A-0C52-3223-682BFD6A1163}"/>
              </a:ext>
            </a:extLst>
          </p:cNvPr>
          <p:cNvGraphicFramePr>
            <a:graphicFrameLocks noGrp="1"/>
          </p:cNvGraphicFramePr>
          <p:nvPr>
            <p:extLst>
              <p:ext uri="{D42A27DB-BD31-4B8C-83A1-F6EECF244321}">
                <p14:modId xmlns:p14="http://schemas.microsoft.com/office/powerpoint/2010/main" val="2014744253"/>
              </p:ext>
            </p:extLst>
          </p:nvPr>
        </p:nvGraphicFramePr>
        <p:xfrm>
          <a:off x="218185" y="1128518"/>
          <a:ext cx="6421629" cy="5129415"/>
        </p:xfrm>
        <a:graphic>
          <a:graphicData uri="http://schemas.openxmlformats.org/drawingml/2006/table">
            <a:tbl>
              <a:tblPr firstRow="1" firstCol="1" bandRow="1">
                <a:tableStyleId>{00A15C55-8517-42AA-B614-E9B94910E393}</a:tableStyleId>
              </a:tblPr>
              <a:tblGrid>
                <a:gridCol w="1549025">
                  <a:extLst>
                    <a:ext uri="{9D8B030D-6E8A-4147-A177-3AD203B41FA5}">
                      <a16:colId xmlns:a16="http://schemas.microsoft.com/office/drawing/2014/main" val="2468335751"/>
                    </a:ext>
                  </a:extLst>
                </a:gridCol>
                <a:gridCol w="1295984">
                  <a:extLst>
                    <a:ext uri="{9D8B030D-6E8A-4147-A177-3AD203B41FA5}">
                      <a16:colId xmlns:a16="http://schemas.microsoft.com/office/drawing/2014/main" val="2049581887"/>
                    </a:ext>
                  </a:extLst>
                </a:gridCol>
                <a:gridCol w="2060003">
                  <a:extLst>
                    <a:ext uri="{9D8B030D-6E8A-4147-A177-3AD203B41FA5}">
                      <a16:colId xmlns:a16="http://schemas.microsoft.com/office/drawing/2014/main" val="463056653"/>
                    </a:ext>
                  </a:extLst>
                </a:gridCol>
                <a:gridCol w="802914">
                  <a:extLst>
                    <a:ext uri="{9D8B030D-6E8A-4147-A177-3AD203B41FA5}">
                      <a16:colId xmlns:a16="http://schemas.microsoft.com/office/drawing/2014/main" val="2968845038"/>
                    </a:ext>
                  </a:extLst>
                </a:gridCol>
                <a:gridCol w="713703">
                  <a:extLst>
                    <a:ext uri="{9D8B030D-6E8A-4147-A177-3AD203B41FA5}">
                      <a16:colId xmlns:a16="http://schemas.microsoft.com/office/drawing/2014/main" val="3555308132"/>
                    </a:ext>
                  </a:extLst>
                </a:gridCol>
              </a:tblGrid>
              <a:tr h="417782">
                <a:tc>
                  <a:txBody>
                    <a:bodyPr/>
                    <a:lstStyle/>
                    <a:p>
                      <a:pPr algn="ctr">
                        <a:tabLst>
                          <a:tab pos="630555" algn="l"/>
                        </a:tabLst>
                      </a:pPr>
                      <a:r>
                        <a:rPr lang="zh-CN" altLang="en-US" sz="1000" b="1" kern="100">
                          <a:solidFill>
                            <a:schemeClr val="bg1"/>
                          </a:solidFill>
                          <a:effectLst/>
                          <a:latin typeface="+mn-lt"/>
                          <a:ea typeface="+mn-ea"/>
                          <a:cs typeface="+mn-ea"/>
                          <a:sym typeface="+mn-lt"/>
                        </a:rPr>
                        <a:t>肌酐清除率</a:t>
                      </a:r>
                      <a:r>
                        <a:rPr lang="en-GB" sz="1000" b="1" kern="100">
                          <a:solidFill>
                            <a:schemeClr val="bg1"/>
                          </a:solidFill>
                          <a:effectLst/>
                          <a:latin typeface="+mn-lt"/>
                          <a:ea typeface="+mn-ea"/>
                          <a:cs typeface="+mn-ea"/>
                          <a:sym typeface="+mn-lt"/>
                        </a:rPr>
                        <a:t>eCrCL</a:t>
                      </a:r>
                      <a:r>
                        <a:rPr lang="en-GB" sz="1000" b="1" kern="100" baseline="30000">
                          <a:solidFill>
                            <a:schemeClr val="bg1"/>
                          </a:solidFill>
                          <a:effectLst/>
                          <a:latin typeface="+mn-lt"/>
                          <a:ea typeface="+mn-ea"/>
                          <a:cs typeface="+mn-ea"/>
                          <a:sym typeface="+mn-lt"/>
                        </a:rPr>
                        <a:t>1</a:t>
                      </a:r>
                      <a:endParaRPr lang="zh-CN" sz="1000" b="1" kern="100" baseline="30000">
                        <a:solidFill>
                          <a:schemeClr val="bg1"/>
                        </a:solidFill>
                        <a:effectLst/>
                        <a:latin typeface="+mn-lt"/>
                        <a:ea typeface="+mn-ea"/>
                        <a:cs typeface="+mn-ea"/>
                        <a:sym typeface="+mn-lt"/>
                      </a:endParaRPr>
                    </a:p>
                    <a:p>
                      <a:pPr algn="ctr">
                        <a:tabLst>
                          <a:tab pos="630555" algn="l"/>
                        </a:tabLst>
                      </a:pPr>
                      <a:r>
                        <a:rPr lang="en-GB" sz="1000" b="1" kern="100">
                          <a:solidFill>
                            <a:schemeClr val="bg1"/>
                          </a:solidFill>
                          <a:effectLst/>
                          <a:latin typeface="+mn-lt"/>
                          <a:ea typeface="+mn-ea"/>
                          <a:cs typeface="+mn-ea"/>
                          <a:sym typeface="+mn-lt"/>
                        </a:rPr>
                        <a:t>(mL/min/1.73 m</a:t>
                      </a:r>
                      <a:r>
                        <a:rPr lang="en-GB" sz="1000" b="1" kern="100" baseline="30000">
                          <a:solidFill>
                            <a:schemeClr val="bg1"/>
                          </a:solidFill>
                          <a:effectLst/>
                          <a:latin typeface="+mn-lt"/>
                          <a:ea typeface="+mn-ea"/>
                          <a:cs typeface="+mn-ea"/>
                          <a:sym typeface="+mn-lt"/>
                        </a:rPr>
                        <a:t>2</a:t>
                      </a:r>
                      <a:r>
                        <a:rPr lang="en-GB" sz="1000" b="1" kern="100">
                          <a:solidFill>
                            <a:schemeClr val="bg1"/>
                          </a:solidFill>
                          <a:effectLst/>
                          <a:latin typeface="+mn-lt"/>
                          <a:ea typeface="+mn-ea"/>
                          <a:cs typeface="+mn-ea"/>
                          <a:sym typeface="+mn-lt"/>
                        </a:rPr>
                        <a:t>)</a:t>
                      </a:r>
                      <a:endParaRPr lang="zh-CN" sz="1000" b="1" kern="100">
                        <a:solidFill>
                          <a:schemeClr val="bg1"/>
                        </a:solidFill>
                        <a:effectLst/>
                        <a:latin typeface="+mn-lt"/>
                        <a:ea typeface="+mn-ea"/>
                        <a:cs typeface="+mn-ea"/>
                        <a:sym typeface="+mn-lt"/>
                      </a:endParaRPr>
                    </a:p>
                  </a:txBody>
                  <a:tcPr marL="63193" marR="63193" marT="0" marB="0" anchor="ctr">
                    <a:solidFill>
                      <a:srgbClr val="EDB91C"/>
                    </a:solidFill>
                  </a:tcPr>
                </a:tc>
                <a:tc>
                  <a:txBody>
                    <a:bodyPr/>
                    <a:lstStyle/>
                    <a:p>
                      <a:pPr algn="ctr">
                        <a:tabLst>
                          <a:tab pos="630555" algn="l"/>
                        </a:tabLst>
                      </a:pPr>
                      <a:r>
                        <a:rPr lang="zh-CN" sz="1000" b="1" kern="100">
                          <a:solidFill>
                            <a:schemeClr val="bg1"/>
                          </a:solidFill>
                          <a:effectLst/>
                          <a:latin typeface="+mn-lt"/>
                          <a:ea typeface="+mn-ea"/>
                          <a:cs typeface="+mn-ea"/>
                          <a:sym typeface="+mn-lt"/>
                        </a:rPr>
                        <a:t>年龄组</a:t>
                      </a:r>
                    </a:p>
                  </a:txBody>
                  <a:tcPr marL="63193" marR="63193" marT="0" marB="0" anchor="ctr">
                    <a:solidFill>
                      <a:srgbClr val="EDB91C"/>
                    </a:solidFill>
                  </a:tcPr>
                </a:tc>
                <a:tc>
                  <a:txBody>
                    <a:bodyPr/>
                    <a:lstStyle/>
                    <a:p>
                      <a:pPr algn="ctr">
                        <a:tabLst>
                          <a:tab pos="630555" algn="l"/>
                        </a:tabLst>
                      </a:pPr>
                      <a:r>
                        <a:rPr lang="zh-CN" sz="1000" b="1" kern="100">
                          <a:solidFill>
                            <a:schemeClr val="bg1"/>
                          </a:solidFill>
                          <a:effectLst/>
                          <a:latin typeface="+mn-lt"/>
                          <a:ea typeface="+mn-ea"/>
                          <a:cs typeface="+mn-ea"/>
                          <a:sym typeface="+mn-lt"/>
                        </a:rPr>
                        <a:t>头孢他啶</a:t>
                      </a:r>
                      <a:r>
                        <a:rPr lang="en-GB" sz="1000" b="1" kern="100">
                          <a:solidFill>
                            <a:schemeClr val="bg1"/>
                          </a:solidFill>
                          <a:effectLst/>
                          <a:latin typeface="+mn-lt"/>
                          <a:ea typeface="+mn-ea"/>
                          <a:cs typeface="+mn-ea"/>
                          <a:sym typeface="+mn-lt"/>
                        </a:rPr>
                        <a:t>/</a:t>
                      </a:r>
                      <a:r>
                        <a:rPr lang="zh-CN" sz="1000" b="1" kern="100">
                          <a:solidFill>
                            <a:schemeClr val="bg1"/>
                          </a:solidFill>
                          <a:effectLst/>
                          <a:latin typeface="+mn-lt"/>
                          <a:ea typeface="+mn-ea"/>
                          <a:cs typeface="+mn-ea"/>
                          <a:sym typeface="+mn-lt"/>
                        </a:rPr>
                        <a:t>阿维巴坦的剂量</a:t>
                      </a:r>
                      <a:r>
                        <a:rPr lang="en-GB" sz="1000" b="1" kern="100" baseline="30000">
                          <a:solidFill>
                            <a:schemeClr val="bg1"/>
                          </a:solidFill>
                          <a:effectLst/>
                          <a:latin typeface="+mn-lt"/>
                          <a:ea typeface="+mn-ea"/>
                          <a:cs typeface="+mn-ea"/>
                          <a:sym typeface="+mn-lt"/>
                        </a:rPr>
                        <a:t>2</a:t>
                      </a:r>
                      <a:endParaRPr lang="zh-CN" sz="1000" b="1" kern="100">
                        <a:solidFill>
                          <a:schemeClr val="bg1"/>
                        </a:solidFill>
                        <a:effectLst/>
                        <a:latin typeface="+mn-lt"/>
                        <a:ea typeface="+mn-ea"/>
                        <a:cs typeface="+mn-ea"/>
                        <a:sym typeface="+mn-lt"/>
                      </a:endParaRPr>
                    </a:p>
                  </a:txBody>
                  <a:tcPr marL="63193" marR="63193" marT="0" marB="0" anchor="ctr">
                    <a:solidFill>
                      <a:srgbClr val="EDB91C"/>
                    </a:solidFill>
                  </a:tcPr>
                </a:tc>
                <a:tc>
                  <a:txBody>
                    <a:bodyPr/>
                    <a:lstStyle/>
                    <a:p>
                      <a:pPr algn="ctr">
                        <a:tabLst>
                          <a:tab pos="630555" algn="l"/>
                        </a:tabLst>
                      </a:pPr>
                      <a:r>
                        <a:rPr lang="zh-CN" sz="1000" b="1" kern="100">
                          <a:solidFill>
                            <a:schemeClr val="bg1"/>
                          </a:solidFill>
                          <a:effectLst/>
                          <a:latin typeface="+mn-lt"/>
                          <a:ea typeface="+mn-ea"/>
                          <a:cs typeface="+mn-ea"/>
                          <a:sym typeface="+mn-lt"/>
                        </a:rPr>
                        <a:t>给药频率</a:t>
                      </a:r>
                    </a:p>
                  </a:txBody>
                  <a:tcPr marL="63193" marR="63193" marT="0" marB="0" anchor="ctr">
                    <a:solidFill>
                      <a:srgbClr val="EDB91C"/>
                    </a:solidFill>
                  </a:tcPr>
                </a:tc>
                <a:tc>
                  <a:txBody>
                    <a:bodyPr/>
                    <a:lstStyle/>
                    <a:p>
                      <a:pPr algn="ctr">
                        <a:tabLst>
                          <a:tab pos="630555" algn="l"/>
                        </a:tabLst>
                      </a:pPr>
                      <a:r>
                        <a:rPr lang="zh-CN" sz="1000" b="1" kern="100">
                          <a:solidFill>
                            <a:schemeClr val="bg1"/>
                          </a:solidFill>
                          <a:effectLst/>
                          <a:latin typeface="+mn-lt"/>
                          <a:ea typeface="+mn-ea"/>
                          <a:cs typeface="+mn-ea"/>
                          <a:sym typeface="+mn-lt"/>
                        </a:rPr>
                        <a:t>输注时间（小时）</a:t>
                      </a:r>
                    </a:p>
                  </a:txBody>
                  <a:tcPr marL="63193" marR="63193" marT="0" marB="0" anchor="ctr">
                    <a:solidFill>
                      <a:srgbClr val="EDB91C"/>
                    </a:solidFill>
                  </a:tcPr>
                </a:tc>
                <a:extLst>
                  <a:ext uri="{0D108BD9-81ED-4DB2-BD59-A6C34878D82A}">
                    <a16:rowId xmlns:a16="http://schemas.microsoft.com/office/drawing/2014/main" val="445566667"/>
                  </a:ext>
                </a:extLst>
              </a:tr>
              <a:tr h="529175">
                <a:tc rowSpan="2">
                  <a:txBody>
                    <a:bodyPr/>
                    <a:lstStyle/>
                    <a:p>
                      <a:pPr marL="0" algn="ctr" defTabSz="685800" rtl="0" eaLnBrk="1" latinLnBrk="0" hangingPunct="1"/>
                      <a:r>
                        <a:rPr lang="en-US" altLang="zh-CN" sz="1200" b="1" kern="100">
                          <a:solidFill>
                            <a:schemeClr val="bg1"/>
                          </a:solidFill>
                          <a:effectLst/>
                          <a:latin typeface="+mn-lt"/>
                          <a:ea typeface="+mn-ea"/>
                          <a:cs typeface="+mn-ea"/>
                          <a:sym typeface="+mn-lt"/>
                        </a:rPr>
                        <a:t>&gt; 50</a:t>
                      </a:r>
                      <a:endParaRPr lang="en-US" sz="1200" b="1" kern="100">
                        <a:solidFill>
                          <a:schemeClr val="bg1"/>
                        </a:solidFill>
                        <a:effectLst/>
                        <a:latin typeface="+mn-lt"/>
                        <a:ea typeface="+mn-ea"/>
                        <a:cs typeface="+mn-ea"/>
                        <a:sym typeface="+mn-lt"/>
                      </a:endParaRPr>
                    </a:p>
                  </a:txBody>
                  <a:tcPr marL="68580" marR="68580" marT="0" marB="0" anchor="ctr">
                    <a:solidFill>
                      <a:schemeClr val="accent2">
                        <a:lumMod val="40000"/>
                        <a:lumOff val="60000"/>
                      </a:schemeClr>
                    </a:solidFill>
                  </a:tcPr>
                </a:tc>
                <a:tc>
                  <a:txBody>
                    <a:bodyPr/>
                    <a:lstStyle/>
                    <a:p>
                      <a:pPr algn="ctr" fontAlgn="base" hangingPunct="0"/>
                      <a:r>
                        <a:rPr lang="en-US" sz="1000" b="0" kern="100">
                          <a:effectLst/>
                          <a:latin typeface="+mn-lt"/>
                          <a:ea typeface="+mn-ea"/>
                          <a:cs typeface="+mn-ea"/>
                          <a:sym typeface="+mn-lt"/>
                        </a:rPr>
                        <a:t>6</a:t>
                      </a:r>
                      <a:r>
                        <a:rPr lang="zh-CN" sz="1000" b="0" kern="100">
                          <a:effectLst/>
                          <a:latin typeface="+mn-lt"/>
                          <a:ea typeface="+mn-ea"/>
                          <a:cs typeface="+mn-ea"/>
                          <a:sym typeface="+mn-lt"/>
                        </a:rPr>
                        <a:t>月龄</a:t>
                      </a:r>
                      <a:r>
                        <a:rPr lang="en-US" sz="1000" b="0" kern="100">
                          <a:effectLst/>
                          <a:latin typeface="+mn-lt"/>
                          <a:ea typeface="+mn-ea"/>
                          <a:cs typeface="+mn-ea"/>
                          <a:sym typeface="+mn-lt"/>
                        </a:rPr>
                        <a:t>~ &lt;18</a:t>
                      </a:r>
                      <a:r>
                        <a:rPr lang="zh-CN" sz="1000" b="0" kern="100">
                          <a:effectLst/>
                          <a:latin typeface="+mn-lt"/>
                          <a:ea typeface="+mn-ea"/>
                          <a:cs typeface="+mn-ea"/>
                          <a:sym typeface="+mn-lt"/>
                        </a:rPr>
                        <a:t>岁</a:t>
                      </a:r>
                    </a:p>
                  </a:txBody>
                  <a:tcPr marL="68580" marR="68580" marT="0" marB="0" anchor="ctr">
                    <a:solidFill>
                      <a:schemeClr val="bg1">
                        <a:lumMod val="95000"/>
                      </a:schemeClr>
                    </a:solidFill>
                  </a:tcPr>
                </a:tc>
                <a:tc>
                  <a:txBody>
                    <a:bodyPr/>
                    <a:lstStyle/>
                    <a:p>
                      <a:pPr algn="ctr" fontAlgn="base" hangingPunct="0"/>
                      <a:r>
                        <a:rPr lang="en-US" sz="1000" b="0" kern="100">
                          <a:effectLst/>
                          <a:latin typeface="+mn-lt"/>
                          <a:ea typeface="+mn-ea"/>
                          <a:cs typeface="+mn-ea"/>
                          <a:sym typeface="+mn-lt"/>
                        </a:rPr>
                        <a:t>62.5 mg/kg </a:t>
                      </a:r>
                      <a:r>
                        <a:rPr lang="zh-CN" sz="1000" b="0" kern="100">
                          <a:effectLst/>
                          <a:latin typeface="+mn-lt"/>
                          <a:ea typeface="+mn-ea"/>
                          <a:cs typeface="+mn-ea"/>
                          <a:sym typeface="+mn-lt"/>
                        </a:rPr>
                        <a:t>至最多</a:t>
                      </a:r>
                      <a:r>
                        <a:rPr lang="en-US" sz="1000" b="0" kern="100">
                          <a:effectLst/>
                          <a:latin typeface="+mn-lt"/>
                          <a:ea typeface="+mn-ea"/>
                          <a:cs typeface="+mn-ea"/>
                          <a:sym typeface="+mn-lt"/>
                        </a:rPr>
                        <a:t>2.5 g </a:t>
                      </a:r>
                    </a:p>
                    <a:p>
                      <a:pPr algn="ctr" fontAlgn="base" hangingPunct="0"/>
                      <a:r>
                        <a:rPr lang="en-US" sz="1000" b="0" kern="100">
                          <a:effectLst/>
                          <a:latin typeface="+mn-lt"/>
                          <a:ea typeface="+mn-ea"/>
                          <a:cs typeface="+mn-ea"/>
                          <a:sym typeface="+mn-lt"/>
                        </a:rPr>
                        <a:t>(50 mg/kg / 12.5 mg/kg</a:t>
                      </a:r>
                    </a:p>
                    <a:p>
                      <a:pPr algn="ctr" fontAlgn="base" hangingPunct="0"/>
                      <a:r>
                        <a:rPr lang="zh-CN" sz="1000" b="0" kern="100">
                          <a:effectLst/>
                          <a:latin typeface="+mn-lt"/>
                          <a:ea typeface="+mn-ea"/>
                          <a:cs typeface="+mn-ea"/>
                          <a:sym typeface="+mn-lt"/>
                        </a:rPr>
                        <a:t>至最多</a:t>
                      </a:r>
                      <a:r>
                        <a:rPr lang="en-US" sz="1000" b="0" kern="100">
                          <a:effectLst/>
                          <a:latin typeface="+mn-lt"/>
                          <a:ea typeface="+mn-ea"/>
                          <a:cs typeface="+mn-ea"/>
                          <a:sym typeface="+mn-lt"/>
                        </a:rPr>
                        <a:t>2 g/0.5 g)</a:t>
                      </a:r>
                      <a:endParaRPr lang="zh-CN" sz="1000" b="0" kern="100">
                        <a:effectLst/>
                        <a:latin typeface="+mn-lt"/>
                        <a:ea typeface="+mn-ea"/>
                        <a:cs typeface="+mn-ea"/>
                        <a:sym typeface="+mn-lt"/>
                      </a:endParaRPr>
                    </a:p>
                  </a:txBody>
                  <a:tcPr marL="68580" marR="68580" marT="0" marB="0" anchor="ctr">
                    <a:solidFill>
                      <a:schemeClr val="bg1">
                        <a:lumMod val="95000"/>
                      </a:schemeClr>
                    </a:solidFill>
                  </a:tcPr>
                </a:tc>
                <a:tc>
                  <a:txBody>
                    <a:bodyPr/>
                    <a:lstStyle/>
                    <a:p>
                      <a:pPr algn="ctr" fontAlgn="base" hangingPunct="0"/>
                      <a:r>
                        <a:rPr lang="zh-CN" sz="1000" b="0" kern="100">
                          <a:solidFill>
                            <a:srgbClr val="000000"/>
                          </a:solidFill>
                          <a:effectLst/>
                          <a:latin typeface="+mn-lt"/>
                          <a:ea typeface="+mn-ea"/>
                          <a:cs typeface="+mn-ea"/>
                          <a:sym typeface="+mn-lt"/>
                        </a:rPr>
                        <a:t>每</a:t>
                      </a:r>
                      <a:r>
                        <a:rPr lang="en-US" sz="1000" b="0" kern="100">
                          <a:solidFill>
                            <a:srgbClr val="000000"/>
                          </a:solidFill>
                          <a:effectLst/>
                          <a:latin typeface="+mn-lt"/>
                          <a:ea typeface="+mn-ea"/>
                          <a:cs typeface="+mn-ea"/>
                          <a:sym typeface="+mn-lt"/>
                        </a:rPr>
                        <a:t>8</a:t>
                      </a:r>
                      <a:r>
                        <a:rPr lang="zh-CN" sz="1000" b="0" kern="100">
                          <a:solidFill>
                            <a:srgbClr val="000000"/>
                          </a:solidFill>
                          <a:effectLst/>
                          <a:latin typeface="+mn-lt"/>
                          <a:ea typeface="+mn-ea"/>
                          <a:cs typeface="+mn-ea"/>
                          <a:sym typeface="+mn-lt"/>
                        </a:rPr>
                        <a:t>小时</a:t>
                      </a:r>
                      <a:endParaRPr lang="en-US" altLang="zh-CN" sz="1000" b="0" kern="100">
                        <a:solidFill>
                          <a:srgbClr val="000000"/>
                        </a:solidFill>
                        <a:effectLst/>
                        <a:latin typeface="+mn-lt"/>
                        <a:ea typeface="+mn-ea"/>
                        <a:cs typeface="+mn-ea"/>
                        <a:sym typeface="+mn-lt"/>
                      </a:endParaRPr>
                    </a:p>
                    <a:p>
                      <a:pPr algn="ctr" fontAlgn="base" hangingPunct="0"/>
                      <a:r>
                        <a:rPr lang="zh-CN" sz="1000" b="0" kern="100">
                          <a:solidFill>
                            <a:srgbClr val="000000"/>
                          </a:solidFill>
                          <a:effectLst/>
                          <a:latin typeface="+mn-lt"/>
                          <a:ea typeface="+mn-ea"/>
                          <a:cs typeface="+mn-ea"/>
                          <a:sym typeface="+mn-lt"/>
                        </a:rPr>
                        <a:t>一次</a:t>
                      </a:r>
                      <a:endParaRPr lang="zh-CN" sz="1000" b="0" kern="100">
                        <a:effectLst/>
                        <a:latin typeface="+mn-lt"/>
                        <a:ea typeface="+mn-ea"/>
                        <a:cs typeface="+mn-ea"/>
                        <a:sym typeface="+mn-lt"/>
                      </a:endParaRPr>
                    </a:p>
                  </a:txBody>
                  <a:tcPr marL="68580" marR="68580" marT="0" marB="0" anchor="ctr">
                    <a:solidFill>
                      <a:schemeClr val="bg1">
                        <a:lumMod val="95000"/>
                      </a:schemeClr>
                    </a:solidFill>
                  </a:tcPr>
                </a:tc>
                <a:tc rowSpan="10">
                  <a:txBody>
                    <a:bodyPr/>
                    <a:lstStyle/>
                    <a:p>
                      <a:pPr algn="ctr"/>
                      <a:r>
                        <a:rPr lang="en-US" sz="1000" b="0" kern="100">
                          <a:solidFill>
                            <a:schemeClr val="tx1"/>
                          </a:solidFill>
                          <a:effectLst/>
                          <a:latin typeface="+mn-lt"/>
                          <a:ea typeface="+mn-ea"/>
                          <a:cs typeface="+mn-ea"/>
                          <a:sym typeface="+mn-lt"/>
                        </a:rPr>
                        <a:t>2</a:t>
                      </a:r>
                      <a:endParaRPr lang="zh-CN" altLang="en-US"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extLst>
                  <a:ext uri="{0D108BD9-81ED-4DB2-BD59-A6C34878D82A}">
                    <a16:rowId xmlns:a16="http://schemas.microsoft.com/office/drawing/2014/main" val="3357346468"/>
                  </a:ext>
                </a:extLst>
              </a:tr>
              <a:tr h="459561">
                <a:tc vMerge="1">
                  <a:txBody>
                    <a:bodyPr/>
                    <a:lstStyle/>
                    <a:p>
                      <a:pPr algn="ctr"/>
                      <a:endParaRPr lang="en-US" sz="1000" b="1" kern="100">
                        <a:solidFill>
                          <a:schemeClr val="tx1"/>
                        </a:solidFill>
                        <a:effectLst/>
                        <a:latin typeface="+mn-ea"/>
                        <a:ea typeface="+mn-ea"/>
                        <a:cs typeface="Times New Roman" panose="02020603050405020304" pitchFamily="18" charset="0"/>
                      </a:endParaRPr>
                    </a:p>
                  </a:txBody>
                  <a:tcPr marL="68580" marR="68580" marT="0" marB="0" anchor="ctr"/>
                </a:tc>
                <a:tc>
                  <a:txBody>
                    <a:bodyPr/>
                    <a:lstStyle/>
                    <a:p>
                      <a:pPr algn="ctr" fontAlgn="base" hangingPunct="0"/>
                      <a:r>
                        <a:rPr lang="en-US" sz="1000" b="0" kern="100">
                          <a:effectLst/>
                          <a:latin typeface="+mn-lt"/>
                          <a:ea typeface="+mn-ea"/>
                          <a:cs typeface="+mn-ea"/>
                          <a:sym typeface="+mn-lt"/>
                        </a:rPr>
                        <a:t>3</a:t>
                      </a:r>
                      <a:r>
                        <a:rPr lang="zh-CN" sz="1000" b="0" kern="100">
                          <a:effectLst/>
                          <a:latin typeface="+mn-lt"/>
                          <a:ea typeface="+mn-ea"/>
                          <a:cs typeface="+mn-ea"/>
                          <a:sym typeface="+mn-lt"/>
                        </a:rPr>
                        <a:t>月龄</a:t>
                      </a:r>
                      <a:r>
                        <a:rPr lang="en-US" sz="1000" b="0" kern="100">
                          <a:effectLst/>
                          <a:latin typeface="+mn-lt"/>
                          <a:ea typeface="+mn-ea"/>
                          <a:cs typeface="+mn-ea"/>
                          <a:sym typeface="+mn-lt"/>
                        </a:rPr>
                        <a:t>~ &lt;6</a:t>
                      </a:r>
                      <a:r>
                        <a:rPr lang="zh-CN" sz="1000" b="0" kern="100">
                          <a:effectLst/>
                          <a:latin typeface="+mn-lt"/>
                          <a:ea typeface="+mn-ea"/>
                          <a:cs typeface="+mn-ea"/>
                          <a:sym typeface="+mn-lt"/>
                        </a:rPr>
                        <a:t>月龄</a:t>
                      </a:r>
                      <a:r>
                        <a:rPr lang="en-US" sz="1000" b="0" kern="100" baseline="30000">
                          <a:effectLst/>
                          <a:latin typeface="+mn-lt"/>
                          <a:ea typeface="+mn-ea"/>
                          <a:cs typeface="+mn-ea"/>
                          <a:sym typeface="+mn-lt"/>
                        </a:rPr>
                        <a:t>3</a:t>
                      </a:r>
                      <a:endParaRPr lang="zh-CN" sz="1000" b="0" kern="100">
                        <a:effectLst/>
                        <a:latin typeface="+mn-lt"/>
                        <a:ea typeface="+mn-ea"/>
                        <a:cs typeface="+mn-ea"/>
                        <a:sym typeface="+mn-lt"/>
                      </a:endParaRPr>
                    </a:p>
                  </a:txBody>
                  <a:tcPr marL="68580" marR="68580" marT="0" marB="0" anchor="ctr">
                    <a:solidFill>
                      <a:schemeClr val="bg1">
                        <a:lumMod val="95000"/>
                      </a:schemeClr>
                    </a:solidFill>
                  </a:tcPr>
                </a:tc>
                <a:tc>
                  <a:txBody>
                    <a:bodyPr/>
                    <a:lstStyle/>
                    <a:p>
                      <a:pPr algn="ctr" fontAlgn="base" hangingPunct="0"/>
                      <a:r>
                        <a:rPr lang="en-US" sz="1000" b="0" kern="100">
                          <a:effectLst/>
                          <a:latin typeface="+mn-lt"/>
                          <a:ea typeface="+mn-ea"/>
                          <a:cs typeface="+mn-ea"/>
                          <a:sym typeface="+mn-lt"/>
                        </a:rPr>
                        <a:t>50 mg/kg (40 mg/kg / 10 mg/kg)</a:t>
                      </a:r>
                      <a:endParaRPr lang="zh-CN" sz="1000" b="0" kern="100">
                        <a:effectLst/>
                        <a:latin typeface="+mn-lt"/>
                        <a:ea typeface="+mn-ea"/>
                        <a:cs typeface="+mn-ea"/>
                        <a:sym typeface="+mn-lt"/>
                      </a:endParaRPr>
                    </a:p>
                  </a:txBody>
                  <a:tcPr marL="68580" marR="68580" marT="0" marB="0" anchor="ctr">
                    <a:solidFill>
                      <a:schemeClr val="bg1">
                        <a:lumMod val="95000"/>
                      </a:schemeClr>
                    </a:solidFill>
                  </a:tcPr>
                </a:tc>
                <a:tc>
                  <a:txBody>
                    <a:bodyPr/>
                    <a:lstStyle/>
                    <a:p>
                      <a:pPr algn="ctr" fontAlgn="base" hangingPunct="0"/>
                      <a:r>
                        <a:rPr lang="zh-CN" sz="1000" b="0" kern="100">
                          <a:solidFill>
                            <a:srgbClr val="000000"/>
                          </a:solidFill>
                          <a:effectLst/>
                          <a:latin typeface="+mn-lt"/>
                          <a:ea typeface="+mn-ea"/>
                          <a:cs typeface="+mn-ea"/>
                          <a:sym typeface="+mn-lt"/>
                        </a:rPr>
                        <a:t>每</a:t>
                      </a:r>
                      <a:r>
                        <a:rPr lang="en-US" sz="1000" b="0" kern="100">
                          <a:solidFill>
                            <a:srgbClr val="000000"/>
                          </a:solidFill>
                          <a:effectLst/>
                          <a:latin typeface="+mn-lt"/>
                          <a:ea typeface="+mn-ea"/>
                          <a:cs typeface="+mn-ea"/>
                          <a:sym typeface="+mn-lt"/>
                        </a:rPr>
                        <a:t>8</a:t>
                      </a:r>
                      <a:r>
                        <a:rPr lang="zh-CN" sz="1000" b="0" kern="100">
                          <a:solidFill>
                            <a:srgbClr val="000000"/>
                          </a:solidFill>
                          <a:effectLst/>
                          <a:latin typeface="+mn-lt"/>
                          <a:ea typeface="+mn-ea"/>
                          <a:cs typeface="+mn-ea"/>
                          <a:sym typeface="+mn-lt"/>
                        </a:rPr>
                        <a:t>小时</a:t>
                      </a:r>
                      <a:endParaRPr lang="en-US" altLang="zh-CN" sz="1000" b="0" kern="100">
                        <a:solidFill>
                          <a:srgbClr val="000000"/>
                        </a:solidFill>
                        <a:effectLst/>
                        <a:latin typeface="+mn-lt"/>
                        <a:ea typeface="+mn-ea"/>
                        <a:cs typeface="+mn-ea"/>
                        <a:sym typeface="+mn-lt"/>
                      </a:endParaRPr>
                    </a:p>
                    <a:p>
                      <a:pPr algn="ctr" fontAlgn="base" hangingPunct="0"/>
                      <a:r>
                        <a:rPr lang="zh-CN" sz="1000" b="0" kern="100">
                          <a:solidFill>
                            <a:srgbClr val="000000"/>
                          </a:solidFill>
                          <a:effectLst/>
                          <a:latin typeface="+mn-lt"/>
                          <a:ea typeface="+mn-ea"/>
                          <a:cs typeface="+mn-ea"/>
                          <a:sym typeface="+mn-lt"/>
                        </a:rPr>
                        <a:t>一次</a:t>
                      </a:r>
                      <a:endParaRPr lang="zh-CN" sz="1000" b="0" kern="100">
                        <a:effectLst/>
                        <a:latin typeface="+mn-lt"/>
                        <a:ea typeface="+mn-ea"/>
                        <a:cs typeface="+mn-ea"/>
                        <a:sym typeface="+mn-lt"/>
                      </a:endParaRPr>
                    </a:p>
                  </a:txBody>
                  <a:tcPr marL="68580" marR="68580" marT="0" marB="0" anchor="ctr">
                    <a:solidFill>
                      <a:schemeClr val="bg1">
                        <a:lumMod val="95000"/>
                      </a:schemeClr>
                    </a:solidFill>
                  </a:tcPr>
                </a:tc>
                <a:tc vMerge="1">
                  <a:txBody>
                    <a:bodyPr/>
                    <a:lstStyle/>
                    <a:p>
                      <a:pPr algn="ctr" fontAlgn="base" hangingPunct="0"/>
                      <a:r>
                        <a:rPr lang="en-US" sz="1000" b="0" kern="100">
                          <a:effectLst/>
                          <a:latin typeface="+mn-ea"/>
                          <a:ea typeface="+mn-ea"/>
                          <a:cs typeface="Times New Roman" panose="02020603050405020304" pitchFamily="18" charset="0"/>
                        </a:rPr>
                        <a:t>2</a:t>
                      </a:r>
                      <a:endParaRPr lang="zh-CN" sz="1000" b="0" kern="1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761854580"/>
                  </a:ext>
                </a:extLst>
              </a:tr>
              <a:tr h="459561">
                <a:tc rowSpan="3">
                  <a:txBody>
                    <a:bodyPr/>
                    <a:lstStyle/>
                    <a:p>
                      <a:pPr algn="ctr"/>
                      <a:r>
                        <a:rPr lang="en-US" sz="1200" b="1" kern="100">
                          <a:solidFill>
                            <a:schemeClr val="bg1"/>
                          </a:solidFill>
                          <a:effectLst/>
                          <a:latin typeface="+mn-lt"/>
                          <a:ea typeface="+mn-ea"/>
                          <a:cs typeface="+mn-ea"/>
                          <a:sym typeface="+mn-lt"/>
                        </a:rPr>
                        <a:t>31~50</a:t>
                      </a:r>
                    </a:p>
                  </a:txBody>
                  <a:tcPr marL="68580" marR="68580" marT="0" marB="0" anchor="ctr">
                    <a:solidFill>
                      <a:schemeClr val="accent2">
                        <a:lumMod val="60000"/>
                        <a:lumOff val="40000"/>
                      </a:schemeClr>
                    </a:solidFill>
                  </a:tcPr>
                </a:tc>
                <a:tc>
                  <a:txBody>
                    <a:bodyPr/>
                    <a:lstStyle/>
                    <a:p>
                      <a:pPr algn="ctr"/>
                      <a:r>
                        <a:rPr lang="en-US" sz="1000" b="0" kern="100">
                          <a:solidFill>
                            <a:schemeClr val="tx1"/>
                          </a:solidFill>
                          <a:effectLst/>
                          <a:latin typeface="+mn-lt"/>
                          <a:ea typeface="+mn-ea"/>
                          <a:cs typeface="+mn-ea"/>
                          <a:sym typeface="+mn-lt"/>
                        </a:rPr>
                        <a:t>3月龄~ &lt; 6月龄</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20 mg/kg / 5 mg/kg</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每8小时</a:t>
                      </a:r>
                    </a:p>
                    <a:p>
                      <a:pPr algn="ctr"/>
                      <a:r>
                        <a:rPr lang="en-US" sz="1000" b="0" kern="100">
                          <a:solidFill>
                            <a:schemeClr val="tx1"/>
                          </a:solidFill>
                          <a:effectLst/>
                          <a:latin typeface="+mn-lt"/>
                          <a:ea typeface="+mn-ea"/>
                          <a:cs typeface="+mn-ea"/>
                          <a:sym typeface="+mn-lt"/>
                        </a:rPr>
                        <a:t>一次</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vMerge="1">
                  <a:txBody>
                    <a:bodyPr/>
                    <a:lstStyle/>
                    <a:p>
                      <a:pPr algn="ctr"/>
                      <a:r>
                        <a:rPr lang="en-US" sz="1000" b="0" kern="100">
                          <a:solidFill>
                            <a:schemeClr val="tx1"/>
                          </a:solidFill>
                          <a:effectLst/>
                          <a:latin typeface="+mn-ea"/>
                          <a:ea typeface="+mn-ea"/>
                          <a:cs typeface="Times New Roman" panose="02020603050405020304" pitchFamily="18" charset="0"/>
                        </a:rPr>
                        <a:t>2</a:t>
                      </a:r>
                      <a:endParaRPr lang="zh-CN" sz="1000" b="0" kern="100">
                        <a:solidFill>
                          <a:schemeClr val="tx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560430167"/>
                  </a:ext>
                </a:extLst>
              </a:tr>
              <a:tr h="459561">
                <a:tc vMerge="1">
                  <a:txBody>
                    <a:bodyPr/>
                    <a:lstStyle/>
                    <a:p>
                      <a:endParaRPr lang="zh-CN" altLang="en-US"/>
                    </a:p>
                  </a:txBody>
                  <a:tcPr/>
                </a:tc>
                <a:tc>
                  <a:txBody>
                    <a:bodyPr/>
                    <a:lstStyle/>
                    <a:p>
                      <a:pPr algn="ctr"/>
                      <a:r>
                        <a:rPr lang="en-US" sz="1000" b="0" kern="100">
                          <a:solidFill>
                            <a:schemeClr val="tx1"/>
                          </a:solidFill>
                          <a:effectLst/>
                          <a:latin typeface="+mn-lt"/>
                          <a:ea typeface="+mn-ea"/>
                          <a:cs typeface="+mn-ea"/>
                          <a:sym typeface="+mn-lt"/>
                        </a:rPr>
                        <a:t>6月龄~ &lt; 2岁</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25 mg/kg / 6.25 mg/kg</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每8小时</a:t>
                      </a:r>
                    </a:p>
                    <a:p>
                      <a:pPr algn="ctr"/>
                      <a:r>
                        <a:rPr lang="en-US" sz="1000" b="0" kern="100">
                          <a:solidFill>
                            <a:schemeClr val="tx1"/>
                          </a:solidFill>
                          <a:effectLst/>
                          <a:latin typeface="+mn-lt"/>
                          <a:ea typeface="+mn-ea"/>
                          <a:cs typeface="+mn-ea"/>
                          <a:sym typeface="+mn-lt"/>
                        </a:rPr>
                        <a:t>一次</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vMerge="1">
                  <a:txBody>
                    <a:bodyPr/>
                    <a:lstStyle/>
                    <a:p>
                      <a:endParaRPr lang="zh-CN" altLang="en-US"/>
                    </a:p>
                  </a:txBody>
                  <a:tcPr/>
                </a:tc>
                <a:extLst>
                  <a:ext uri="{0D108BD9-81ED-4DB2-BD59-A6C34878D82A}">
                    <a16:rowId xmlns:a16="http://schemas.microsoft.com/office/drawing/2014/main" val="4190717966"/>
                  </a:ext>
                </a:extLst>
              </a:tr>
              <a:tr h="557044">
                <a:tc vMerge="1">
                  <a:txBody>
                    <a:bodyPr/>
                    <a:lstStyle/>
                    <a:p>
                      <a:pPr algn="ctr">
                        <a:tabLst>
                          <a:tab pos="630555" algn="l"/>
                        </a:tabLst>
                      </a:pPr>
                      <a:r>
                        <a:rPr lang="en-GB" sz="1000" kern="100">
                          <a:effectLst/>
                        </a:rPr>
                        <a:t>31</a:t>
                      </a:r>
                      <a:r>
                        <a:rPr lang="en-GB" sz="1100" kern="100">
                          <a:effectLst/>
                        </a:rPr>
                        <a:t>~</a:t>
                      </a:r>
                      <a:r>
                        <a:rPr lang="en-GB" sz="1000" kern="100">
                          <a:effectLst/>
                        </a:rPr>
                        <a:t>50</a:t>
                      </a: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3193" marR="63193" marT="0" marB="0" anchor="ctr"/>
                </a:tc>
                <a:tc>
                  <a:txBody>
                    <a:bodyPr/>
                    <a:lstStyle/>
                    <a:p>
                      <a:pPr marL="0" algn="ctr" defTabSz="685800" rtl="0" eaLnBrk="1" latinLnBrk="0" hangingPunct="1"/>
                      <a:r>
                        <a:rPr lang="en-US" altLang="zh-CN" sz="1000" b="0" kern="100">
                          <a:solidFill>
                            <a:schemeClr val="tx1"/>
                          </a:solidFill>
                          <a:effectLst/>
                          <a:latin typeface="+mn-lt"/>
                          <a:ea typeface="+mn-ea"/>
                          <a:cs typeface="+mn-ea"/>
                          <a:sym typeface="+mn-lt"/>
                        </a:rPr>
                        <a:t>2</a:t>
                      </a:r>
                      <a:r>
                        <a:rPr lang="zh-CN" altLang="en-US" sz="1000" b="0" kern="100">
                          <a:solidFill>
                            <a:schemeClr val="tx1"/>
                          </a:solidFill>
                          <a:effectLst/>
                          <a:latin typeface="+mn-lt"/>
                          <a:ea typeface="+mn-ea"/>
                          <a:cs typeface="+mn-ea"/>
                          <a:sym typeface="+mn-lt"/>
                        </a:rPr>
                        <a:t>岁</a:t>
                      </a:r>
                      <a:r>
                        <a:rPr lang="en-US" altLang="zh-CN" sz="1000" b="0" kern="100">
                          <a:solidFill>
                            <a:schemeClr val="tx1"/>
                          </a:solidFill>
                          <a:effectLst/>
                          <a:latin typeface="+mn-lt"/>
                          <a:ea typeface="+mn-ea"/>
                          <a:cs typeface="+mn-ea"/>
                          <a:sym typeface="+mn-lt"/>
                        </a:rPr>
                        <a:t>~ &lt;18</a:t>
                      </a:r>
                      <a:r>
                        <a:rPr lang="zh-CN" altLang="en-US" sz="1000" b="0" kern="100">
                          <a:solidFill>
                            <a:schemeClr val="tx1"/>
                          </a:solidFill>
                          <a:effectLst/>
                          <a:latin typeface="+mn-lt"/>
                          <a:ea typeface="+mn-ea"/>
                          <a:cs typeface="+mn-ea"/>
                          <a:sym typeface="+mn-lt"/>
                        </a:rPr>
                        <a:t>岁</a:t>
                      </a:r>
                    </a:p>
                  </a:txBody>
                  <a:tcPr marL="68580" marR="68580" marT="0" marB="0" anchor="ctr">
                    <a:solidFill>
                      <a:schemeClr val="bg1">
                        <a:lumMod val="95000"/>
                      </a:schemeClr>
                    </a:solidFill>
                  </a:tcPr>
                </a:tc>
                <a:tc>
                  <a:txBody>
                    <a:bodyPr/>
                    <a:lstStyle/>
                    <a:p>
                      <a:pPr algn="ctr">
                        <a:tabLst>
                          <a:tab pos="630555" algn="l"/>
                        </a:tabLst>
                      </a:pPr>
                      <a:r>
                        <a:rPr lang="en-GB" sz="1000" b="0" kern="100">
                          <a:solidFill>
                            <a:schemeClr val="tx1"/>
                          </a:solidFill>
                          <a:effectLst/>
                          <a:latin typeface="+mn-lt"/>
                          <a:ea typeface="+mn-ea"/>
                          <a:cs typeface="+mn-ea"/>
                          <a:sym typeface="+mn-lt"/>
                        </a:rPr>
                        <a:t>25 mg/kg / 6.25 mg/kg</a:t>
                      </a:r>
                      <a:endParaRPr lang="zh-CN" sz="1000" b="0" kern="100">
                        <a:solidFill>
                          <a:schemeClr val="tx1"/>
                        </a:solidFill>
                        <a:effectLst/>
                        <a:latin typeface="+mn-lt"/>
                        <a:ea typeface="+mn-ea"/>
                        <a:cs typeface="+mn-ea"/>
                        <a:sym typeface="+mn-lt"/>
                      </a:endParaRPr>
                    </a:p>
                    <a:p>
                      <a:pPr algn="ctr">
                        <a:tabLst>
                          <a:tab pos="630555" algn="l"/>
                        </a:tabLst>
                      </a:pPr>
                      <a:r>
                        <a:rPr lang="zh-CN" sz="1000" b="0" kern="100">
                          <a:solidFill>
                            <a:schemeClr val="tx1"/>
                          </a:solidFill>
                          <a:effectLst/>
                          <a:latin typeface="+mn-lt"/>
                          <a:ea typeface="+mn-ea"/>
                          <a:cs typeface="+mn-ea"/>
                          <a:sym typeface="+mn-lt"/>
                        </a:rPr>
                        <a:t>至最多</a:t>
                      </a:r>
                      <a:endParaRPr lang="en-US" altLang="zh-CN" sz="1000" b="0" kern="100">
                        <a:solidFill>
                          <a:schemeClr val="tx1"/>
                        </a:solidFill>
                        <a:effectLst/>
                        <a:latin typeface="+mn-lt"/>
                        <a:ea typeface="+mn-ea"/>
                        <a:cs typeface="+mn-ea"/>
                        <a:sym typeface="+mn-lt"/>
                      </a:endParaRPr>
                    </a:p>
                    <a:p>
                      <a:pPr algn="ctr">
                        <a:tabLst>
                          <a:tab pos="630555" algn="l"/>
                        </a:tabLst>
                      </a:pPr>
                      <a:r>
                        <a:rPr lang="en-GB" sz="1000" b="0" kern="100">
                          <a:solidFill>
                            <a:schemeClr val="tx1"/>
                          </a:solidFill>
                          <a:effectLst/>
                          <a:latin typeface="+mn-lt"/>
                          <a:ea typeface="+mn-ea"/>
                          <a:cs typeface="+mn-ea"/>
                          <a:sym typeface="+mn-lt"/>
                        </a:rPr>
                        <a:t>1 g / 0.25 g</a:t>
                      </a:r>
                      <a:endParaRPr lang="zh-CN" sz="1000" b="0" kern="100">
                        <a:solidFill>
                          <a:schemeClr val="tx1"/>
                        </a:solidFill>
                        <a:effectLst/>
                        <a:latin typeface="+mn-lt"/>
                        <a:ea typeface="+mn-ea"/>
                        <a:cs typeface="+mn-ea"/>
                        <a:sym typeface="+mn-lt"/>
                      </a:endParaRPr>
                    </a:p>
                  </a:txBody>
                  <a:tcPr marL="63193" marR="63193" marT="0" marB="0" anchor="ctr">
                    <a:solidFill>
                      <a:schemeClr val="bg1">
                        <a:lumMod val="95000"/>
                      </a:schemeClr>
                    </a:solidFill>
                  </a:tcPr>
                </a:tc>
                <a:tc>
                  <a:txBody>
                    <a:bodyPr/>
                    <a:lstStyle/>
                    <a:p>
                      <a:pPr algn="ctr">
                        <a:tabLst>
                          <a:tab pos="630555" algn="l"/>
                        </a:tabLst>
                      </a:pPr>
                      <a:r>
                        <a:rPr lang="zh-CN" sz="1000" b="0" kern="100">
                          <a:solidFill>
                            <a:schemeClr val="tx1"/>
                          </a:solidFill>
                          <a:effectLst/>
                          <a:latin typeface="+mn-lt"/>
                          <a:ea typeface="+mn-ea"/>
                          <a:cs typeface="+mn-ea"/>
                          <a:sym typeface="+mn-lt"/>
                        </a:rPr>
                        <a:t>每</a:t>
                      </a:r>
                      <a:r>
                        <a:rPr lang="en-GB" sz="1000" b="0" kern="100">
                          <a:solidFill>
                            <a:schemeClr val="tx1"/>
                          </a:solidFill>
                          <a:effectLst/>
                          <a:latin typeface="+mn-lt"/>
                          <a:ea typeface="+mn-ea"/>
                          <a:cs typeface="+mn-ea"/>
                          <a:sym typeface="+mn-lt"/>
                        </a:rPr>
                        <a:t>8</a:t>
                      </a:r>
                      <a:r>
                        <a:rPr lang="zh-CN" sz="1000" b="0" kern="100">
                          <a:solidFill>
                            <a:schemeClr val="tx1"/>
                          </a:solidFill>
                          <a:effectLst/>
                          <a:latin typeface="+mn-lt"/>
                          <a:ea typeface="+mn-ea"/>
                          <a:cs typeface="+mn-ea"/>
                          <a:sym typeface="+mn-lt"/>
                        </a:rPr>
                        <a:t>小时</a:t>
                      </a:r>
                      <a:endParaRPr lang="en-US" altLang="zh-CN" sz="1000" b="0" kern="100">
                        <a:solidFill>
                          <a:schemeClr val="tx1"/>
                        </a:solidFill>
                        <a:effectLst/>
                        <a:latin typeface="+mn-lt"/>
                        <a:ea typeface="+mn-ea"/>
                        <a:cs typeface="+mn-ea"/>
                        <a:sym typeface="+mn-lt"/>
                      </a:endParaRPr>
                    </a:p>
                    <a:p>
                      <a:pPr algn="ctr">
                        <a:tabLst>
                          <a:tab pos="630555" algn="l"/>
                        </a:tabLst>
                      </a:pPr>
                      <a:r>
                        <a:rPr lang="zh-CN" sz="1000" b="0" kern="100">
                          <a:solidFill>
                            <a:schemeClr val="tx1"/>
                          </a:solidFill>
                          <a:effectLst/>
                          <a:latin typeface="+mn-lt"/>
                          <a:ea typeface="+mn-ea"/>
                          <a:cs typeface="+mn-ea"/>
                          <a:sym typeface="+mn-lt"/>
                        </a:rPr>
                        <a:t>一次</a:t>
                      </a:r>
                    </a:p>
                  </a:txBody>
                  <a:tcPr marL="63193" marR="63193" marT="0" marB="0" anchor="ctr">
                    <a:solidFill>
                      <a:schemeClr val="bg1">
                        <a:lumMod val="95000"/>
                      </a:schemeClr>
                    </a:solidFill>
                  </a:tcPr>
                </a:tc>
                <a:tc vMerge="1">
                  <a:txBody>
                    <a:bodyPr/>
                    <a:lstStyle/>
                    <a:p>
                      <a:endParaRPr lang="zh-CN" altLang="en-US"/>
                    </a:p>
                  </a:txBody>
                  <a:tcPr/>
                </a:tc>
                <a:extLst>
                  <a:ext uri="{0D108BD9-81ED-4DB2-BD59-A6C34878D82A}">
                    <a16:rowId xmlns:a16="http://schemas.microsoft.com/office/drawing/2014/main" val="828610223"/>
                  </a:ext>
                </a:extLst>
              </a:tr>
              <a:tr h="459561">
                <a:tc rowSpan="3">
                  <a:txBody>
                    <a:bodyPr/>
                    <a:lstStyle/>
                    <a:p>
                      <a:pPr algn="ctr"/>
                      <a:r>
                        <a:rPr lang="en-US" sz="1200" b="1" kern="100">
                          <a:solidFill>
                            <a:schemeClr val="bg1"/>
                          </a:solidFill>
                          <a:effectLst/>
                          <a:latin typeface="+mn-lt"/>
                          <a:ea typeface="+mn-ea"/>
                          <a:cs typeface="+mn-ea"/>
                          <a:sym typeface="+mn-lt"/>
                        </a:rPr>
                        <a:t>16~30</a:t>
                      </a:r>
                    </a:p>
                  </a:txBody>
                  <a:tcPr marL="68580" marR="68580" marT="0" marB="0" anchor="ctr">
                    <a:solidFill>
                      <a:schemeClr val="accent2">
                        <a:lumMod val="75000"/>
                      </a:schemeClr>
                    </a:solidFill>
                  </a:tcPr>
                </a:tc>
                <a:tc>
                  <a:txBody>
                    <a:bodyPr/>
                    <a:lstStyle/>
                    <a:p>
                      <a:pPr algn="ctr"/>
                      <a:r>
                        <a:rPr lang="en-US" sz="1000" b="0" kern="100">
                          <a:solidFill>
                            <a:schemeClr val="tx1"/>
                          </a:solidFill>
                          <a:effectLst/>
                          <a:latin typeface="+mn-lt"/>
                          <a:ea typeface="+mn-ea"/>
                          <a:cs typeface="+mn-ea"/>
                          <a:sym typeface="+mn-lt"/>
                        </a:rPr>
                        <a:t>3月龄~ &lt; 6月龄</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15 mg/kg / 3.75 mg/kg</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每12小时</a:t>
                      </a:r>
                    </a:p>
                    <a:p>
                      <a:pPr algn="ctr"/>
                      <a:r>
                        <a:rPr lang="en-US" sz="1000" b="0" kern="100">
                          <a:solidFill>
                            <a:schemeClr val="tx1"/>
                          </a:solidFill>
                          <a:effectLst/>
                          <a:latin typeface="+mn-lt"/>
                          <a:ea typeface="+mn-ea"/>
                          <a:cs typeface="+mn-ea"/>
                          <a:sym typeface="+mn-lt"/>
                        </a:rPr>
                        <a:t>一次</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vMerge="1">
                  <a:txBody>
                    <a:bodyPr/>
                    <a:lstStyle/>
                    <a:p>
                      <a:endParaRPr lang="zh-CN" altLang="en-US"/>
                    </a:p>
                  </a:txBody>
                  <a:tcPr/>
                </a:tc>
                <a:extLst>
                  <a:ext uri="{0D108BD9-81ED-4DB2-BD59-A6C34878D82A}">
                    <a16:rowId xmlns:a16="http://schemas.microsoft.com/office/drawing/2014/main" val="2243433453"/>
                  </a:ext>
                </a:extLst>
              </a:tr>
              <a:tr h="459561">
                <a:tc vMerge="1">
                  <a:txBody>
                    <a:bodyPr/>
                    <a:lstStyle/>
                    <a:p>
                      <a:endParaRPr lang="zh-CN" altLang="en-US"/>
                    </a:p>
                  </a:txBody>
                  <a:tcPr/>
                </a:tc>
                <a:tc>
                  <a:txBody>
                    <a:bodyPr/>
                    <a:lstStyle/>
                    <a:p>
                      <a:pPr algn="ctr"/>
                      <a:r>
                        <a:rPr lang="en-US" sz="1000" b="0" kern="100">
                          <a:solidFill>
                            <a:schemeClr val="tx1"/>
                          </a:solidFill>
                          <a:effectLst/>
                          <a:latin typeface="+mn-lt"/>
                          <a:ea typeface="+mn-ea"/>
                          <a:cs typeface="+mn-ea"/>
                          <a:sym typeface="+mn-lt"/>
                        </a:rPr>
                        <a:t>6月龄~ &lt; 2岁</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18.75 mg/kg / 4.7 mg/kg</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a:txBody>
                    <a:bodyPr/>
                    <a:lstStyle/>
                    <a:p>
                      <a:pPr algn="ctr"/>
                      <a:r>
                        <a:rPr lang="en-US" sz="1000" b="0" kern="100">
                          <a:solidFill>
                            <a:schemeClr val="tx1"/>
                          </a:solidFill>
                          <a:effectLst/>
                          <a:latin typeface="+mn-lt"/>
                          <a:ea typeface="+mn-ea"/>
                          <a:cs typeface="+mn-ea"/>
                          <a:sym typeface="+mn-lt"/>
                        </a:rPr>
                        <a:t>每12小时</a:t>
                      </a:r>
                    </a:p>
                    <a:p>
                      <a:pPr algn="ctr"/>
                      <a:r>
                        <a:rPr lang="en-US" sz="1000" b="0" kern="100">
                          <a:solidFill>
                            <a:schemeClr val="tx1"/>
                          </a:solidFill>
                          <a:effectLst/>
                          <a:latin typeface="+mn-lt"/>
                          <a:ea typeface="+mn-ea"/>
                          <a:cs typeface="+mn-ea"/>
                          <a:sym typeface="+mn-lt"/>
                        </a:rPr>
                        <a:t>一次</a:t>
                      </a:r>
                      <a:endParaRPr lang="zh-CN" sz="1000" b="0" kern="100">
                        <a:solidFill>
                          <a:schemeClr val="tx1"/>
                        </a:solidFill>
                        <a:effectLst/>
                        <a:latin typeface="+mn-lt"/>
                        <a:ea typeface="+mn-ea"/>
                        <a:cs typeface="+mn-ea"/>
                        <a:sym typeface="+mn-lt"/>
                      </a:endParaRPr>
                    </a:p>
                  </a:txBody>
                  <a:tcPr marL="68580" marR="68580" marT="0" marB="0" anchor="ctr">
                    <a:solidFill>
                      <a:schemeClr val="bg1">
                        <a:lumMod val="95000"/>
                      </a:schemeClr>
                    </a:solidFill>
                  </a:tcPr>
                </a:tc>
                <a:tc vMerge="1">
                  <a:txBody>
                    <a:bodyPr/>
                    <a:lstStyle/>
                    <a:p>
                      <a:endParaRPr lang="zh-CN" altLang="en-US"/>
                    </a:p>
                  </a:txBody>
                  <a:tcPr/>
                </a:tc>
                <a:extLst>
                  <a:ext uri="{0D108BD9-81ED-4DB2-BD59-A6C34878D82A}">
                    <a16:rowId xmlns:a16="http://schemas.microsoft.com/office/drawing/2014/main" val="113801084"/>
                  </a:ext>
                </a:extLst>
              </a:tr>
              <a:tr h="557044">
                <a:tc vMerge="1">
                  <a:txBody>
                    <a:bodyPr/>
                    <a:lstStyle/>
                    <a:p>
                      <a:pPr algn="ctr"/>
                      <a:r>
                        <a:rPr lang="en-US" altLang="zh-CN" sz="1200" kern="100">
                          <a:effectLst/>
                          <a:latin typeface="Arial" panose="020B0604020202020204" pitchFamily="34" charset="0"/>
                          <a:ea typeface="微软雅黑" panose="020B0503020204020204" pitchFamily="34" charset="-122"/>
                          <a:cs typeface="Times New Roman" panose="02020603050405020304" pitchFamily="18" charset="0"/>
                        </a:rPr>
                        <a:t>16~30</a:t>
                      </a:r>
                    </a:p>
                  </a:txBody>
                  <a:tcPr marL="68580" marR="685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a:ln>
                            <a:noFill/>
                          </a:ln>
                          <a:solidFill>
                            <a:schemeClr val="tx1"/>
                          </a:solidFill>
                          <a:effectLst/>
                          <a:uLnTx/>
                          <a:uFillTx/>
                          <a:latin typeface="+mn-lt"/>
                          <a:ea typeface="+mn-ea"/>
                          <a:cs typeface="+mn-ea"/>
                          <a:sym typeface="+mn-lt"/>
                        </a:rPr>
                        <a:t>2</a:t>
                      </a: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岁</a:t>
                      </a:r>
                      <a:r>
                        <a:rPr kumimoji="0" lang="en-US" altLang="zh-CN" sz="1000" b="0" i="0" u="none" strike="noStrike" kern="100" cap="none" spc="0" normalizeH="0" baseline="0" noProof="0">
                          <a:ln>
                            <a:noFill/>
                          </a:ln>
                          <a:solidFill>
                            <a:schemeClr val="tx1"/>
                          </a:solidFill>
                          <a:effectLst/>
                          <a:uLnTx/>
                          <a:uFillTx/>
                          <a:latin typeface="+mn-lt"/>
                          <a:ea typeface="+mn-ea"/>
                          <a:cs typeface="+mn-ea"/>
                          <a:sym typeface="+mn-lt"/>
                        </a:rPr>
                        <a:t>~ &lt;18</a:t>
                      </a: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岁</a:t>
                      </a:r>
                    </a:p>
                  </a:txBody>
                  <a:tcPr marL="68580" marR="68580" marT="0" marB="0" anchor="ctr">
                    <a:solidFill>
                      <a:schemeClr val="bg1">
                        <a:lumMod val="95000"/>
                      </a:schemeClr>
                    </a:solidFill>
                  </a:tcPr>
                </a:tc>
                <a:tc>
                  <a:txBody>
                    <a:bodyPr/>
                    <a:lstStyle/>
                    <a:p>
                      <a:pPr marL="0" algn="ctr" defTabSz="685800" rtl="0" eaLnBrk="1" latinLnBrk="0" hangingPunct="1">
                        <a:tabLst>
                          <a:tab pos="630555" algn="l"/>
                        </a:tabLst>
                      </a:pPr>
                      <a:r>
                        <a:rPr lang="en-US" altLang="zh-CN" sz="1000" b="0" kern="100">
                          <a:solidFill>
                            <a:schemeClr val="tx1"/>
                          </a:solidFill>
                          <a:effectLst/>
                          <a:latin typeface="+mn-lt"/>
                          <a:ea typeface="+mn-ea"/>
                          <a:cs typeface="+mn-ea"/>
                          <a:sym typeface="+mn-lt"/>
                        </a:rPr>
                        <a:t>18.75 mg/kg / 4.7 mg/kg</a:t>
                      </a:r>
                    </a:p>
                    <a:p>
                      <a:pPr marL="0" algn="ctr" defTabSz="685800" rtl="0" eaLnBrk="1" latinLnBrk="0" hangingPunct="1">
                        <a:tabLst>
                          <a:tab pos="630555" algn="l"/>
                        </a:tabLst>
                      </a:pPr>
                      <a:r>
                        <a:rPr lang="zh-CN" altLang="en-US" sz="1000" b="0" kern="100">
                          <a:solidFill>
                            <a:schemeClr val="tx1"/>
                          </a:solidFill>
                          <a:effectLst/>
                          <a:latin typeface="+mn-lt"/>
                          <a:ea typeface="+mn-ea"/>
                          <a:cs typeface="+mn-ea"/>
                          <a:sym typeface="+mn-lt"/>
                        </a:rPr>
                        <a:t>至最多</a:t>
                      </a:r>
                      <a:endParaRPr lang="en-US" altLang="zh-CN" sz="1000" b="0" kern="100">
                        <a:solidFill>
                          <a:schemeClr val="tx1"/>
                        </a:solidFill>
                        <a:effectLst/>
                        <a:latin typeface="+mn-lt"/>
                        <a:ea typeface="+mn-ea"/>
                        <a:cs typeface="+mn-ea"/>
                        <a:sym typeface="+mn-lt"/>
                      </a:endParaRPr>
                    </a:p>
                    <a:p>
                      <a:pPr marL="0" algn="ctr" defTabSz="685800" rtl="0" eaLnBrk="1" latinLnBrk="0" hangingPunct="1">
                        <a:tabLst>
                          <a:tab pos="630555" algn="l"/>
                        </a:tabLst>
                      </a:pPr>
                      <a:r>
                        <a:rPr lang="en-US" altLang="zh-CN" sz="1000" b="0" kern="100">
                          <a:solidFill>
                            <a:schemeClr val="tx1"/>
                          </a:solidFill>
                          <a:effectLst/>
                          <a:latin typeface="+mn-lt"/>
                          <a:ea typeface="+mn-ea"/>
                          <a:cs typeface="+mn-ea"/>
                          <a:sym typeface="+mn-lt"/>
                        </a:rPr>
                        <a:t>0.75 g / 0.1875 g</a:t>
                      </a:r>
                    </a:p>
                  </a:txBody>
                  <a:tcPr marL="68580" marR="68580" marT="0" marB="0" anchor="ctr">
                    <a:solidFill>
                      <a:schemeClr val="bg1">
                        <a:lumMod val="95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tab pos="630555" algn="l"/>
                        </a:tabLst>
                        <a:defRPr/>
                      </a:pP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每</a:t>
                      </a:r>
                      <a:r>
                        <a:rPr kumimoji="0" lang="en-GB" altLang="zh-CN" sz="1000" b="0" i="0" u="none" strike="noStrike" kern="100" cap="none" spc="0" normalizeH="0" baseline="0" noProof="0">
                          <a:ln>
                            <a:noFill/>
                          </a:ln>
                          <a:solidFill>
                            <a:schemeClr val="tx1"/>
                          </a:solidFill>
                          <a:effectLst/>
                          <a:uLnTx/>
                          <a:uFillTx/>
                          <a:latin typeface="+mn-lt"/>
                          <a:ea typeface="+mn-ea"/>
                          <a:cs typeface="+mn-ea"/>
                          <a:sym typeface="+mn-lt"/>
                        </a:rPr>
                        <a:t>12</a:t>
                      </a: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小时</a:t>
                      </a:r>
                      <a:endParaRPr kumimoji="0" lang="en-US" altLang="zh-CN" sz="1000" b="0" i="0" u="none" strike="noStrike" kern="100" cap="none" spc="0" normalizeH="0" baseline="0" noProof="0">
                        <a:ln>
                          <a:noFill/>
                        </a:ln>
                        <a:solidFill>
                          <a:schemeClr val="tx1"/>
                        </a:solidFill>
                        <a:effectLst/>
                        <a:uLnTx/>
                        <a:uFillTx/>
                        <a:latin typeface="+mn-lt"/>
                        <a:ea typeface="+mn-ea"/>
                        <a:cs typeface="+mn-ea"/>
                        <a:sym typeface="+mn-lt"/>
                      </a:endParaRPr>
                    </a:p>
                    <a:p>
                      <a:pPr marL="0" marR="0" lvl="0" indent="0" algn="ctr" defTabSz="685800" rtl="0" eaLnBrk="1" fontAlgn="auto" latinLnBrk="0" hangingPunct="1">
                        <a:lnSpc>
                          <a:spcPct val="100000"/>
                        </a:lnSpc>
                        <a:spcBef>
                          <a:spcPts val="0"/>
                        </a:spcBef>
                        <a:spcAft>
                          <a:spcPts val="0"/>
                        </a:spcAft>
                        <a:buClrTx/>
                        <a:buSzTx/>
                        <a:buFontTx/>
                        <a:buNone/>
                        <a:tabLst>
                          <a:tab pos="630555" algn="l"/>
                        </a:tabLst>
                        <a:defRPr/>
                      </a:pP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一次</a:t>
                      </a:r>
                    </a:p>
                  </a:txBody>
                  <a:tcPr marL="68580" marR="68580" marT="0" marB="0" anchor="ctr">
                    <a:solidFill>
                      <a:schemeClr val="bg1">
                        <a:lumMod val="95000"/>
                      </a:schemeClr>
                    </a:solidFill>
                  </a:tcPr>
                </a:tc>
                <a:tc vMerge="1">
                  <a:txBody>
                    <a:bodyPr/>
                    <a:lstStyle/>
                    <a:p>
                      <a:pPr algn="ctr"/>
                      <a:endParaRPr lang="zh-CN" sz="1000" b="0" kern="100">
                        <a:solidFill>
                          <a:schemeClr val="tx1"/>
                        </a:solidFill>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3259617698"/>
                  </a:ext>
                </a:extLst>
              </a:tr>
              <a:tr h="352783">
                <a:tc>
                  <a:txBody>
                    <a:bodyPr/>
                    <a:lstStyle/>
                    <a:p>
                      <a:pPr algn="ctr">
                        <a:tabLst>
                          <a:tab pos="630555" algn="l"/>
                        </a:tabLst>
                      </a:pPr>
                      <a:r>
                        <a:rPr lang="en-GB" sz="1200" b="1" kern="100">
                          <a:solidFill>
                            <a:schemeClr val="bg1"/>
                          </a:solidFill>
                          <a:effectLst/>
                          <a:latin typeface="+mn-lt"/>
                          <a:ea typeface="+mn-ea"/>
                          <a:cs typeface="+mn-ea"/>
                          <a:sym typeface="+mn-lt"/>
                        </a:rPr>
                        <a:t>6~15</a:t>
                      </a:r>
                      <a:endParaRPr lang="zh-CN" sz="1200" b="1" kern="100">
                        <a:solidFill>
                          <a:schemeClr val="bg1"/>
                        </a:solidFill>
                        <a:effectLst/>
                        <a:latin typeface="+mn-lt"/>
                        <a:ea typeface="+mn-ea"/>
                        <a:cs typeface="+mn-ea"/>
                        <a:sym typeface="+mn-lt"/>
                      </a:endParaRPr>
                    </a:p>
                  </a:txBody>
                  <a:tcPr marL="63193" marR="63193" marT="0" marB="0" anchor="ctr">
                    <a:solidFill>
                      <a:schemeClr val="accent2">
                        <a:lumMod val="5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a:ln>
                            <a:noFill/>
                          </a:ln>
                          <a:solidFill>
                            <a:schemeClr val="tx1"/>
                          </a:solidFill>
                          <a:effectLst/>
                          <a:uLnTx/>
                          <a:uFillTx/>
                          <a:latin typeface="+mn-lt"/>
                          <a:ea typeface="+mn-ea"/>
                          <a:cs typeface="+mn-ea"/>
                          <a:sym typeface="+mn-lt"/>
                        </a:rPr>
                        <a:t>2</a:t>
                      </a: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岁</a:t>
                      </a:r>
                      <a:r>
                        <a:rPr kumimoji="0" lang="en-US" altLang="zh-CN" sz="1000" b="0" i="0" u="none" strike="noStrike" kern="100" cap="none" spc="0" normalizeH="0" baseline="0" noProof="0">
                          <a:ln>
                            <a:noFill/>
                          </a:ln>
                          <a:solidFill>
                            <a:schemeClr val="tx1"/>
                          </a:solidFill>
                          <a:effectLst/>
                          <a:uLnTx/>
                          <a:uFillTx/>
                          <a:latin typeface="+mn-lt"/>
                          <a:ea typeface="+mn-ea"/>
                          <a:cs typeface="+mn-ea"/>
                          <a:sym typeface="+mn-lt"/>
                        </a:rPr>
                        <a:t>~ &lt;18</a:t>
                      </a: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岁</a:t>
                      </a:r>
                    </a:p>
                  </a:txBody>
                  <a:tcPr marL="63193" marR="63193" marT="0" marB="0" anchor="ctr">
                    <a:solidFill>
                      <a:schemeClr val="bg1">
                        <a:lumMod val="95000"/>
                      </a:schemeClr>
                    </a:solidFill>
                  </a:tcPr>
                </a:tc>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tab pos="630555" algn="l"/>
                        </a:tabLst>
                        <a:defRPr/>
                      </a:pPr>
                      <a:r>
                        <a:rPr kumimoji="0" lang="en-GB" altLang="zh-CN" sz="1000" b="0" i="0" u="none" strike="noStrike" kern="100" cap="none" spc="0" normalizeH="0" baseline="0" noProof="0">
                          <a:ln>
                            <a:noFill/>
                          </a:ln>
                          <a:solidFill>
                            <a:schemeClr val="tx1"/>
                          </a:solidFill>
                          <a:effectLst/>
                          <a:uLnTx/>
                          <a:uFillTx/>
                          <a:latin typeface="+mn-lt"/>
                          <a:ea typeface="+mn-ea"/>
                          <a:cs typeface="+mn-ea"/>
                          <a:sym typeface="+mn-lt"/>
                        </a:rPr>
                        <a:t>18.75 mg/kg / 4.7 mg/kg</a:t>
                      </a:r>
                      <a:endParaRPr kumimoji="0" lang="zh-CN" altLang="en-US" sz="1000" b="0" i="0" u="none" strike="noStrike" kern="100" cap="none" spc="0" normalizeH="0" baseline="0" noProof="0">
                        <a:ln>
                          <a:noFill/>
                        </a:ln>
                        <a:solidFill>
                          <a:schemeClr val="tx1"/>
                        </a:solidFill>
                        <a:effectLst/>
                        <a:uLnTx/>
                        <a:uFillTx/>
                        <a:latin typeface="+mn-lt"/>
                        <a:ea typeface="+mn-ea"/>
                        <a:cs typeface="+mn-ea"/>
                        <a:sym typeface="+mn-lt"/>
                      </a:endParaRPr>
                    </a:p>
                    <a:p>
                      <a:pPr marL="0" marR="0" lvl="0" indent="0" algn="ctr" defTabSz="685800" rtl="0" eaLnBrk="1" fontAlgn="auto" latinLnBrk="0" hangingPunct="1">
                        <a:lnSpc>
                          <a:spcPct val="100000"/>
                        </a:lnSpc>
                        <a:spcBef>
                          <a:spcPts val="0"/>
                        </a:spcBef>
                        <a:spcAft>
                          <a:spcPts val="0"/>
                        </a:spcAft>
                        <a:buClrTx/>
                        <a:buSzTx/>
                        <a:buFontTx/>
                        <a:buNone/>
                        <a:tabLst>
                          <a:tab pos="630555" algn="l"/>
                        </a:tabLst>
                        <a:defRPr/>
                      </a:pPr>
                      <a:r>
                        <a:rPr kumimoji="0" lang="zh-CN" altLang="en-US" sz="1000" b="0" i="0" u="none" strike="noStrike" kern="100" cap="none" spc="0" normalizeH="0" baseline="0" noProof="0">
                          <a:ln>
                            <a:noFill/>
                          </a:ln>
                          <a:solidFill>
                            <a:schemeClr val="tx1"/>
                          </a:solidFill>
                          <a:effectLst/>
                          <a:uLnTx/>
                          <a:uFillTx/>
                          <a:latin typeface="+mn-lt"/>
                          <a:ea typeface="+mn-ea"/>
                          <a:cs typeface="+mn-ea"/>
                          <a:sym typeface="+mn-lt"/>
                        </a:rPr>
                        <a:t>至最多</a:t>
                      </a:r>
                      <a:endParaRPr kumimoji="0" lang="en-US" altLang="zh-CN" sz="1000" b="0" i="0" u="none" strike="noStrike" kern="100" cap="none" spc="0" normalizeH="0" baseline="0" noProof="0">
                        <a:ln>
                          <a:noFill/>
                        </a:ln>
                        <a:solidFill>
                          <a:schemeClr val="tx1"/>
                        </a:solidFill>
                        <a:effectLst/>
                        <a:uLnTx/>
                        <a:uFillTx/>
                        <a:latin typeface="+mn-lt"/>
                        <a:ea typeface="+mn-ea"/>
                        <a:cs typeface="+mn-ea"/>
                        <a:sym typeface="+mn-lt"/>
                      </a:endParaRPr>
                    </a:p>
                    <a:p>
                      <a:pPr marL="0" marR="0" lvl="0" indent="0" algn="ctr" defTabSz="685800" rtl="0" eaLnBrk="1" fontAlgn="auto" latinLnBrk="0" hangingPunct="1">
                        <a:lnSpc>
                          <a:spcPct val="100000"/>
                        </a:lnSpc>
                        <a:spcBef>
                          <a:spcPts val="0"/>
                        </a:spcBef>
                        <a:spcAft>
                          <a:spcPts val="0"/>
                        </a:spcAft>
                        <a:buClrTx/>
                        <a:buSzTx/>
                        <a:buFontTx/>
                        <a:buNone/>
                        <a:tabLst>
                          <a:tab pos="630555" algn="l"/>
                        </a:tabLst>
                        <a:defRPr/>
                      </a:pPr>
                      <a:r>
                        <a:rPr kumimoji="0" lang="en-GB" altLang="zh-CN" sz="1000" b="0" i="0" u="none" strike="noStrike" kern="100" cap="none" spc="0" normalizeH="0" baseline="0" noProof="0">
                          <a:ln>
                            <a:noFill/>
                          </a:ln>
                          <a:solidFill>
                            <a:schemeClr val="tx1"/>
                          </a:solidFill>
                          <a:effectLst/>
                          <a:uLnTx/>
                          <a:uFillTx/>
                          <a:latin typeface="+mn-lt"/>
                          <a:ea typeface="+mn-ea"/>
                          <a:cs typeface="+mn-ea"/>
                          <a:sym typeface="+mn-lt"/>
                        </a:rPr>
                        <a:t>0.75 g / 0.1875 g</a:t>
                      </a:r>
                      <a:endParaRPr kumimoji="0" lang="zh-CN" altLang="en-US" sz="1000" b="0" i="0" u="none" strike="noStrike" kern="100" cap="none" spc="0" normalizeH="0" baseline="0" noProof="0">
                        <a:ln>
                          <a:noFill/>
                        </a:ln>
                        <a:solidFill>
                          <a:schemeClr val="tx1"/>
                        </a:solidFill>
                        <a:effectLst/>
                        <a:uLnTx/>
                        <a:uFillTx/>
                        <a:latin typeface="+mn-lt"/>
                        <a:ea typeface="+mn-ea"/>
                        <a:cs typeface="+mn-ea"/>
                        <a:sym typeface="+mn-lt"/>
                      </a:endParaRPr>
                    </a:p>
                  </a:txBody>
                  <a:tcPr marL="63193" marR="63193" marT="0" marB="0" anchor="ctr">
                    <a:solidFill>
                      <a:schemeClr val="bg1">
                        <a:lumMod val="95000"/>
                      </a:schemeClr>
                    </a:solidFill>
                  </a:tcPr>
                </a:tc>
                <a:tc>
                  <a:txBody>
                    <a:bodyPr/>
                    <a:lstStyle/>
                    <a:p>
                      <a:pPr algn="ctr">
                        <a:tabLst>
                          <a:tab pos="630555" algn="l"/>
                        </a:tabLst>
                      </a:pPr>
                      <a:r>
                        <a:rPr lang="zh-CN" sz="1000" b="0" kern="100">
                          <a:solidFill>
                            <a:schemeClr val="tx1"/>
                          </a:solidFill>
                          <a:effectLst/>
                          <a:latin typeface="+mn-lt"/>
                          <a:ea typeface="+mn-ea"/>
                          <a:cs typeface="+mn-ea"/>
                          <a:sym typeface="+mn-lt"/>
                        </a:rPr>
                        <a:t>每</a:t>
                      </a:r>
                      <a:r>
                        <a:rPr lang="en-GB" sz="1000" b="0" kern="100">
                          <a:solidFill>
                            <a:schemeClr val="tx1"/>
                          </a:solidFill>
                          <a:effectLst/>
                          <a:latin typeface="+mn-lt"/>
                          <a:ea typeface="+mn-ea"/>
                          <a:cs typeface="+mn-ea"/>
                          <a:sym typeface="+mn-lt"/>
                        </a:rPr>
                        <a:t>24</a:t>
                      </a:r>
                      <a:r>
                        <a:rPr lang="zh-CN" sz="1000" b="0" kern="100">
                          <a:solidFill>
                            <a:schemeClr val="tx1"/>
                          </a:solidFill>
                          <a:effectLst/>
                          <a:latin typeface="+mn-lt"/>
                          <a:ea typeface="+mn-ea"/>
                          <a:cs typeface="+mn-ea"/>
                          <a:sym typeface="+mn-lt"/>
                        </a:rPr>
                        <a:t>小时</a:t>
                      </a:r>
                      <a:endParaRPr lang="en-US" altLang="zh-CN" sz="1000" b="0" kern="100">
                        <a:solidFill>
                          <a:schemeClr val="tx1"/>
                        </a:solidFill>
                        <a:effectLst/>
                        <a:latin typeface="+mn-lt"/>
                        <a:ea typeface="+mn-ea"/>
                        <a:cs typeface="+mn-ea"/>
                        <a:sym typeface="+mn-lt"/>
                      </a:endParaRPr>
                    </a:p>
                    <a:p>
                      <a:pPr algn="ctr">
                        <a:tabLst>
                          <a:tab pos="630555" algn="l"/>
                        </a:tabLst>
                      </a:pPr>
                      <a:r>
                        <a:rPr lang="zh-CN" sz="1000" b="0" kern="100">
                          <a:solidFill>
                            <a:schemeClr val="tx1"/>
                          </a:solidFill>
                          <a:effectLst/>
                          <a:latin typeface="+mn-lt"/>
                          <a:ea typeface="+mn-ea"/>
                          <a:cs typeface="+mn-ea"/>
                          <a:sym typeface="+mn-lt"/>
                        </a:rPr>
                        <a:t>一次</a:t>
                      </a:r>
                    </a:p>
                  </a:txBody>
                  <a:tcPr marL="63193" marR="63193" marT="0" marB="0" anchor="ctr">
                    <a:solidFill>
                      <a:schemeClr val="bg1">
                        <a:lumMod val="95000"/>
                      </a:schemeClr>
                    </a:solidFill>
                  </a:tcPr>
                </a:tc>
                <a:tc vMerge="1">
                  <a:txBody>
                    <a:bodyPr/>
                    <a:lstStyle/>
                    <a:p>
                      <a:pPr algn="ctr">
                        <a:tabLst>
                          <a:tab pos="630555" algn="l"/>
                        </a:tabLst>
                      </a:pPr>
                      <a:endParaRPr lang="zh-CN" sz="1000" b="0" kern="100">
                        <a:solidFill>
                          <a:schemeClr val="tx1"/>
                        </a:solidFill>
                        <a:effectLst/>
                        <a:latin typeface="+mn-ea"/>
                        <a:ea typeface="+mn-ea"/>
                        <a:cs typeface="Times New Roman" panose="02020603050405020304" pitchFamily="18" charset="0"/>
                      </a:endParaRPr>
                    </a:p>
                  </a:txBody>
                  <a:tcPr marL="63193" marR="63193" marT="0" marB="0" anchor="ctr"/>
                </a:tc>
                <a:extLst>
                  <a:ext uri="{0D108BD9-81ED-4DB2-BD59-A6C34878D82A}">
                    <a16:rowId xmlns:a16="http://schemas.microsoft.com/office/drawing/2014/main" val="1953863611"/>
                  </a:ext>
                </a:extLst>
              </a:tr>
              <a:tr h="417782">
                <a:tc>
                  <a:txBody>
                    <a:bodyPr/>
                    <a:lstStyle/>
                    <a:p>
                      <a:pPr algn="ctr">
                        <a:tabLst>
                          <a:tab pos="630555" algn="l"/>
                        </a:tabLst>
                      </a:pPr>
                      <a:r>
                        <a:rPr lang="zh-CN" sz="1000" b="1" kern="100">
                          <a:solidFill>
                            <a:schemeClr val="bg1"/>
                          </a:solidFill>
                          <a:effectLst/>
                          <a:latin typeface="+mn-lt"/>
                          <a:ea typeface="+mn-ea"/>
                          <a:cs typeface="+mn-ea"/>
                          <a:sym typeface="+mn-lt"/>
                        </a:rPr>
                        <a:t>终末期肾病，包括接受血液透析的患者</a:t>
                      </a:r>
                      <a:r>
                        <a:rPr lang="en-GB" sz="1000" b="1" kern="100" baseline="30000">
                          <a:solidFill>
                            <a:schemeClr val="bg1"/>
                          </a:solidFill>
                          <a:effectLst/>
                          <a:latin typeface="+mn-lt"/>
                          <a:ea typeface="+mn-ea"/>
                          <a:cs typeface="+mn-ea"/>
                          <a:sym typeface="+mn-lt"/>
                        </a:rPr>
                        <a:t>4</a:t>
                      </a:r>
                      <a:endParaRPr lang="zh-CN" sz="1000" b="1" kern="100">
                        <a:solidFill>
                          <a:schemeClr val="bg1"/>
                        </a:solidFill>
                        <a:effectLst/>
                        <a:latin typeface="+mn-lt"/>
                        <a:ea typeface="+mn-ea"/>
                        <a:cs typeface="+mn-ea"/>
                        <a:sym typeface="+mn-lt"/>
                      </a:endParaRPr>
                    </a:p>
                  </a:txBody>
                  <a:tcPr marL="63193" marR="63193" marT="0" marB="0" anchor="ctr">
                    <a:solidFill>
                      <a:srgbClr val="FF0000"/>
                    </a:solidFill>
                  </a:tcPr>
                </a:tc>
                <a:tc>
                  <a:txBody>
                    <a:bodyPr/>
                    <a:lstStyle/>
                    <a:p>
                      <a:pPr algn="ctr">
                        <a:tabLst>
                          <a:tab pos="630555" algn="l"/>
                        </a:tabLst>
                      </a:pPr>
                      <a:endParaRPr lang="zh-CN" sz="1000" b="0" kern="100">
                        <a:solidFill>
                          <a:schemeClr val="tx1"/>
                        </a:solidFill>
                        <a:effectLst/>
                        <a:latin typeface="+mn-lt"/>
                        <a:ea typeface="+mn-ea"/>
                        <a:cs typeface="+mn-ea"/>
                        <a:sym typeface="+mn-lt"/>
                      </a:endParaRPr>
                    </a:p>
                  </a:txBody>
                  <a:tcPr marL="63193" marR="63193" marT="0" marB="0" anchor="ctr">
                    <a:solidFill>
                      <a:schemeClr val="bg1">
                        <a:lumMod val="95000"/>
                      </a:schemeClr>
                    </a:solidFill>
                  </a:tcPr>
                </a:tc>
                <a:tc vMerge="1">
                  <a:txBody>
                    <a:bodyPr/>
                    <a:lstStyle/>
                    <a:p>
                      <a:pPr algn="ctr">
                        <a:tabLst>
                          <a:tab pos="630555" algn="l"/>
                        </a:tabLst>
                      </a:pP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3193" marR="63193" marT="0" marB="0" anchor="ctr"/>
                </a:tc>
                <a:tc>
                  <a:txBody>
                    <a:bodyPr/>
                    <a:lstStyle/>
                    <a:p>
                      <a:pPr algn="ctr">
                        <a:tabLst>
                          <a:tab pos="630555" algn="l"/>
                        </a:tabLst>
                      </a:pPr>
                      <a:r>
                        <a:rPr lang="zh-CN" sz="1000" b="0" kern="100">
                          <a:solidFill>
                            <a:schemeClr val="tx1"/>
                          </a:solidFill>
                          <a:effectLst/>
                          <a:latin typeface="+mn-lt"/>
                          <a:ea typeface="+mn-ea"/>
                          <a:cs typeface="+mn-ea"/>
                          <a:sym typeface="+mn-lt"/>
                        </a:rPr>
                        <a:t>每</a:t>
                      </a:r>
                      <a:r>
                        <a:rPr lang="en-GB" sz="1000" b="0" kern="100">
                          <a:solidFill>
                            <a:schemeClr val="tx1"/>
                          </a:solidFill>
                          <a:effectLst/>
                          <a:latin typeface="+mn-lt"/>
                          <a:ea typeface="+mn-ea"/>
                          <a:cs typeface="+mn-ea"/>
                          <a:sym typeface="+mn-lt"/>
                        </a:rPr>
                        <a:t>48</a:t>
                      </a:r>
                      <a:r>
                        <a:rPr lang="zh-CN" sz="1000" b="0" kern="100">
                          <a:solidFill>
                            <a:schemeClr val="tx1"/>
                          </a:solidFill>
                          <a:effectLst/>
                          <a:latin typeface="+mn-lt"/>
                          <a:ea typeface="+mn-ea"/>
                          <a:cs typeface="+mn-ea"/>
                          <a:sym typeface="+mn-lt"/>
                        </a:rPr>
                        <a:t>小时</a:t>
                      </a:r>
                      <a:endParaRPr lang="en-US" altLang="zh-CN" sz="1000" b="0" kern="100">
                        <a:solidFill>
                          <a:schemeClr val="tx1"/>
                        </a:solidFill>
                        <a:effectLst/>
                        <a:latin typeface="+mn-lt"/>
                        <a:ea typeface="+mn-ea"/>
                        <a:cs typeface="+mn-ea"/>
                        <a:sym typeface="+mn-lt"/>
                      </a:endParaRPr>
                    </a:p>
                    <a:p>
                      <a:pPr algn="ctr">
                        <a:tabLst>
                          <a:tab pos="630555" algn="l"/>
                        </a:tabLst>
                      </a:pPr>
                      <a:r>
                        <a:rPr lang="zh-CN" sz="1000" b="0" kern="100">
                          <a:solidFill>
                            <a:schemeClr val="tx1"/>
                          </a:solidFill>
                          <a:effectLst/>
                          <a:latin typeface="+mn-lt"/>
                          <a:ea typeface="+mn-ea"/>
                          <a:cs typeface="+mn-ea"/>
                          <a:sym typeface="+mn-lt"/>
                        </a:rPr>
                        <a:t>一次</a:t>
                      </a:r>
                    </a:p>
                  </a:txBody>
                  <a:tcPr marL="63193" marR="63193" marT="0" marB="0" anchor="ctr">
                    <a:solidFill>
                      <a:schemeClr val="bg1">
                        <a:lumMod val="95000"/>
                      </a:schemeClr>
                    </a:solidFill>
                  </a:tcPr>
                </a:tc>
                <a:tc vMerge="1">
                  <a:txBody>
                    <a:bodyPr/>
                    <a:lstStyle/>
                    <a:p>
                      <a:pPr algn="ctr">
                        <a:tabLst>
                          <a:tab pos="630555" algn="l"/>
                        </a:tabLst>
                      </a:pPr>
                      <a:endParaRPr lang="zh-CN" sz="1000" b="0" kern="100">
                        <a:solidFill>
                          <a:schemeClr val="tx1"/>
                        </a:solidFill>
                        <a:effectLst/>
                        <a:latin typeface="+mn-ea"/>
                        <a:ea typeface="+mn-ea"/>
                        <a:cs typeface="Times New Roman" panose="02020603050405020304" pitchFamily="18" charset="0"/>
                      </a:endParaRPr>
                    </a:p>
                  </a:txBody>
                  <a:tcPr marL="63193" marR="63193" marT="0" marB="0" anchor="ctr"/>
                </a:tc>
                <a:extLst>
                  <a:ext uri="{0D108BD9-81ED-4DB2-BD59-A6C34878D82A}">
                    <a16:rowId xmlns:a16="http://schemas.microsoft.com/office/drawing/2014/main" val="3909595037"/>
                  </a:ext>
                </a:extLst>
              </a:tr>
            </a:tbl>
          </a:graphicData>
        </a:graphic>
      </p:graphicFrame>
      <p:sp>
        <p:nvSpPr>
          <p:cNvPr id="12" name="文本框 11">
            <a:extLst>
              <a:ext uri="{FF2B5EF4-FFF2-40B4-BE49-F238E27FC236}">
                <a16:creationId xmlns:a16="http://schemas.microsoft.com/office/drawing/2014/main" id="{AD029D9D-F001-A756-0314-2D7BB17750B9}"/>
              </a:ext>
            </a:extLst>
          </p:cNvPr>
          <p:cNvSpPr txBox="1"/>
          <p:nvPr/>
        </p:nvSpPr>
        <p:spPr>
          <a:xfrm>
            <a:off x="218185" y="6329339"/>
            <a:ext cx="6243033" cy="461665"/>
          </a:xfrm>
          <a:prstGeom prst="rect">
            <a:avLst/>
          </a:prstGeom>
          <a:noFill/>
        </p:spPr>
        <p:txBody>
          <a:bodyPr wrap="square">
            <a:spAutoFit/>
          </a:bodyPr>
          <a:lstStyle/>
          <a:p>
            <a:pPr marL="228600" indent="-228600">
              <a:buFont typeface="+mj-lt"/>
              <a:buAutoNum type="arabicPeriod"/>
            </a:pPr>
            <a:r>
              <a:rPr lang="en-US" altLang="zh-CN" sz="600">
                <a:solidFill>
                  <a:schemeClr val="tx1">
                    <a:lumMod val="50000"/>
                    <a:lumOff val="50000"/>
                  </a:schemeClr>
                </a:solidFill>
                <a:cs typeface="+mn-ea"/>
                <a:sym typeface="+mn-lt"/>
              </a:rPr>
              <a:t>CrCL </a:t>
            </a:r>
            <a:r>
              <a:rPr lang="zh-CN" altLang="en-US" sz="600">
                <a:solidFill>
                  <a:schemeClr val="tx1">
                    <a:lumMod val="50000"/>
                    <a:lumOff val="50000"/>
                  </a:schemeClr>
                </a:solidFill>
                <a:cs typeface="+mn-ea"/>
                <a:sym typeface="+mn-lt"/>
              </a:rPr>
              <a:t>使用 </a:t>
            </a:r>
            <a:r>
              <a:rPr lang="en-US" altLang="zh-CN" sz="600">
                <a:solidFill>
                  <a:schemeClr val="tx1">
                    <a:lumMod val="50000"/>
                    <a:lumOff val="50000"/>
                  </a:schemeClr>
                </a:solidFill>
                <a:cs typeface="+mn-ea"/>
                <a:sym typeface="+mn-lt"/>
              </a:rPr>
              <a:t>Schwartz bedside</a:t>
            </a:r>
            <a:r>
              <a:rPr lang="zh-CN" altLang="en-US" sz="600">
                <a:solidFill>
                  <a:schemeClr val="tx1">
                    <a:lumMod val="50000"/>
                    <a:lumOff val="50000"/>
                  </a:schemeClr>
                </a:solidFill>
                <a:cs typeface="+mn-ea"/>
                <a:sym typeface="+mn-lt"/>
              </a:rPr>
              <a:t>公式估算</a:t>
            </a:r>
          </a:p>
          <a:p>
            <a:pPr marL="228600" indent="-228600">
              <a:buFont typeface="+mj-lt"/>
              <a:buAutoNum type="arabicPeriod"/>
            </a:pPr>
            <a:r>
              <a:rPr lang="zh-CN" altLang="en-US" sz="600">
                <a:solidFill>
                  <a:schemeClr val="tx1">
                    <a:lumMod val="50000"/>
                    <a:lumOff val="50000"/>
                  </a:schemeClr>
                </a:solidFill>
                <a:cs typeface="+mn-ea"/>
                <a:sym typeface="+mn-lt"/>
              </a:rPr>
              <a:t>剂量建议基于药代动力学建模（见</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药代动力学</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a:t>
            </a:r>
          </a:p>
          <a:p>
            <a:pPr marL="228600" indent="-228600">
              <a:buFont typeface="+mj-lt"/>
              <a:buAutoNum type="arabicPeriod"/>
            </a:pPr>
            <a:r>
              <a:rPr lang="zh-CN" altLang="en-US" sz="600">
                <a:solidFill>
                  <a:schemeClr val="tx1">
                    <a:lumMod val="50000"/>
                    <a:lumOff val="50000"/>
                  </a:schemeClr>
                </a:solidFill>
                <a:cs typeface="+mn-ea"/>
                <a:sym typeface="+mn-lt"/>
              </a:rPr>
              <a:t>在</a:t>
            </a:r>
            <a:r>
              <a:rPr lang="en-US" altLang="zh-CN" sz="600">
                <a:solidFill>
                  <a:schemeClr val="tx1">
                    <a:lumMod val="50000"/>
                    <a:lumOff val="50000"/>
                  </a:schemeClr>
                </a:solidFill>
                <a:cs typeface="+mn-ea"/>
                <a:sym typeface="+mn-lt"/>
              </a:rPr>
              <a:t>3</a:t>
            </a:r>
            <a:r>
              <a:rPr lang="zh-CN" altLang="en-US" sz="600">
                <a:solidFill>
                  <a:schemeClr val="tx1">
                    <a:lumMod val="50000"/>
                    <a:lumOff val="50000"/>
                  </a:schemeClr>
                </a:solidFill>
                <a:cs typeface="+mn-ea"/>
                <a:sym typeface="+mn-lt"/>
              </a:rPr>
              <a:t>月龄至＜</a:t>
            </a:r>
            <a:r>
              <a:rPr lang="en-US" altLang="zh-CN" sz="600">
                <a:solidFill>
                  <a:schemeClr val="tx1">
                    <a:lumMod val="50000"/>
                    <a:lumOff val="50000"/>
                  </a:schemeClr>
                </a:solidFill>
                <a:cs typeface="+mn-ea"/>
                <a:sym typeface="+mn-lt"/>
              </a:rPr>
              <a:t>6</a:t>
            </a:r>
            <a:r>
              <a:rPr lang="zh-CN" altLang="en-US" sz="600">
                <a:solidFill>
                  <a:schemeClr val="tx1">
                    <a:lumMod val="50000"/>
                    <a:lumOff val="50000"/>
                  </a:schemeClr>
                </a:solidFill>
                <a:cs typeface="+mn-ea"/>
                <a:sym typeface="+mn-lt"/>
              </a:rPr>
              <a:t>月龄的儿童患者中使用</a:t>
            </a:r>
            <a:r>
              <a:rPr lang="en-US" altLang="zh-CN" sz="600">
                <a:solidFill>
                  <a:schemeClr val="tx1">
                    <a:lumMod val="50000"/>
                    <a:lumOff val="50000"/>
                  </a:schemeClr>
                </a:solidFill>
                <a:cs typeface="+mn-ea"/>
                <a:sym typeface="+mn-lt"/>
              </a:rPr>
              <a:t>Zavicefta</a:t>
            </a:r>
            <a:r>
              <a:rPr lang="zh-CN" altLang="en-US" sz="600">
                <a:solidFill>
                  <a:schemeClr val="tx1">
                    <a:lumMod val="50000"/>
                    <a:lumOff val="50000"/>
                  </a:schemeClr>
                </a:solidFill>
                <a:cs typeface="+mn-ea"/>
                <a:sym typeface="+mn-lt"/>
              </a:rPr>
              <a:t>的经验有限（见</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药代动力学</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a:t>
            </a:r>
            <a:endParaRPr lang="en-US" altLang="zh-CN" sz="600">
              <a:solidFill>
                <a:schemeClr val="tx1">
                  <a:lumMod val="50000"/>
                  <a:lumOff val="50000"/>
                </a:schemeClr>
              </a:solidFill>
              <a:cs typeface="+mn-ea"/>
              <a:sym typeface="+mn-lt"/>
            </a:endParaRPr>
          </a:p>
          <a:p>
            <a:pPr marL="228600" indent="-228600">
              <a:buFont typeface="+mj-lt"/>
              <a:buAutoNum type="arabicPeriod"/>
            </a:pPr>
            <a:r>
              <a:rPr lang="zh-CN" altLang="en-US" sz="600">
                <a:solidFill>
                  <a:schemeClr val="tx1">
                    <a:lumMod val="50000"/>
                    <a:lumOff val="50000"/>
                  </a:schemeClr>
                </a:solidFill>
                <a:cs typeface="+mn-ea"/>
                <a:sym typeface="+mn-lt"/>
              </a:rPr>
              <a:t>头孢他啶和阿维巴坦可通过血液透析消除（见</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药物过量</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和</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药代动力学</a:t>
            </a:r>
            <a:r>
              <a:rPr lang="en-US" altLang="zh-CN" sz="600">
                <a:solidFill>
                  <a:schemeClr val="tx1">
                    <a:lumMod val="50000"/>
                    <a:lumOff val="50000"/>
                  </a:schemeClr>
                </a:solidFill>
                <a:cs typeface="+mn-ea"/>
                <a:sym typeface="+mn-lt"/>
              </a:rPr>
              <a:t>】</a:t>
            </a:r>
            <a:r>
              <a:rPr lang="zh-CN" altLang="en-US" sz="600">
                <a:solidFill>
                  <a:schemeClr val="tx1">
                    <a:lumMod val="50000"/>
                    <a:lumOff val="50000"/>
                  </a:schemeClr>
                </a:solidFill>
                <a:cs typeface="+mn-ea"/>
                <a:sym typeface="+mn-lt"/>
              </a:rPr>
              <a:t>）。在血液透析当日，应在血液透析完成后给予本品</a:t>
            </a:r>
          </a:p>
        </p:txBody>
      </p:sp>
      <p:graphicFrame>
        <p:nvGraphicFramePr>
          <p:cNvPr id="2" name="表格 1">
            <a:extLst>
              <a:ext uri="{FF2B5EF4-FFF2-40B4-BE49-F238E27FC236}">
                <a16:creationId xmlns:a16="http://schemas.microsoft.com/office/drawing/2014/main" id="{6E1516E6-E393-6A8D-8DEB-5E8AD62304A9}"/>
              </a:ext>
            </a:extLst>
          </p:cNvPr>
          <p:cNvGraphicFramePr>
            <a:graphicFrameLocks noGrp="1"/>
          </p:cNvGraphicFramePr>
          <p:nvPr>
            <p:extLst>
              <p:ext uri="{D42A27DB-BD31-4B8C-83A1-F6EECF244321}">
                <p14:modId xmlns:p14="http://schemas.microsoft.com/office/powerpoint/2010/main" val="634509449"/>
              </p:ext>
            </p:extLst>
          </p:nvPr>
        </p:nvGraphicFramePr>
        <p:xfrm>
          <a:off x="218185" y="7790688"/>
          <a:ext cx="6421629" cy="2661016"/>
        </p:xfrm>
        <a:graphic>
          <a:graphicData uri="http://schemas.openxmlformats.org/drawingml/2006/table">
            <a:tbl>
              <a:tblPr firstRow="1" firstCol="1" bandRow="1">
                <a:tableStyleId>{00A15C55-8517-42AA-B614-E9B94910E393}</a:tableStyleId>
              </a:tblPr>
              <a:tblGrid>
                <a:gridCol w="1220979">
                  <a:extLst>
                    <a:ext uri="{9D8B030D-6E8A-4147-A177-3AD203B41FA5}">
                      <a16:colId xmlns:a16="http://schemas.microsoft.com/office/drawing/2014/main" val="3505881332"/>
                    </a:ext>
                  </a:extLst>
                </a:gridCol>
                <a:gridCol w="1885595">
                  <a:extLst>
                    <a:ext uri="{9D8B030D-6E8A-4147-A177-3AD203B41FA5}">
                      <a16:colId xmlns:a16="http://schemas.microsoft.com/office/drawing/2014/main" val="1408425856"/>
                    </a:ext>
                  </a:extLst>
                </a:gridCol>
                <a:gridCol w="1676755">
                  <a:extLst>
                    <a:ext uri="{9D8B030D-6E8A-4147-A177-3AD203B41FA5}">
                      <a16:colId xmlns:a16="http://schemas.microsoft.com/office/drawing/2014/main" val="362130086"/>
                    </a:ext>
                  </a:extLst>
                </a:gridCol>
                <a:gridCol w="1638300">
                  <a:extLst>
                    <a:ext uri="{9D8B030D-6E8A-4147-A177-3AD203B41FA5}">
                      <a16:colId xmlns:a16="http://schemas.microsoft.com/office/drawing/2014/main" val="3411048973"/>
                    </a:ext>
                  </a:extLst>
                </a:gridCol>
              </a:tblGrid>
              <a:tr h="510915">
                <a:tc>
                  <a:txBody>
                    <a:bodyPr/>
                    <a:lstStyle/>
                    <a:p>
                      <a:pPr algn="ctr">
                        <a:tabLst>
                          <a:tab pos="457200" algn="l"/>
                        </a:tabLst>
                      </a:pPr>
                      <a:r>
                        <a:rPr lang="zh-CN" sz="1000" kern="100">
                          <a:effectLst/>
                          <a:latin typeface="+mn-ea"/>
                          <a:ea typeface="+mn-ea"/>
                        </a:rPr>
                        <a:t>剂量（头孢他啶）</a:t>
                      </a:r>
                      <a:r>
                        <a:rPr lang="en-US" sz="1000" kern="100" baseline="30000">
                          <a:effectLst/>
                          <a:latin typeface="+mn-ea"/>
                          <a:ea typeface="+mn-ea"/>
                        </a:rPr>
                        <a:t>1</a:t>
                      </a:r>
                      <a:endParaRPr lang="zh-CN" sz="1000" kern="100">
                        <a:effectLst/>
                        <a:latin typeface="+mn-ea"/>
                        <a:ea typeface="+mn-ea"/>
                        <a:cs typeface="Times New Roman" panose="02020603050405020304" pitchFamily="18" charset="0"/>
                      </a:endParaRPr>
                    </a:p>
                  </a:txBody>
                  <a:tcPr marL="68529" marR="68529" marT="0" marB="0" anchor="ctr">
                    <a:solidFill>
                      <a:srgbClr val="EDB91C"/>
                    </a:solidFill>
                  </a:tcPr>
                </a:tc>
                <a:tc>
                  <a:txBody>
                    <a:bodyPr/>
                    <a:lstStyle/>
                    <a:p>
                      <a:pPr algn="ctr">
                        <a:tabLst>
                          <a:tab pos="457200" algn="l"/>
                        </a:tabLst>
                      </a:pPr>
                      <a:r>
                        <a:rPr lang="zh-CN" sz="1000" kern="100">
                          <a:effectLst/>
                          <a:latin typeface="+mn-ea"/>
                          <a:ea typeface="+mn-ea"/>
                        </a:rPr>
                        <a:t>从复溶小瓶中抽出的体积</a:t>
                      </a:r>
                      <a:endParaRPr lang="zh-CN" sz="1000" kern="100">
                        <a:effectLst/>
                        <a:latin typeface="+mn-ea"/>
                        <a:ea typeface="+mn-ea"/>
                        <a:cs typeface="Times New Roman" panose="02020603050405020304" pitchFamily="18" charset="0"/>
                      </a:endParaRPr>
                    </a:p>
                  </a:txBody>
                  <a:tcPr marL="68529" marR="68529" marT="0" marB="0" anchor="ctr">
                    <a:solidFill>
                      <a:srgbClr val="EDB91C"/>
                    </a:solidFill>
                  </a:tcPr>
                </a:tc>
                <a:tc>
                  <a:txBody>
                    <a:bodyPr/>
                    <a:lstStyle/>
                    <a:p>
                      <a:pPr algn="ctr">
                        <a:tabLst>
                          <a:tab pos="457200" algn="l"/>
                        </a:tabLst>
                      </a:pPr>
                      <a:r>
                        <a:rPr lang="zh-CN" sz="1000" kern="100">
                          <a:effectLst/>
                          <a:latin typeface="+mn-ea"/>
                          <a:ea typeface="+mn-ea"/>
                        </a:rPr>
                        <a:t>输液袋中稀释后的最终体积</a:t>
                      </a:r>
                      <a:endParaRPr lang="zh-CN" sz="1000" kern="100">
                        <a:effectLst/>
                        <a:latin typeface="+mn-ea"/>
                        <a:ea typeface="+mn-ea"/>
                        <a:cs typeface="Times New Roman" panose="02020603050405020304" pitchFamily="18" charset="0"/>
                      </a:endParaRPr>
                    </a:p>
                  </a:txBody>
                  <a:tcPr marL="68529" marR="68529" marT="0" marB="0" anchor="ctr">
                    <a:solidFill>
                      <a:srgbClr val="EDB91C"/>
                    </a:solidFill>
                  </a:tcPr>
                </a:tc>
                <a:tc>
                  <a:txBody>
                    <a:bodyPr/>
                    <a:lstStyle/>
                    <a:p>
                      <a:pPr algn="ctr">
                        <a:tabLst>
                          <a:tab pos="457200" algn="l"/>
                        </a:tabLst>
                      </a:pPr>
                      <a:r>
                        <a:rPr lang="zh-CN" sz="1000" kern="100">
                          <a:effectLst/>
                          <a:latin typeface="+mn-ea"/>
                          <a:ea typeface="+mn-ea"/>
                        </a:rPr>
                        <a:t>输液注射器中的最终体积</a:t>
                      </a:r>
                      <a:endParaRPr lang="zh-CN" sz="1000" kern="100">
                        <a:effectLst/>
                        <a:latin typeface="+mn-ea"/>
                        <a:ea typeface="+mn-ea"/>
                        <a:cs typeface="Times New Roman" panose="02020603050405020304" pitchFamily="18" charset="0"/>
                      </a:endParaRPr>
                    </a:p>
                  </a:txBody>
                  <a:tcPr marL="68529" marR="68529" marT="0" marB="0" anchor="ctr">
                    <a:solidFill>
                      <a:srgbClr val="EDB91C"/>
                    </a:solidFill>
                  </a:tcPr>
                </a:tc>
                <a:extLst>
                  <a:ext uri="{0D108BD9-81ED-4DB2-BD59-A6C34878D82A}">
                    <a16:rowId xmlns:a16="http://schemas.microsoft.com/office/drawing/2014/main" val="1489448026"/>
                  </a:ext>
                </a:extLst>
              </a:tr>
              <a:tr h="255458">
                <a:tc>
                  <a:txBody>
                    <a:bodyPr/>
                    <a:lstStyle/>
                    <a:p>
                      <a:pPr algn="ctr">
                        <a:tabLst>
                          <a:tab pos="457200" algn="l"/>
                        </a:tabLst>
                      </a:pPr>
                      <a:r>
                        <a:rPr lang="en-US" sz="1000" kern="100">
                          <a:effectLst/>
                          <a:latin typeface="+mn-ea"/>
                          <a:ea typeface="+mn-ea"/>
                        </a:rPr>
                        <a:t>2 g</a:t>
                      </a:r>
                      <a:endParaRPr lang="zh-CN" sz="1000" kern="100">
                        <a:effectLst/>
                        <a:latin typeface="+mn-ea"/>
                        <a:ea typeface="+mn-ea"/>
                        <a:cs typeface="Times New Roman" panose="02020603050405020304" pitchFamily="18" charset="0"/>
                      </a:endParaRPr>
                    </a:p>
                  </a:txBody>
                  <a:tcPr marL="68529" marR="68529" marT="0" marB="0" anchor="ctr">
                    <a:solidFill>
                      <a:srgbClr val="FFC000"/>
                    </a:solidFill>
                  </a:tcPr>
                </a:tc>
                <a:tc>
                  <a:txBody>
                    <a:bodyPr/>
                    <a:lstStyle/>
                    <a:p>
                      <a:pPr algn="ctr">
                        <a:tabLst>
                          <a:tab pos="457200" algn="l"/>
                        </a:tabLst>
                      </a:pPr>
                      <a:r>
                        <a:rPr lang="zh-CN" sz="1000" kern="100">
                          <a:effectLst/>
                          <a:latin typeface="+mn-ea"/>
                          <a:ea typeface="+mn-ea"/>
                        </a:rPr>
                        <a:t>全部内容物（约</a:t>
                      </a:r>
                      <a:r>
                        <a:rPr lang="en-US" sz="1000" kern="100">
                          <a:effectLst/>
                          <a:latin typeface="+mn-ea"/>
                          <a:ea typeface="+mn-ea"/>
                        </a:rPr>
                        <a:t>12 mL</a:t>
                      </a:r>
                      <a:r>
                        <a:rPr lang="zh-CN" sz="1000" kern="100">
                          <a:effectLst/>
                          <a:latin typeface="+mn-ea"/>
                          <a:ea typeface="+mn-ea"/>
                        </a:rPr>
                        <a:t>）</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50 mL~250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50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extLst>
                  <a:ext uri="{0D108BD9-81ED-4DB2-BD59-A6C34878D82A}">
                    <a16:rowId xmlns:a16="http://schemas.microsoft.com/office/drawing/2014/main" val="531162836"/>
                  </a:ext>
                </a:extLst>
              </a:tr>
              <a:tr h="255458">
                <a:tc>
                  <a:txBody>
                    <a:bodyPr/>
                    <a:lstStyle/>
                    <a:p>
                      <a:pPr algn="ctr">
                        <a:tabLst>
                          <a:tab pos="457200" algn="l"/>
                        </a:tabLst>
                      </a:pPr>
                      <a:r>
                        <a:rPr lang="en-US" sz="1000" kern="100">
                          <a:effectLst/>
                          <a:latin typeface="+mn-ea"/>
                          <a:ea typeface="+mn-ea"/>
                        </a:rPr>
                        <a:t>1 g</a:t>
                      </a:r>
                      <a:endParaRPr lang="zh-CN" sz="1000" kern="100">
                        <a:effectLst/>
                        <a:latin typeface="+mn-ea"/>
                        <a:ea typeface="+mn-ea"/>
                        <a:cs typeface="Times New Roman" panose="02020603050405020304" pitchFamily="18" charset="0"/>
                      </a:endParaRPr>
                    </a:p>
                  </a:txBody>
                  <a:tcPr marL="68529" marR="68529" marT="0" marB="0" anchor="ctr">
                    <a:solidFill>
                      <a:srgbClr val="FFC000"/>
                    </a:solidFill>
                  </a:tcPr>
                </a:tc>
                <a:tc>
                  <a:txBody>
                    <a:bodyPr/>
                    <a:lstStyle/>
                    <a:p>
                      <a:pPr algn="ctr">
                        <a:tabLst>
                          <a:tab pos="457200" algn="l"/>
                        </a:tabLst>
                      </a:pPr>
                      <a:r>
                        <a:rPr lang="en-US" sz="1000" kern="100">
                          <a:effectLst/>
                          <a:latin typeface="+mn-ea"/>
                          <a:ea typeface="+mn-ea"/>
                        </a:rPr>
                        <a:t>6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25 mL~125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25 mL~50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extLst>
                  <a:ext uri="{0D108BD9-81ED-4DB2-BD59-A6C34878D82A}">
                    <a16:rowId xmlns:a16="http://schemas.microsoft.com/office/drawing/2014/main" val="3235855621"/>
                  </a:ext>
                </a:extLst>
              </a:tr>
              <a:tr h="255458">
                <a:tc>
                  <a:txBody>
                    <a:bodyPr/>
                    <a:lstStyle/>
                    <a:p>
                      <a:pPr algn="ctr">
                        <a:tabLst>
                          <a:tab pos="457200" algn="l"/>
                        </a:tabLst>
                      </a:pPr>
                      <a:r>
                        <a:rPr lang="en-US" sz="1000" kern="100">
                          <a:effectLst/>
                          <a:latin typeface="+mn-ea"/>
                          <a:ea typeface="+mn-ea"/>
                        </a:rPr>
                        <a:t>0.75 g</a:t>
                      </a:r>
                      <a:endParaRPr lang="zh-CN" sz="1000" kern="100">
                        <a:effectLst/>
                        <a:latin typeface="+mn-ea"/>
                        <a:ea typeface="+mn-ea"/>
                        <a:cs typeface="Times New Roman" panose="02020603050405020304" pitchFamily="18" charset="0"/>
                      </a:endParaRPr>
                    </a:p>
                  </a:txBody>
                  <a:tcPr marL="68529" marR="68529" marT="0" marB="0" anchor="ctr">
                    <a:solidFill>
                      <a:srgbClr val="FFC000"/>
                    </a:solidFill>
                  </a:tcPr>
                </a:tc>
                <a:tc>
                  <a:txBody>
                    <a:bodyPr/>
                    <a:lstStyle/>
                    <a:p>
                      <a:pPr algn="ctr">
                        <a:tabLst>
                          <a:tab pos="457200" algn="l"/>
                        </a:tabLst>
                      </a:pPr>
                      <a:r>
                        <a:rPr lang="en-US" sz="1000" kern="100">
                          <a:effectLst/>
                          <a:latin typeface="+mn-ea"/>
                          <a:ea typeface="+mn-ea"/>
                        </a:rPr>
                        <a:t>4.5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19 mL~93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tabLst>
                          <a:tab pos="457200" algn="l"/>
                        </a:tabLst>
                      </a:pPr>
                      <a:r>
                        <a:rPr lang="en-US" sz="1000" kern="100">
                          <a:effectLst/>
                          <a:latin typeface="+mn-ea"/>
                          <a:ea typeface="+mn-ea"/>
                        </a:rPr>
                        <a:t>19 mL~50 mL</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extLst>
                  <a:ext uri="{0D108BD9-81ED-4DB2-BD59-A6C34878D82A}">
                    <a16:rowId xmlns:a16="http://schemas.microsoft.com/office/drawing/2014/main" val="402910156"/>
                  </a:ext>
                </a:extLst>
              </a:tr>
              <a:tr h="1383727">
                <a:tc>
                  <a:txBody>
                    <a:bodyPr/>
                    <a:lstStyle/>
                    <a:p>
                      <a:pPr algn="ctr">
                        <a:tabLst>
                          <a:tab pos="457200" algn="l"/>
                        </a:tabLst>
                      </a:pPr>
                      <a:r>
                        <a:rPr lang="zh-CN" sz="1000" kern="100">
                          <a:effectLst/>
                          <a:latin typeface="+mn-ea"/>
                          <a:ea typeface="+mn-ea"/>
                        </a:rPr>
                        <a:t>所有其他剂量</a:t>
                      </a:r>
                      <a:endParaRPr lang="zh-CN" sz="1000" kern="100">
                        <a:effectLst/>
                        <a:latin typeface="+mn-ea"/>
                        <a:ea typeface="+mn-ea"/>
                        <a:cs typeface="Times New Roman" panose="02020603050405020304" pitchFamily="18" charset="0"/>
                      </a:endParaRPr>
                    </a:p>
                  </a:txBody>
                  <a:tcPr marL="68529" marR="68529" marT="0" marB="0" anchor="ctr">
                    <a:solidFill>
                      <a:srgbClr val="FFC000"/>
                    </a:solidFill>
                  </a:tcPr>
                </a:tc>
                <a:tc>
                  <a:txBody>
                    <a:bodyPr/>
                    <a:lstStyle/>
                    <a:p>
                      <a:pPr algn="ctr">
                        <a:lnSpc>
                          <a:spcPts val="1300"/>
                        </a:lnSpc>
                      </a:pPr>
                      <a:r>
                        <a:rPr lang="zh-CN" sz="1000" kern="100">
                          <a:effectLst/>
                          <a:latin typeface="+mn-ea"/>
                          <a:ea typeface="+mn-ea"/>
                        </a:rPr>
                        <a:t>根据所需剂量计算体积 （</a:t>
                      </a:r>
                      <a:r>
                        <a:rPr lang="en-US" sz="1000" kern="100">
                          <a:effectLst/>
                          <a:latin typeface="+mn-ea"/>
                          <a:ea typeface="+mn-ea"/>
                        </a:rPr>
                        <a:t>mL</a:t>
                      </a:r>
                      <a:r>
                        <a:rPr lang="zh-CN" sz="1000" kern="100">
                          <a:effectLst/>
                          <a:latin typeface="+mn-ea"/>
                          <a:ea typeface="+mn-ea"/>
                        </a:rPr>
                        <a:t>）：</a:t>
                      </a:r>
                    </a:p>
                    <a:p>
                      <a:pPr algn="ctr">
                        <a:lnSpc>
                          <a:spcPts val="1300"/>
                        </a:lnSpc>
                      </a:pPr>
                      <a:r>
                        <a:rPr lang="zh-CN" sz="1000" kern="100">
                          <a:effectLst/>
                          <a:latin typeface="+mn-ea"/>
                          <a:ea typeface="+mn-ea"/>
                        </a:rPr>
                        <a:t>剂量（</a:t>
                      </a:r>
                      <a:r>
                        <a:rPr lang="en-US" sz="1000" kern="100">
                          <a:effectLst/>
                          <a:latin typeface="+mn-ea"/>
                          <a:ea typeface="+mn-ea"/>
                        </a:rPr>
                        <a:t>mg</a:t>
                      </a:r>
                      <a:r>
                        <a:rPr lang="zh-CN" sz="1000" kern="100">
                          <a:effectLst/>
                          <a:latin typeface="+mn-ea"/>
                          <a:ea typeface="+mn-ea"/>
                        </a:rPr>
                        <a:t>头孢他啶）</a:t>
                      </a:r>
                      <a:endParaRPr lang="en-US" altLang="zh-CN" sz="1000" kern="100">
                        <a:effectLst/>
                        <a:latin typeface="+mn-ea"/>
                        <a:ea typeface="+mn-ea"/>
                      </a:endParaRPr>
                    </a:p>
                    <a:p>
                      <a:pPr algn="ctr">
                        <a:lnSpc>
                          <a:spcPts val="1300"/>
                        </a:lnSpc>
                      </a:pPr>
                      <a:r>
                        <a:rPr lang="en-US" sz="1000" kern="100">
                          <a:effectLst/>
                          <a:latin typeface="+mn-ea"/>
                          <a:ea typeface="+mn-ea"/>
                        </a:rPr>
                        <a:t>÷ 167.3 mg/mL</a:t>
                      </a:r>
                      <a:r>
                        <a:rPr lang="zh-CN" sz="1000" kern="100">
                          <a:effectLst/>
                          <a:latin typeface="+mn-ea"/>
                          <a:ea typeface="+mn-ea"/>
                        </a:rPr>
                        <a:t>头孢他啶</a:t>
                      </a:r>
                    </a:p>
                    <a:p>
                      <a:pPr algn="ctr">
                        <a:lnSpc>
                          <a:spcPts val="1300"/>
                        </a:lnSpc>
                        <a:tabLst>
                          <a:tab pos="457200" algn="l"/>
                        </a:tabLst>
                      </a:pPr>
                      <a:r>
                        <a:rPr lang="it-IT" sz="1000" kern="100">
                          <a:effectLst/>
                          <a:latin typeface="+mn-ea"/>
                          <a:ea typeface="+mn-ea"/>
                        </a:rPr>
                        <a:t> </a:t>
                      </a:r>
                      <a:endParaRPr lang="zh-CN" sz="1000" kern="100">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lnSpc>
                          <a:spcPts val="1300"/>
                        </a:lnSpc>
                      </a:pPr>
                      <a:r>
                        <a:rPr lang="zh-CN" sz="1000" kern="100">
                          <a:effectLst/>
                          <a:latin typeface="+mn-ea"/>
                          <a:ea typeface="+mn-ea"/>
                        </a:rPr>
                        <a:t>体积（</a:t>
                      </a:r>
                      <a:r>
                        <a:rPr lang="en-US" sz="1000" kern="100">
                          <a:effectLst/>
                          <a:latin typeface="+mn-ea"/>
                          <a:ea typeface="+mn-ea"/>
                        </a:rPr>
                        <a:t>mL</a:t>
                      </a:r>
                      <a:r>
                        <a:rPr lang="zh-CN" sz="1000" kern="100">
                          <a:effectLst/>
                          <a:latin typeface="+mn-ea"/>
                          <a:ea typeface="+mn-ea"/>
                        </a:rPr>
                        <a:t>）视输液袋可用规格和首选最终浓度而异</a:t>
                      </a:r>
                    </a:p>
                    <a:p>
                      <a:pPr algn="ctr">
                        <a:tabLst>
                          <a:tab pos="457200" algn="l"/>
                        </a:tabLst>
                      </a:pPr>
                      <a:r>
                        <a:rPr lang="zh-CN" sz="1000" kern="100">
                          <a:solidFill>
                            <a:srgbClr val="FF0000"/>
                          </a:solidFill>
                          <a:effectLst/>
                          <a:latin typeface="+mn-ea"/>
                          <a:ea typeface="+mn-ea"/>
                        </a:rPr>
                        <a:t>（头孢他啶必须为</a:t>
                      </a:r>
                      <a:r>
                        <a:rPr lang="en-US" sz="1000" kern="100">
                          <a:solidFill>
                            <a:srgbClr val="FF0000"/>
                          </a:solidFill>
                          <a:effectLst/>
                          <a:latin typeface="+mn-ea"/>
                          <a:ea typeface="+mn-ea"/>
                        </a:rPr>
                        <a:t> 8~40 mg/mL</a:t>
                      </a:r>
                      <a:r>
                        <a:rPr lang="zh-CN" sz="1000" kern="100">
                          <a:solidFill>
                            <a:srgbClr val="FF0000"/>
                          </a:solidFill>
                          <a:effectLst/>
                          <a:latin typeface="+mn-ea"/>
                          <a:ea typeface="+mn-ea"/>
                        </a:rPr>
                        <a:t>）</a:t>
                      </a:r>
                      <a:endParaRPr lang="zh-CN" sz="1000" kern="100">
                        <a:solidFill>
                          <a:srgbClr val="FF0000"/>
                        </a:solidFill>
                        <a:effectLst/>
                        <a:latin typeface="+mn-ea"/>
                        <a:ea typeface="+mn-ea"/>
                        <a:cs typeface="Times New Roman" panose="02020603050405020304" pitchFamily="18" charset="0"/>
                      </a:endParaRPr>
                    </a:p>
                  </a:txBody>
                  <a:tcPr marL="68529" marR="68529" marT="0" marB="0" anchor="ctr">
                    <a:solidFill>
                      <a:schemeClr val="bg1">
                        <a:lumMod val="95000"/>
                      </a:schemeClr>
                    </a:solidFill>
                  </a:tcPr>
                </a:tc>
                <a:tc>
                  <a:txBody>
                    <a:bodyPr/>
                    <a:lstStyle/>
                    <a:p>
                      <a:pPr algn="ctr">
                        <a:lnSpc>
                          <a:spcPts val="1300"/>
                        </a:lnSpc>
                      </a:pPr>
                      <a:r>
                        <a:rPr lang="zh-CN" sz="1000" kern="100">
                          <a:effectLst/>
                          <a:latin typeface="+mn-ea"/>
                          <a:ea typeface="+mn-ea"/>
                        </a:rPr>
                        <a:t>体积（</a:t>
                      </a:r>
                      <a:r>
                        <a:rPr lang="en-US" sz="1000" kern="100">
                          <a:effectLst/>
                          <a:latin typeface="+mn-ea"/>
                          <a:ea typeface="+mn-ea"/>
                        </a:rPr>
                        <a:t>mL</a:t>
                      </a:r>
                      <a:r>
                        <a:rPr lang="zh-CN" sz="1000" kern="100">
                          <a:effectLst/>
                          <a:latin typeface="+mn-ea"/>
                          <a:ea typeface="+mn-ea"/>
                        </a:rPr>
                        <a:t>）视输液注射器可用规格和首选最终浓度而异</a:t>
                      </a:r>
                      <a:r>
                        <a:rPr lang="zh-CN" sz="1000" kern="100">
                          <a:solidFill>
                            <a:srgbClr val="FF0000"/>
                          </a:solidFill>
                          <a:effectLst/>
                          <a:latin typeface="+mn-ea"/>
                          <a:ea typeface="+mn-ea"/>
                        </a:rPr>
                        <a:t>（头孢他啶必须为</a:t>
                      </a:r>
                      <a:r>
                        <a:rPr lang="en-US" sz="1000" kern="100">
                          <a:solidFill>
                            <a:srgbClr val="FF0000"/>
                          </a:solidFill>
                          <a:effectLst/>
                          <a:latin typeface="+mn-ea"/>
                          <a:ea typeface="+mn-ea"/>
                        </a:rPr>
                        <a:t> 8~40 mg/mL</a:t>
                      </a:r>
                      <a:r>
                        <a:rPr lang="zh-CN" sz="1000" kern="100">
                          <a:solidFill>
                            <a:srgbClr val="FF0000"/>
                          </a:solidFill>
                          <a:effectLst/>
                          <a:latin typeface="+mn-ea"/>
                          <a:ea typeface="+mn-ea"/>
                        </a:rPr>
                        <a:t>）</a:t>
                      </a:r>
                      <a:endParaRPr lang="zh-CN" sz="1000" kern="100">
                        <a:solidFill>
                          <a:srgbClr val="FF0000"/>
                        </a:solidFill>
                        <a:effectLst/>
                        <a:latin typeface="+mn-ea"/>
                        <a:ea typeface="+mn-ea"/>
                        <a:cs typeface="Times New Roman" panose="02020603050405020304" pitchFamily="18" charset="0"/>
                      </a:endParaRPr>
                    </a:p>
                  </a:txBody>
                  <a:tcPr marL="68529" marR="68529" marT="0" marB="0" anchor="ctr">
                    <a:solidFill>
                      <a:schemeClr val="bg1">
                        <a:lumMod val="95000"/>
                      </a:schemeClr>
                    </a:solidFill>
                  </a:tcPr>
                </a:tc>
                <a:extLst>
                  <a:ext uri="{0D108BD9-81ED-4DB2-BD59-A6C34878D82A}">
                    <a16:rowId xmlns:a16="http://schemas.microsoft.com/office/drawing/2014/main" val="4167546218"/>
                  </a:ext>
                </a:extLst>
              </a:tr>
            </a:tbl>
          </a:graphicData>
        </a:graphic>
      </p:graphicFrame>
      <p:sp>
        <p:nvSpPr>
          <p:cNvPr id="4" name="文本框 3">
            <a:extLst>
              <a:ext uri="{FF2B5EF4-FFF2-40B4-BE49-F238E27FC236}">
                <a16:creationId xmlns:a16="http://schemas.microsoft.com/office/drawing/2014/main" id="{9291BD64-3786-ED96-0BB6-8F5058ADF329}"/>
              </a:ext>
            </a:extLst>
          </p:cNvPr>
          <p:cNvSpPr txBox="1"/>
          <p:nvPr/>
        </p:nvSpPr>
        <p:spPr>
          <a:xfrm>
            <a:off x="721914" y="7256964"/>
            <a:ext cx="5388769" cy="430887"/>
          </a:xfrm>
          <a:prstGeom prst="rect">
            <a:avLst/>
          </a:prstGeom>
          <a:noFill/>
        </p:spPr>
        <p:txBody>
          <a:bodyPr wrap="square">
            <a:spAutoFit/>
          </a:bodyPr>
          <a:lstStyle/>
          <a:p>
            <a:pPr algn="ctr"/>
            <a:r>
              <a:rPr lang="zh-CN" altLang="zh-CN" sz="1200" b="1">
                <a:effectLst/>
                <a:latin typeface="+mn-ea"/>
                <a:cs typeface="Times New Roman" panose="02020603050405020304" pitchFamily="18" charset="0"/>
              </a:rPr>
              <a:t>儿童</a:t>
            </a:r>
            <a:r>
              <a:rPr lang="zh-CN" altLang="en-US" sz="1200" b="1">
                <a:effectLst/>
                <a:latin typeface="+mn-ea"/>
                <a:cs typeface="Times New Roman" panose="02020603050405020304" pitchFamily="18" charset="0"/>
              </a:rPr>
              <a:t>患者（</a:t>
            </a:r>
            <a:r>
              <a:rPr lang="en-US" altLang="zh-CN" sz="1200" b="1" kern="100">
                <a:solidFill>
                  <a:schemeClr val="tx1"/>
                </a:solidFill>
                <a:effectLst/>
                <a:latin typeface="+mn-ea"/>
                <a:cs typeface="+mn-ea"/>
                <a:sym typeface="+mn-lt"/>
              </a:rPr>
              <a:t> 3月龄~ &lt; 18岁 </a:t>
            </a:r>
            <a:r>
              <a:rPr lang="zh-CN" altLang="en-US" sz="1200" b="1">
                <a:effectLst/>
                <a:latin typeface="+mn-ea"/>
                <a:cs typeface="Times New Roman" panose="02020603050405020304" pitchFamily="18" charset="0"/>
              </a:rPr>
              <a:t>）</a:t>
            </a:r>
            <a:r>
              <a:rPr lang="zh-CN" altLang="zh-CN" sz="1200" b="1">
                <a:effectLst/>
                <a:latin typeface="+mn-ea"/>
                <a:cs typeface="Times New Roman" panose="02020603050405020304" pitchFamily="18" charset="0"/>
              </a:rPr>
              <a:t>输液袋或输液注射器中</a:t>
            </a:r>
            <a:r>
              <a:rPr lang="zh-CN" altLang="en-US" sz="1200" b="1">
                <a:effectLst/>
                <a:latin typeface="+mn-ea"/>
                <a:cs typeface="Times New Roman" panose="02020603050405020304" pitchFamily="18" charset="0"/>
              </a:rPr>
              <a:t>思福妥</a:t>
            </a:r>
            <a:r>
              <a:rPr kumimoji="0" lang="en-US" altLang="zh-CN" sz="1200" b="1" i="0" u="none" strike="noStrike" kern="1200" cap="none" spc="0" normalizeH="0" baseline="30000" noProof="0">
                <a:ln>
                  <a:noFill/>
                </a:ln>
                <a:effectLst/>
                <a:uLnTx/>
                <a:uFillTx/>
                <a:cs typeface="+mn-ea"/>
                <a:sym typeface="+mn-lt"/>
              </a:rPr>
              <a:t>®</a:t>
            </a:r>
            <a:r>
              <a:rPr lang="zh-CN" altLang="zh-CN" sz="1200" b="1">
                <a:effectLst/>
                <a:latin typeface="+mn-ea"/>
                <a:cs typeface="Times New Roman" panose="02020603050405020304" pitchFamily="18" charset="0"/>
              </a:rPr>
              <a:t>剂量的制备</a:t>
            </a:r>
            <a:endParaRPr lang="en-US" altLang="zh-CN" sz="1200" b="1">
              <a:effectLst/>
              <a:latin typeface="+mn-ea"/>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a:ln>
                  <a:noFill/>
                </a:ln>
                <a:solidFill>
                  <a:prstClr val="black">
                    <a:lumMod val="50000"/>
                    <a:lumOff val="50000"/>
                  </a:prstClr>
                </a:solidFill>
                <a:effectLst/>
                <a:uLnTx/>
                <a:uFillTx/>
                <a:latin typeface="微软雅黑"/>
                <a:ea typeface="微软雅黑"/>
                <a:cs typeface="Times New Roman" panose="02020603050405020304" pitchFamily="18" charset="0"/>
              </a:rPr>
              <a:t>（最终浓度为头孢他啶 </a:t>
            </a:r>
            <a:r>
              <a:rPr kumimoji="0" lang="en-US" altLang="zh-CN" sz="1000" b="1" i="0" u="none" strike="noStrike" kern="1200" cap="none" spc="0" normalizeH="0" baseline="0" noProof="0">
                <a:ln>
                  <a:noFill/>
                </a:ln>
                <a:solidFill>
                  <a:prstClr val="black">
                    <a:lumMod val="50000"/>
                    <a:lumOff val="50000"/>
                  </a:prstClr>
                </a:solidFill>
                <a:effectLst/>
                <a:uLnTx/>
                <a:uFillTx/>
                <a:latin typeface="微软雅黑"/>
                <a:ea typeface="微软雅黑"/>
                <a:cs typeface="Times New Roman" panose="02020603050405020304" pitchFamily="18" charset="0"/>
              </a:rPr>
              <a:t>8~40 mg/mL</a:t>
            </a:r>
            <a:r>
              <a:rPr kumimoji="0" lang="zh-CN" altLang="en-US" sz="1000" b="1" i="0" u="none" strike="noStrike" kern="1200" cap="none" spc="0" normalizeH="0" baseline="0" noProof="0">
                <a:ln>
                  <a:noFill/>
                </a:ln>
                <a:solidFill>
                  <a:prstClr val="black">
                    <a:lumMod val="50000"/>
                    <a:lumOff val="50000"/>
                  </a:prstClr>
                </a:solidFill>
                <a:effectLst/>
                <a:uLnTx/>
                <a:uFillTx/>
                <a:latin typeface="微软雅黑"/>
                <a:ea typeface="微软雅黑"/>
                <a:cs typeface="Times New Roman" panose="02020603050405020304" pitchFamily="18" charset="0"/>
              </a:rPr>
              <a:t>）</a:t>
            </a:r>
            <a:endParaRPr kumimoji="0" lang="zh-CN" altLang="zh-CN" sz="1000" b="1" i="0" u="none" strike="noStrike" kern="100" cap="none" spc="0" normalizeH="0" baseline="0" noProof="0">
              <a:ln>
                <a:noFill/>
              </a:ln>
              <a:solidFill>
                <a:prstClr val="black">
                  <a:lumMod val="50000"/>
                  <a:lumOff val="50000"/>
                </a:prstClr>
              </a:solidFill>
              <a:effectLst/>
              <a:uLnTx/>
              <a:uFillTx/>
              <a:latin typeface="微软雅黑"/>
              <a:ea typeface="微软雅黑"/>
              <a:cs typeface="+mn-ea"/>
              <a:sym typeface="+mn-lt"/>
            </a:endParaRPr>
          </a:p>
        </p:txBody>
      </p:sp>
      <p:sp>
        <p:nvSpPr>
          <p:cNvPr id="10" name="文本框 9">
            <a:extLst>
              <a:ext uri="{FF2B5EF4-FFF2-40B4-BE49-F238E27FC236}">
                <a16:creationId xmlns:a16="http://schemas.microsoft.com/office/drawing/2014/main" id="{6028074C-185F-5D12-1B3C-DCC80B7ECD1E}"/>
              </a:ext>
            </a:extLst>
          </p:cNvPr>
          <p:cNvSpPr txBox="1"/>
          <p:nvPr/>
        </p:nvSpPr>
        <p:spPr>
          <a:xfrm>
            <a:off x="218185" y="10566135"/>
            <a:ext cx="3433762" cy="184666"/>
          </a:xfrm>
          <a:prstGeom prst="rect">
            <a:avLst/>
          </a:prstGeom>
          <a:noFill/>
        </p:spPr>
        <p:txBody>
          <a:bodyPr wrap="square">
            <a:spAutoFit/>
          </a:bodyPr>
          <a:lstStyle>
            <a:defPPr>
              <a:defRPr lang="en-US"/>
            </a:defPPr>
            <a:lvl1pPr marL="228600" indent="-228600">
              <a:buFont typeface="+mj-lt"/>
              <a:buAutoNum type="arabicPeriod"/>
              <a:defRPr sz="600">
                <a:solidFill>
                  <a:schemeClr val="tx1">
                    <a:lumMod val="50000"/>
                    <a:lumOff val="50000"/>
                  </a:schemeClr>
                </a:solidFill>
                <a:cs typeface="+mn-ea"/>
              </a:defRPr>
            </a:lvl1pPr>
          </a:lstStyle>
          <a:p>
            <a:r>
              <a:rPr lang="zh-CN" altLang="zh-CN"/>
              <a:t>仅基于头孢他啶成份</a:t>
            </a:r>
            <a:endParaRPr lang="zh-CN" altLang="en-US"/>
          </a:p>
        </p:txBody>
      </p:sp>
      <p:sp>
        <p:nvSpPr>
          <p:cNvPr id="8" name="文本框 7">
            <a:extLst>
              <a:ext uri="{FF2B5EF4-FFF2-40B4-BE49-F238E27FC236}">
                <a16:creationId xmlns:a16="http://schemas.microsoft.com/office/drawing/2014/main" id="{DF73876B-6C15-2CD2-0305-C12513EA5FE1}"/>
              </a:ext>
            </a:extLst>
          </p:cNvPr>
          <p:cNvSpPr txBox="1"/>
          <p:nvPr/>
        </p:nvSpPr>
        <p:spPr>
          <a:xfrm>
            <a:off x="734614" y="707624"/>
            <a:ext cx="5388769" cy="276999"/>
          </a:xfrm>
          <a:prstGeom prst="rect">
            <a:avLst/>
          </a:prstGeom>
          <a:noFill/>
        </p:spPr>
        <p:txBody>
          <a:bodyPr wrap="square">
            <a:spAutoFit/>
          </a:bodyPr>
          <a:lstStyle/>
          <a:p>
            <a:pPr algn="ctr"/>
            <a:r>
              <a:rPr lang="zh-CN" altLang="en-US" sz="1200" b="1">
                <a:latin typeface="+mn-ea"/>
                <a:cs typeface="Times New Roman" panose="02020603050405020304" pitchFamily="18" charset="0"/>
              </a:rPr>
              <a:t>不同肌酐清除率及不同年龄</a:t>
            </a:r>
            <a:r>
              <a:rPr lang="zh-CN" altLang="zh-CN" sz="1200" b="1">
                <a:effectLst/>
                <a:latin typeface="+mn-ea"/>
                <a:cs typeface="Times New Roman" panose="02020603050405020304" pitchFamily="18" charset="0"/>
              </a:rPr>
              <a:t>儿童</a:t>
            </a:r>
            <a:r>
              <a:rPr lang="zh-CN" altLang="en-US" sz="1200" b="1">
                <a:effectLst/>
                <a:latin typeface="+mn-ea"/>
                <a:cs typeface="Times New Roman" panose="02020603050405020304" pitchFamily="18" charset="0"/>
              </a:rPr>
              <a:t>患者（</a:t>
            </a:r>
            <a:r>
              <a:rPr lang="en-US" altLang="zh-CN" sz="1200" b="1" kern="100">
                <a:solidFill>
                  <a:schemeClr val="tx1"/>
                </a:solidFill>
                <a:effectLst/>
                <a:latin typeface="+mn-ea"/>
                <a:cs typeface="+mn-ea"/>
                <a:sym typeface="+mn-lt"/>
              </a:rPr>
              <a:t> 3月龄~ &lt; 18岁 </a:t>
            </a:r>
            <a:r>
              <a:rPr lang="zh-CN" altLang="en-US" sz="1200" b="1">
                <a:effectLst/>
                <a:latin typeface="+mn-ea"/>
                <a:cs typeface="Times New Roman" panose="02020603050405020304" pitchFamily="18" charset="0"/>
              </a:rPr>
              <a:t>）思福妥</a:t>
            </a:r>
            <a:r>
              <a:rPr kumimoji="0" lang="en-US" altLang="zh-CN" sz="1200" b="1" i="0" u="none" strike="noStrike" kern="1200" cap="none" spc="0" normalizeH="0" baseline="30000" noProof="0">
                <a:ln>
                  <a:noFill/>
                </a:ln>
                <a:effectLst/>
                <a:uLnTx/>
                <a:uFillTx/>
                <a:cs typeface="+mn-ea"/>
                <a:sym typeface="+mn-lt"/>
              </a:rPr>
              <a:t>®</a:t>
            </a:r>
            <a:r>
              <a:rPr lang="zh-CN" altLang="zh-CN" sz="1200" b="1">
                <a:effectLst/>
                <a:latin typeface="+mn-ea"/>
                <a:cs typeface="Times New Roman" panose="02020603050405020304" pitchFamily="18" charset="0"/>
              </a:rPr>
              <a:t>的</a:t>
            </a:r>
            <a:r>
              <a:rPr lang="zh-CN" altLang="en-US" sz="1200" b="1">
                <a:effectLst/>
                <a:latin typeface="+mn-ea"/>
                <a:cs typeface="Times New Roman" panose="02020603050405020304" pitchFamily="18" charset="0"/>
              </a:rPr>
              <a:t>推荐剂量</a:t>
            </a:r>
            <a:endParaRPr lang="zh-CN" altLang="zh-CN" sz="1200" b="1" kern="100">
              <a:solidFill>
                <a:schemeClr val="tx1"/>
              </a:solidFill>
              <a:effectLst/>
              <a:latin typeface="+mn-ea"/>
              <a:cs typeface="+mn-ea"/>
              <a:sym typeface="+mn-lt"/>
            </a:endParaRPr>
          </a:p>
        </p:txBody>
      </p:sp>
      <p:sp>
        <p:nvSpPr>
          <p:cNvPr id="16" name="文本框 15">
            <a:extLst>
              <a:ext uri="{FF2B5EF4-FFF2-40B4-BE49-F238E27FC236}">
                <a16:creationId xmlns:a16="http://schemas.microsoft.com/office/drawing/2014/main" id="{A656A4C1-8B90-4A1C-F6E3-A41305CC3426}"/>
              </a:ext>
            </a:extLst>
          </p:cNvPr>
          <p:cNvSpPr txBox="1"/>
          <p:nvPr/>
        </p:nvSpPr>
        <p:spPr>
          <a:xfrm>
            <a:off x="218185" y="11539732"/>
            <a:ext cx="3433762" cy="215444"/>
          </a:xfrm>
          <a:prstGeom prst="rect">
            <a:avLst/>
          </a:prstGeom>
          <a:noFill/>
        </p:spPr>
        <p:txBody>
          <a:bodyPr wrap="square">
            <a:spAutoFit/>
          </a:bodyPr>
          <a:lstStyle>
            <a:defPPr>
              <a:defRPr lang="en-US"/>
            </a:defPPr>
            <a:lvl1pPr marL="228600" indent="-228600">
              <a:buFont typeface="+mj-lt"/>
              <a:buAutoNum type="arabicPeriod"/>
              <a:defRPr sz="600">
                <a:solidFill>
                  <a:schemeClr val="tx1">
                    <a:lumMod val="50000"/>
                    <a:lumOff val="50000"/>
                  </a:schemeClr>
                </a:solidFill>
                <a:cs typeface="+mn-ea"/>
              </a:defRPr>
            </a:lvl1pPr>
          </a:lstStyle>
          <a:p>
            <a:r>
              <a:rPr lang="zh-CN" altLang="en-US" sz="800">
                <a:sym typeface="思源黑体 CN Regular" panose="020B0500000000000000" pitchFamily="34" charset="-122"/>
              </a:rPr>
              <a:t>思福妥（头孢他啶阿维巴坦）</a:t>
            </a:r>
            <a:r>
              <a:rPr lang="en-US" altLang="zh-CN" sz="800">
                <a:sym typeface="思源黑体 CN Regular" panose="020B0500000000000000" pitchFamily="34" charset="-122"/>
              </a:rPr>
              <a:t>-NMPA</a:t>
            </a:r>
            <a:r>
              <a:rPr lang="zh-CN" altLang="en-US" sz="800">
                <a:sym typeface="思源黑体 CN Regular" panose="020B0500000000000000" pitchFamily="34" charset="-122"/>
              </a:rPr>
              <a:t>说明书（</a:t>
            </a:r>
            <a:r>
              <a:rPr lang="en-US" altLang="zh-CN" sz="800">
                <a:sym typeface="思源黑体 CN Regular" panose="020B0500000000000000" pitchFamily="34" charset="-122"/>
              </a:rPr>
              <a:t>2021</a:t>
            </a:r>
            <a:r>
              <a:rPr lang="zh-CN" altLang="en-US" sz="800">
                <a:sym typeface="思源黑体 CN Regular" panose="020B0500000000000000" pitchFamily="34" charset="-122"/>
              </a:rPr>
              <a:t>年</a:t>
            </a:r>
            <a:r>
              <a:rPr lang="en-US" altLang="zh-CN" sz="800">
                <a:sym typeface="思源黑体 CN Regular" panose="020B0500000000000000" pitchFamily="34" charset="-122"/>
              </a:rPr>
              <a:t>6</a:t>
            </a:r>
            <a:r>
              <a:rPr lang="zh-CN" altLang="en-US" sz="800">
                <a:sym typeface="思源黑体 CN Regular" panose="020B0500000000000000" pitchFamily="34" charset="-122"/>
              </a:rPr>
              <a:t>月</a:t>
            </a:r>
            <a:r>
              <a:rPr lang="en-US" altLang="zh-CN" sz="800">
                <a:sym typeface="思源黑体 CN Regular" panose="020B0500000000000000" pitchFamily="34" charset="-122"/>
              </a:rPr>
              <a:t>2</a:t>
            </a:r>
            <a:r>
              <a:rPr lang="zh-CN" altLang="en-US" sz="800">
                <a:sym typeface="思源黑体 CN Regular" panose="020B0500000000000000" pitchFamily="34" charset="-122"/>
              </a:rPr>
              <a:t>日）</a:t>
            </a:r>
            <a:endParaRPr lang="zh-CN" altLang="en-US" sz="800" dirty="0">
              <a:sym typeface="思源黑体 CN Regular" panose="020B0500000000000000" pitchFamily="34" charset="-122"/>
            </a:endParaRPr>
          </a:p>
        </p:txBody>
      </p:sp>
    </p:spTree>
    <p:extLst>
      <p:ext uri="{BB962C8B-B14F-4D97-AF65-F5344CB8AC3E}">
        <p14:creationId xmlns:p14="http://schemas.microsoft.com/office/powerpoint/2010/main" val="3143491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DC60169-656B-6E5E-BFEF-C6978C6E5C42}"/>
              </a:ext>
            </a:extLst>
          </p:cNvPr>
          <p:cNvGrpSpPr/>
          <p:nvPr/>
        </p:nvGrpSpPr>
        <p:grpSpPr>
          <a:xfrm>
            <a:off x="0" y="10451701"/>
            <a:ext cx="6858000" cy="1772488"/>
            <a:chOff x="0" y="4275130"/>
            <a:chExt cx="5143500" cy="1822310"/>
          </a:xfrm>
        </p:grpSpPr>
        <p:sp>
          <p:nvSpPr>
            <p:cNvPr id="6" name="任意多边形: 形状 5">
              <a:extLst>
                <a:ext uri="{FF2B5EF4-FFF2-40B4-BE49-F238E27FC236}">
                  <a16:creationId xmlns:a16="http://schemas.microsoft.com/office/drawing/2014/main" id="{A469A7A6-3A10-22DD-20D5-59F7910232E8}"/>
                </a:ext>
              </a:extLst>
            </p:cNvPr>
            <p:cNvSpPr/>
            <p:nvPr/>
          </p:nvSpPr>
          <p:spPr>
            <a:xfrm>
              <a:off x="0" y="4275130"/>
              <a:ext cx="5143500" cy="1700617"/>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EDB9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sp>
          <p:nvSpPr>
            <p:cNvPr id="7" name="任意多边形: 形状 6">
              <a:extLst>
                <a:ext uri="{FF2B5EF4-FFF2-40B4-BE49-F238E27FC236}">
                  <a16:creationId xmlns:a16="http://schemas.microsoft.com/office/drawing/2014/main" id="{E6594966-8CD5-7160-6404-CEFCFCC91644}"/>
                </a:ext>
              </a:extLst>
            </p:cNvPr>
            <p:cNvSpPr/>
            <p:nvPr/>
          </p:nvSpPr>
          <p:spPr>
            <a:xfrm>
              <a:off x="0" y="4438077"/>
              <a:ext cx="5143500" cy="1659363"/>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1986A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grpSp>
      <p:sp>
        <p:nvSpPr>
          <p:cNvPr id="9" name="矩形 8">
            <a:extLst>
              <a:ext uri="{FF2B5EF4-FFF2-40B4-BE49-F238E27FC236}">
                <a16:creationId xmlns:a16="http://schemas.microsoft.com/office/drawing/2014/main" id="{430BCF7C-9A32-1798-7365-9AFA34FB7D22}"/>
              </a:ext>
            </a:extLst>
          </p:cNvPr>
          <p:cNvSpPr/>
          <p:nvPr/>
        </p:nvSpPr>
        <p:spPr>
          <a:xfrm>
            <a:off x="-12701" y="-1211"/>
            <a:ext cx="6858000" cy="439469"/>
          </a:xfrm>
          <a:prstGeom prst="rect">
            <a:avLst/>
          </a:prstGeom>
          <a:solidFill>
            <a:srgbClr val="1A8AAB"/>
          </a:solidFill>
          <a:ln>
            <a:solidFill>
              <a:srgbClr val="1A8A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pic>
        <p:nvPicPr>
          <p:cNvPr id="11" name="图片 10">
            <a:extLst>
              <a:ext uri="{FF2B5EF4-FFF2-40B4-BE49-F238E27FC236}">
                <a16:creationId xmlns:a16="http://schemas.microsoft.com/office/drawing/2014/main" id="{E2600474-2610-3CB3-AA34-F007539FCEF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6236" y="30875"/>
            <a:ext cx="561975" cy="400050"/>
          </a:xfrm>
          <a:prstGeom prst="rect">
            <a:avLst/>
          </a:prstGeom>
        </p:spPr>
      </p:pic>
      <p:pic>
        <p:nvPicPr>
          <p:cNvPr id="13" name="图片 12">
            <a:extLst>
              <a:ext uri="{FF2B5EF4-FFF2-40B4-BE49-F238E27FC236}">
                <a16:creationId xmlns:a16="http://schemas.microsoft.com/office/drawing/2014/main" id="{2F2AB6CA-D3CF-D1AA-97DC-212002F6CA0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37839" y="30875"/>
            <a:ext cx="923925" cy="400050"/>
          </a:xfrm>
          <a:prstGeom prst="rect">
            <a:avLst/>
          </a:prstGeom>
        </p:spPr>
      </p:pic>
      <p:sp>
        <p:nvSpPr>
          <p:cNvPr id="15" name="文本框 14">
            <a:extLst>
              <a:ext uri="{FF2B5EF4-FFF2-40B4-BE49-F238E27FC236}">
                <a16:creationId xmlns:a16="http://schemas.microsoft.com/office/drawing/2014/main" id="{F2932F5A-619F-1773-CF35-A6614930714B}"/>
              </a:ext>
            </a:extLst>
          </p:cNvPr>
          <p:cNvSpPr txBox="1"/>
          <p:nvPr/>
        </p:nvSpPr>
        <p:spPr>
          <a:xfrm>
            <a:off x="646991" y="71111"/>
            <a:ext cx="5392565" cy="29482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200" b="1" i="0" u="none" strike="noStrike" kern="1200" cap="none" spc="0" normalizeH="0" baseline="0" noProof="0">
                <a:ln>
                  <a:noFill/>
                </a:ln>
                <a:solidFill>
                  <a:prstClr val="white"/>
                </a:solidFill>
                <a:effectLst/>
                <a:uLnTx/>
                <a:uFillTx/>
                <a:cs typeface="+mn-ea"/>
                <a:sym typeface="+mn-lt"/>
              </a:rPr>
              <a:t>思福妥</a:t>
            </a:r>
            <a:r>
              <a:rPr kumimoji="0" lang="en-US" altLang="zh-CN" sz="1200" b="1" i="0" u="none" strike="noStrike" kern="1200" cap="none" spc="0" normalizeH="0" baseline="30000" noProof="0">
                <a:ln>
                  <a:noFill/>
                </a:ln>
                <a:solidFill>
                  <a:prstClr val="white"/>
                </a:solidFill>
                <a:effectLst/>
                <a:uLnTx/>
                <a:uFillTx/>
                <a:cs typeface="+mn-ea"/>
                <a:sym typeface="+mn-lt"/>
              </a:rPr>
              <a:t>®</a:t>
            </a:r>
            <a:r>
              <a:rPr kumimoji="0" lang="zh-CN" altLang="en-US" sz="1200" b="1" i="0" u="none" strike="noStrike" kern="1200" cap="none" spc="0" normalizeH="0" baseline="0" noProof="0">
                <a:ln>
                  <a:noFill/>
                </a:ln>
                <a:solidFill>
                  <a:prstClr val="white"/>
                </a:solidFill>
                <a:effectLst/>
                <a:uLnTx/>
                <a:uFillTx/>
                <a:cs typeface="+mn-ea"/>
                <a:sym typeface="+mn-lt"/>
              </a:rPr>
              <a:t>治疗</a:t>
            </a:r>
            <a:r>
              <a:rPr kumimoji="0" lang="en-US" altLang="zh-CN" sz="1200" b="1" i="0" u="none" strike="noStrike" kern="1200" cap="none" spc="0" normalizeH="0" baseline="0" noProof="0">
                <a:ln>
                  <a:noFill/>
                </a:ln>
                <a:solidFill>
                  <a:prstClr val="white"/>
                </a:solidFill>
                <a:effectLst/>
                <a:uLnTx/>
                <a:uFillTx/>
                <a:cs typeface="+mn-ea"/>
                <a:sym typeface="+mn-lt"/>
              </a:rPr>
              <a:t>cIAI</a:t>
            </a:r>
            <a:r>
              <a:rPr kumimoji="0" lang="zh-CN" altLang="en-US" sz="1200" b="1" i="0" u="none" strike="noStrike" kern="1200" cap="none" spc="0" normalizeH="0" baseline="0" noProof="0">
                <a:ln>
                  <a:noFill/>
                </a:ln>
                <a:solidFill>
                  <a:prstClr val="white"/>
                </a:solidFill>
                <a:effectLst/>
                <a:uLnTx/>
                <a:uFillTx/>
                <a:cs typeface="+mn-ea"/>
                <a:sym typeface="+mn-lt"/>
              </a:rPr>
              <a:t>患儿输液注射器中的剂量依据据其肾功能、年龄及体重制备</a:t>
            </a:r>
            <a:endParaRPr kumimoji="0" lang="en-US" altLang="zh-CN" sz="1200" b="1" i="0" u="none" strike="noStrike" kern="1200" cap="none" spc="0" normalizeH="0" baseline="0" noProof="0">
              <a:ln>
                <a:noFill/>
              </a:ln>
              <a:solidFill>
                <a:prstClr val="white"/>
              </a:solidFill>
              <a:effectLst/>
              <a:uLnTx/>
              <a:uFillTx/>
              <a:cs typeface="+mn-ea"/>
              <a:sym typeface="+mn-lt"/>
            </a:endParaRPr>
          </a:p>
        </p:txBody>
      </p:sp>
      <p:sp>
        <p:nvSpPr>
          <p:cNvPr id="10" name="文本框 9">
            <a:extLst>
              <a:ext uri="{FF2B5EF4-FFF2-40B4-BE49-F238E27FC236}">
                <a16:creationId xmlns:a16="http://schemas.microsoft.com/office/drawing/2014/main" id="{ADD504F8-75DD-964E-23F2-0CB468FF7F25}"/>
              </a:ext>
            </a:extLst>
          </p:cNvPr>
          <p:cNvSpPr txBox="1"/>
          <p:nvPr/>
        </p:nvSpPr>
        <p:spPr>
          <a:xfrm>
            <a:off x="-12701" y="564721"/>
            <a:ext cx="6870701" cy="438582"/>
          </a:xfrm>
          <a:prstGeom prst="rect">
            <a:avLst/>
          </a:prstGeom>
          <a:noFill/>
        </p:spPr>
        <p:txBody>
          <a:bodyPr wrap="square">
            <a:spAutoFit/>
          </a:bodyPr>
          <a:lstStyle/>
          <a:p>
            <a:pPr algn="ctr"/>
            <a:r>
              <a:rPr lang="zh-CN" altLang="zh-CN" sz="1200" b="1">
                <a:effectLst/>
                <a:latin typeface="+mn-ea"/>
                <a:cs typeface="Times New Roman" panose="02020603050405020304" pitchFamily="18" charset="0"/>
              </a:rPr>
              <a:t>儿童</a:t>
            </a:r>
            <a:r>
              <a:rPr lang="zh-CN" altLang="en-US" sz="1200" b="1">
                <a:effectLst/>
                <a:latin typeface="+mn-ea"/>
                <a:cs typeface="Times New Roman" panose="02020603050405020304" pitchFamily="18" charset="0"/>
              </a:rPr>
              <a:t>患者（</a:t>
            </a:r>
            <a:r>
              <a:rPr lang="en-US" altLang="zh-CN" sz="1200" b="1" kern="100">
                <a:solidFill>
                  <a:schemeClr val="tx1"/>
                </a:solidFill>
                <a:effectLst/>
                <a:latin typeface="+mn-ea"/>
                <a:cs typeface="+mn-ea"/>
                <a:sym typeface="+mn-lt"/>
              </a:rPr>
              <a:t> 3</a:t>
            </a:r>
            <a:r>
              <a:rPr lang="zh-CN" altLang="en-US" sz="1200" b="1" kern="100">
                <a:solidFill>
                  <a:schemeClr val="tx1"/>
                </a:solidFill>
                <a:effectLst/>
                <a:latin typeface="+mn-ea"/>
                <a:cs typeface="+mn-ea"/>
                <a:sym typeface="+mn-lt"/>
              </a:rPr>
              <a:t>月龄</a:t>
            </a:r>
            <a:r>
              <a:rPr lang="en-US" altLang="zh-CN" sz="1200" b="1" kern="100">
                <a:solidFill>
                  <a:schemeClr val="tx1"/>
                </a:solidFill>
                <a:effectLst/>
                <a:latin typeface="+mn-ea"/>
                <a:cs typeface="+mn-ea"/>
                <a:sym typeface="+mn-lt"/>
              </a:rPr>
              <a:t>~ &lt; 12</a:t>
            </a:r>
            <a:r>
              <a:rPr lang="zh-CN" altLang="en-US" sz="1200" b="1" kern="100">
                <a:solidFill>
                  <a:schemeClr val="tx1"/>
                </a:solidFill>
                <a:effectLst/>
                <a:latin typeface="+mn-ea"/>
                <a:cs typeface="+mn-ea"/>
                <a:sym typeface="+mn-lt"/>
              </a:rPr>
              <a:t>月龄</a:t>
            </a:r>
            <a:r>
              <a:rPr lang="zh-CN" altLang="en-US" sz="1200" b="1">
                <a:effectLst/>
                <a:latin typeface="+mn-ea"/>
                <a:cs typeface="Times New Roman" panose="02020603050405020304" pitchFamily="18" charset="0"/>
              </a:rPr>
              <a:t>）</a:t>
            </a:r>
            <a:r>
              <a:rPr lang="zh-CN" altLang="zh-CN" sz="1200" b="1">
                <a:effectLst/>
                <a:latin typeface="+mn-ea"/>
                <a:cs typeface="Times New Roman" panose="02020603050405020304" pitchFamily="18" charset="0"/>
              </a:rPr>
              <a:t>输液注射器中</a:t>
            </a:r>
            <a:r>
              <a:rPr lang="zh-CN" altLang="en-US" sz="1200" b="1">
                <a:effectLst/>
                <a:latin typeface="+mn-ea"/>
                <a:cs typeface="Times New Roman" panose="02020603050405020304" pitchFamily="18" charset="0"/>
              </a:rPr>
              <a:t>思福妥</a:t>
            </a:r>
            <a:r>
              <a:rPr kumimoji="0" lang="en-US" altLang="zh-CN" sz="1200" b="1" i="0" u="none" strike="noStrike" kern="1200" cap="none" spc="0" normalizeH="0" baseline="30000" noProof="0">
                <a:ln>
                  <a:noFill/>
                </a:ln>
                <a:effectLst/>
                <a:uLnTx/>
                <a:uFillTx/>
                <a:cs typeface="+mn-ea"/>
                <a:sym typeface="+mn-lt"/>
              </a:rPr>
              <a:t>®</a:t>
            </a:r>
            <a:r>
              <a:rPr lang="zh-CN" altLang="zh-CN" sz="1200" b="1">
                <a:effectLst/>
                <a:latin typeface="+mn-ea"/>
                <a:cs typeface="Times New Roman" panose="02020603050405020304" pitchFamily="18" charset="0"/>
              </a:rPr>
              <a:t>剂量的制备</a:t>
            </a:r>
            <a:endParaRPr lang="en-US" altLang="zh-CN" sz="1200" b="1">
              <a:effectLst/>
              <a:latin typeface="+mn-ea"/>
              <a:cs typeface="Times New Roman" panose="02020603050405020304" pitchFamily="18" charset="0"/>
            </a:endParaRPr>
          </a:p>
          <a:p>
            <a:pPr algn="ctr"/>
            <a:r>
              <a:rPr lang="zh-CN" altLang="en-US" sz="1000" b="1">
                <a:solidFill>
                  <a:schemeClr val="tx1">
                    <a:lumMod val="50000"/>
                    <a:lumOff val="50000"/>
                  </a:schemeClr>
                </a:solidFill>
                <a:effectLst/>
                <a:latin typeface="+mn-ea"/>
                <a:cs typeface="Times New Roman" panose="02020603050405020304" pitchFamily="18" charset="0"/>
              </a:rPr>
              <a:t>（最终浓度为头孢他啶 </a:t>
            </a:r>
            <a:r>
              <a:rPr lang="en-US" altLang="zh-CN" sz="1000" b="1">
                <a:solidFill>
                  <a:schemeClr val="tx1">
                    <a:lumMod val="50000"/>
                    <a:lumOff val="50000"/>
                  </a:schemeClr>
                </a:solidFill>
                <a:effectLst/>
                <a:latin typeface="+mn-ea"/>
                <a:cs typeface="Times New Roman" panose="02020603050405020304" pitchFamily="18" charset="0"/>
              </a:rPr>
              <a:t>20 mg/mL</a:t>
            </a:r>
            <a:r>
              <a:rPr lang="zh-CN" altLang="en-US" sz="1000" b="1">
                <a:solidFill>
                  <a:schemeClr val="tx1">
                    <a:lumMod val="50000"/>
                    <a:lumOff val="50000"/>
                  </a:schemeClr>
                </a:solidFill>
                <a:effectLst/>
                <a:latin typeface="+mn-ea"/>
                <a:cs typeface="Times New Roman" panose="02020603050405020304" pitchFamily="18" charset="0"/>
              </a:rPr>
              <a:t>）</a:t>
            </a:r>
            <a:endParaRPr lang="zh-CN" altLang="zh-CN" sz="1000" b="1" kern="100">
              <a:solidFill>
                <a:schemeClr val="tx1">
                  <a:lumMod val="50000"/>
                  <a:lumOff val="50000"/>
                </a:schemeClr>
              </a:solidFill>
              <a:effectLst/>
              <a:latin typeface="+mn-ea"/>
              <a:cs typeface="+mn-ea"/>
              <a:sym typeface="+mn-lt"/>
            </a:endParaRPr>
          </a:p>
        </p:txBody>
      </p:sp>
      <p:graphicFrame>
        <p:nvGraphicFramePr>
          <p:cNvPr id="14" name="表格 13">
            <a:extLst>
              <a:ext uri="{FF2B5EF4-FFF2-40B4-BE49-F238E27FC236}">
                <a16:creationId xmlns:a16="http://schemas.microsoft.com/office/drawing/2014/main" id="{A1A76A59-BCB3-B870-9DCB-F7F0F0D2F76B}"/>
              </a:ext>
            </a:extLst>
          </p:cNvPr>
          <p:cNvGraphicFramePr>
            <a:graphicFrameLocks noGrp="1"/>
          </p:cNvGraphicFramePr>
          <p:nvPr>
            <p:extLst>
              <p:ext uri="{D42A27DB-BD31-4B8C-83A1-F6EECF244321}">
                <p14:modId xmlns:p14="http://schemas.microsoft.com/office/powerpoint/2010/main" val="3860133592"/>
              </p:ext>
            </p:extLst>
          </p:nvPr>
        </p:nvGraphicFramePr>
        <p:xfrm>
          <a:off x="218185" y="1098709"/>
          <a:ext cx="6421629" cy="9353000"/>
        </p:xfrm>
        <a:graphic>
          <a:graphicData uri="http://schemas.openxmlformats.org/drawingml/2006/table">
            <a:tbl>
              <a:tblPr firstRow="1" firstCol="1" bandRow="1">
                <a:tableStyleId>{00A15C55-8517-42AA-B614-E9B94910E393}</a:tableStyleId>
              </a:tblPr>
              <a:tblGrid>
                <a:gridCol w="1258190">
                  <a:extLst>
                    <a:ext uri="{9D8B030D-6E8A-4147-A177-3AD203B41FA5}">
                      <a16:colId xmlns:a16="http://schemas.microsoft.com/office/drawing/2014/main" val="2292892470"/>
                    </a:ext>
                  </a:extLst>
                </a:gridCol>
                <a:gridCol w="1057275">
                  <a:extLst>
                    <a:ext uri="{9D8B030D-6E8A-4147-A177-3AD203B41FA5}">
                      <a16:colId xmlns:a16="http://schemas.microsoft.com/office/drawing/2014/main" val="3327926488"/>
                    </a:ext>
                  </a:extLst>
                </a:gridCol>
                <a:gridCol w="771525">
                  <a:extLst>
                    <a:ext uri="{9D8B030D-6E8A-4147-A177-3AD203B41FA5}">
                      <a16:colId xmlns:a16="http://schemas.microsoft.com/office/drawing/2014/main" val="1811846721"/>
                    </a:ext>
                  </a:extLst>
                </a:gridCol>
                <a:gridCol w="1038225">
                  <a:extLst>
                    <a:ext uri="{9D8B030D-6E8A-4147-A177-3AD203B41FA5}">
                      <a16:colId xmlns:a16="http://schemas.microsoft.com/office/drawing/2014/main" val="3392747332"/>
                    </a:ext>
                  </a:extLst>
                </a:gridCol>
                <a:gridCol w="1254980">
                  <a:extLst>
                    <a:ext uri="{9D8B030D-6E8A-4147-A177-3AD203B41FA5}">
                      <a16:colId xmlns:a16="http://schemas.microsoft.com/office/drawing/2014/main" val="2602223532"/>
                    </a:ext>
                  </a:extLst>
                </a:gridCol>
                <a:gridCol w="1041434">
                  <a:extLst>
                    <a:ext uri="{9D8B030D-6E8A-4147-A177-3AD203B41FA5}">
                      <a16:colId xmlns:a16="http://schemas.microsoft.com/office/drawing/2014/main" val="1620119902"/>
                    </a:ext>
                  </a:extLst>
                </a:gridCol>
              </a:tblGrid>
              <a:tr h="615826">
                <a:tc>
                  <a:txBody>
                    <a:bodyPr/>
                    <a:lstStyle/>
                    <a:p>
                      <a:pPr algn="ctr">
                        <a:tabLst>
                          <a:tab pos="630555" algn="l"/>
                        </a:tabLst>
                      </a:pPr>
                      <a:r>
                        <a:rPr lang="zh-CN" altLang="en-US" sz="1000" b="1" kern="100">
                          <a:solidFill>
                            <a:schemeClr val="bg1"/>
                          </a:solidFill>
                          <a:effectLst/>
                          <a:latin typeface="+mn-lt"/>
                          <a:ea typeface="+mn-ea"/>
                          <a:cs typeface="+mn-ea"/>
                          <a:sym typeface="+mn-lt"/>
                        </a:rPr>
                        <a:t>肌酐清除率</a:t>
                      </a:r>
                      <a:r>
                        <a:rPr lang="en-GB" altLang="zh-CN" sz="1000" b="1" kern="100">
                          <a:solidFill>
                            <a:schemeClr val="bg1"/>
                          </a:solidFill>
                          <a:effectLst/>
                          <a:latin typeface="+mn-lt"/>
                          <a:ea typeface="+mn-ea"/>
                          <a:cs typeface="+mn-ea"/>
                          <a:sym typeface="+mn-lt"/>
                        </a:rPr>
                        <a:t>eCrCL</a:t>
                      </a:r>
                      <a:r>
                        <a:rPr lang="en-GB" altLang="zh-CN" sz="1000" b="1" kern="100" baseline="30000">
                          <a:solidFill>
                            <a:schemeClr val="bg1"/>
                          </a:solidFill>
                          <a:effectLst/>
                          <a:latin typeface="+mn-lt"/>
                          <a:ea typeface="+mn-ea"/>
                          <a:cs typeface="+mn-ea"/>
                          <a:sym typeface="+mn-lt"/>
                        </a:rPr>
                        <a:t>1</a:t>
                      </a:r>
                      <a:endParaRPr lang="zh-CN" altLang="zh-CN" sz="1000" b="1" kern="100" baseline="30000">
                        <a:solidFill>
                          <a:schemeClr val="bg1"/>
                        </a:solidFill>
                        <a:effectLst/>
                        <a:latin typeface="+mn-lt"/>
                        <a:ea typeface="+mn-ea"/>
                        <a:cs typeface="+mn-ea"/>
                        <a:sym typeface="+mn-lt"/>
                      </a:endParaRPr>
                    </a:p>
                    <a:p>
                      <a:pPr algn="ctr">
                        <a:tabLst>
                          <a:tab pos="630555" algn="l"/>
                        </a:tabLst>
                      </a:pPr>
                      <a:r>
                        <a:rPr lang="en-GB" altLang="zh-CN" sz="1000" b="1" kern="100">
                          <a:solidFill>
                            <a:schemeClr val="bg1"/>
                          </a:solidFill>
                          <a:effectLst/>
                          <a:latin typeface="+mn-lt"/>
                          <a:ea typeface="+mn-ea"/>
                          <a:cs typeface="+mn-ea"/>
                          <a:sym typeface="+mn-lt"/>
                        </a:rPr>
                        <a:t>(mL/min/1.73 m</a:t>
                      </a:r>
                      <a:r>
                        <a:rPr lang="en-GB" altLang="zh-CN" sz="1000" b="1" kern="100" baseline="30000">
                          <a:solidFill>
                            <a:schemeClr val="bg1"/>
                          </a:solidFill>
                          <a:effectLst/>
                          <a:latin typeface="+mn-lt"/>
                          <a:ea typeface="+mn-ea"/>
                          <a:cs typeface="+mn-ea"/>
                          <a:sym typeface="+mn-lt"/>
                        </a:rPr>
                        <a:t>2</a:t>
                      </a:r>
                      <a:r>
                        <a:rPr lang="en-GB" altLang="zh-CN" sz="1000" b="1" kern="100">
                          <a:solidFill>
                            <a:schemeClr val="bg1"/>
                          </a:solidFill>
                          <a:effectLst/>
                          <a:latin typeface="+mn-lt"/>
                          <a:ea typeface="+mn-ea"/>
                          <a:cs typeface="+mn-ea"/>
                          <a:sym typeface="+mn-lt"/>
                        </a:rPr>
                        <a:t>)</a:t>
                      </a:r>
                      <a:endParaRPr lang="zh-CN" altLang="zh-CN" sz="1000" b="1" kern="100">
                        <a:solidFill>
                          <a:schemeClr val="bg1"/>
                        </a:solidFill>
                        <a:effectLst/>
                        <a:latin typeface="+mn-lt"/>
                        <a:ea typeface="+mn-ea"/>
                        <a:cs typeface="+mn-ea"/>
                        <a:sym typeface="+mn-lt"/>
                      </a:endParaRPr>
                    </a:p>
                  </a:txBody>
                  <a:tcPr marL="68580" marR="68580" marT="0" marB="0" anchor="ctr">
                    <a:solidFill>
                      <a:srgbClr val="EDB91C"/>
                    </a:solidFill>
                  </a:tcPr>
                </a:tc>
                <a:tc>
                  <a:txBody>
                    <a:bodyPr/>
                    <a:lstStyle/>
                    <a:p>
                      <a:pPr algn="ctr"/>
                      <a:r>
                        <a:rPr lang="zh-CN" sz="1000" kern="100">
                          <a:effectLst/>
                        </a:rPr>
                        <a:t>年龄和剂量</a:t>
                      </a:r>
                      <a:r>
                        <a:rPr lang="en-US" sz="1000" kern="100">
                          <a:effectLst/>
                        </a:rPr>
                        <a:t> (mg/kg)</a:t>
                      </a:r>
                      <a:r>
                        <a:rPr lang="en-US" sz="1000" kern="100" baseline="30000">
                          <a:effectLst/>
                        </a:rPr>
                        <a:t>2</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rgbClr val="EDB91C"/>
                    </a:solidFill>
                  </a:tcPr>
                </a:tc>
                <a:tc>
                  <a:txBody>
                    <a:bodyPr/>
                    <a:lstStyle/>
                    <a:p>
                      <a:pPr algn="ctr"/>
                      <a:r>
                        <a:rPr lang="zh-CN" sz="1000" kern="100">
                          <a:effectLst/>
                        </a:rPr>
                        <a:t>体重</a:t>
                      </a:r>
                      <a:r>
                        <a:rPr lang="en-US" sz="1000" kern="100">
                          <a:effectLst/>
                        </a:rPr>
                        <a:t> (kg)</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rgbClr val="EDB91C"/>
                    </a:solidFill>
                  </a:tcPr>
                </a:tc>
                <a:tc>
                  <a:txBody>
                    <a:bodyPr/>
                    <a:lstStyle/>
                    <a:p>
                      <a:pPr algn="ctr"/>
                      <a:r>
                        <a:rPr lang="zh-CN" sz="1000" kern="100">
                          <a:effectLst/>
                        </a:rPr>
                        <a:t>剂量</a:t>
                      </a:r>
                    </a:p>
                    <a:p>
                      <a:pPr algn="ctr"/>
                      <a:r>
                        <a:rPr lang="zh-CN" sz="1000" kern="100">
                          <a:effectLst/>
                        </a:rPr>
                        <a:t>（</a:t>
                      </a:r>
                      <a:r>
                        <a:rPr lang="en-US" sz="1000" kern="100">
                          <a:effectLst/>
                        </a:rPr>
                        <a:t>mg</a:t>
                      </a:r>
                      <a:r>
                        <a:rPr lang="zh-CN" sz="1000" kern="100">
                          <a:effectLst/>
                        </a:rPr>
                        <a:t>头孢他啶）</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rgbClr val="EDB91C"/>
                    </a:solidFill>
                  </a:tcPr>
                </a:tc>
                <a:tc>
                  <a:txBody>
                    <a:bodyPr/>
                    <a:lstStyle/>
                    <a:p>
                      <a:pPr algn="ctr"/>
                      <a:r>
                        <a:rPr lang="zh-CN" sz="1000" kern="100">
                          <a:effectLst/>
                        </a:rPr>
                        <a:t>从小瓶中抽取的复溶溶液体积</a:t>
                      </a:r>
                      <a:r>
                        <a:rPr lang="en-US" sz="1000" kern="100">
                          <a:effectLst/>
                        </a:rPr>
                        <a:t>(mL)</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rgbClr val="EDB91C"/>
                    </a:solidFill>
                  </a:tcPr>
                </a:tc>
                <a:tc>
                  <a:txBody>
                    <a:bodyPr/>
                    <a:lstStyle/>
                    <a:p>
                      <a:pPr algn="ctr"/>
                      <a:r>
                        <a:rPr lang="zh-CN" sz="1000" kern="100">
                          <a:effectLst/>
                        </a:rPr>
                        <a:t>添加混合用稀释液的体积</a:t>
                      </a:r>
                      <a:r>
                        <a:rPr lang="en-US" sz="1000" kern="100">
                          <a:effectLst/>
                        </a:rPr>
                        <a:t> (mL)</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rgbClr val="EDB91C"/>
                    </a:solidFill>
                  </a:tcPr>
                </a:tc>
                <a:extLst>
                  <a:ext uri="{0D108BD9-81ED-4DB2-BD59-A6C34878D82A}">
                    <a16:rowId xmlns:a16="http://schemas.microsoft.com/office/drawing/2014/main" val="417762280"/>
                  </a:ext>
                </a:extLst>
              </a:tr>
              <a:tr h="195523">
                <a:tc rowSpan="15">
                  <a:txBody>
                    <a:bodyPr/>
                    <a:lstStyle/>
                    <a:p>
                      <a:pPr marL="0" algn="ctr" defTabSz="685800" rtl="0" eaLnBrk="1" latinLnBrk="0" hangingPunct="1"/>
                      <a:r>
                        <a:rPr lang="en-US" altLang="zh-CN" sz="1200" b="1" kern="100">
                          <a:solidFill>
                            <a:schemeClr val="bg1"/>
                          </a:solidFill>
                          <a:effectLst/>
                          <a:latin typeface="+mn-lt"/>
                          <a:ea typeface="+mn-ea"/>
                          <a:cs typeface="+mn-ea"/>
                          <a:sym typeface="+mn-lt"/>
                        </a:rPr>
                        <a:t>&gt; 50</a:t>
                      </a:r>
                      <a:endParaRPr lang="en-US" sz="1200" b="1" kern="100">
                        <a:solidFill>
                          <a:schemeClr val="bg1"/>
                        </a:solidFill>
                        <a:effectLst/>
                        <a:latin typeface="+mn-lt"/>
                        <a:ea typeface="+mn-ea"/>
                        <a:cs typeface="+mn-ea"/>
                        <a:sym typeface="+mn-lt"/>
                      </a:endParaRPr>
                    </a:p>
                  </a:txBody>
                  <a:tcPr marL="68580" marR="68580" marT="0" marB="0" anchor="ctr">
                    <a:solidFill>
                      <a:schemeClr val="accent2">
                        <a:lumMod val="60000"/>
                        <a:lumOff val="40000"/>
                      </a:schemeClr>
                    </a:solidFill>
                  </a:tcPr>
                </a:tc>
                <a:tc rowSpan="8">
                  <a:txBody>
                    <a:bodyPr/>
                    <a:lstStyle/>
                    <a:p>
                      <a:pPr algn="ctr"/>
                      <a:r>
                        <a:rPr lang="en-US" sz="1000" b="1" kern="100">
                          <a:effectLst/>
                        </a:rPr>
                        <a:t>6</a:t>
                      </a:r>
                      <a:r>
                        <a:rPr lang="zh-CN" sz="1000" b="1" kern="100">
                          <a:effectLst/>
                        </a:rPr>
                        <a:t>月龄至</a:t>
                      </a:r>
                      <a:r>
                        <a:rPr lang="en-US" sz="1000" b="1" kern="100">
                          <a:effectLst/>
                        </a:rPr>
                        <a:t>12</a:t>
                      </a:r>
                      <a:r>
                        <a:rPr lang="zh-CN" sz="1000" b="1" kern="100">
                          <a:effectLst/>
                        </a:rPr>
                        <a:t>月龄</a:t>
                      </a:r>
                    </a:p>
                    <a:p>
                      <a:pPr algn="ctr"/>
                      <a:r>
                        <a:rPr lang="en-US" sz="1000" kern="100">
                          <a:effectLst/>
                        </a:rPr>
                        <a:t> </a:t>
                      </a:r>
                      <a:endParaRPr lang="zh-CN" sz="1000" kern="100">
                        <a:effectLst/>
                      </a:endParaRPr>
                    </a:p>
                    <a:p>
                      <a:pPr algn="ctr"/>
                      <a:r>
                        <a:rPr lang="en-US" sz="1000" kern="100">
                          <a:solidFill>
                            <a:srgbClr val="FF0000"/>
                          </a:solidFill>
                          <a:effectLst/>
                        </a:rPr>
                        <a:t>50 mg/kg</a:t>
                      </a:r>
                      <a:endParaRPr lang="zh-CN" sz="1000" kern="100">
                        <a:solidFill>
                          <a:srgbClr val="FF0000"/>
                        </a:solidFill>
                        <a:effectLst/>
                      </a:endParaRPr>
                    </a:p>
                    <a:p>
                      <a:pPr algn="ctr"/>
                      <a:r>
                        <a:rPr lang="zh-CN" sz="1000" kern="100">
                          <a:solidFill>
                            <a:srgbClr val="FF0000"/>
                          </a:solidFill>
                          <a:effectLst/>
                        </a:rPr>
                        <a:t>头孢他啶</a:t>
                      </a:r>
                      <a:endParaRPr lang="zh-CN" sz="1000" kern="100">
                        <a:solidFill>
                          <a:srgbClr val="FF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5</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250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1.5</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11</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4114189892"/>
                  </a:ext>
                </a:extLst>
              </a:tr>
              <a:tr h="194096">
                <a:tc vMerge="1">
                  <a:txBody>
                    <a:bodyPr/>
                    <a:lstStyle/>
                    <a:p>
                      <a:pPr algn="ctr"/>
                      <a:endParaRPr lang="en-US" sz="1000" b="1" kern="100">
                        <a:solidFill>
                          <a:schemeClr val="tx1"/>
                        </a:solidFill>
                        <a:effectLst/>
                        <a:latin typeface="+mn-ea"/>
                        <a:ea typeface="+mn-ea"/>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effectLst/>
                        </a:rPr>
                        <a:t>6</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13</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665609612"/>
                  </a:ext>
                </a:extLst>
              </a:tr>
              <a:tr h="194096">
                <a:tc vMerge="1">
                  <a:txBody>
                    <a:bodyPr/>
                    <a:lstStyle/>
                    <a:p>
                      <a:pPr algn="ctr"/>
                      <a:endParaRPr lang="en-US" sz="1000" b="1" kern="100">
                        <a:solidFill>
                          <a:schemeClr val="bg1"/>
                        </a:solidFill>
                        <a:effectLst/>
                        <a:latin typeface="+mn-lt"/>
                        <a:ea typeface="+mn-ea"/>
                        <a:cs typeface="+mn-ea"/>
                        <a:sym typeface="+mn-lt"/>
                      </a:endParaRPr>
                    </a:p>
                  </a:txBody>
                  <a:tcPr marL="68580" marR="68580" marT="0" marB="0" anchor="ctr"/>
                </a:tc>
                <a:tc vMerge="1">
                  <a:txBody>
                    <a:bodyPr/>
                    <a:lstStyle/>
                    <a:p>
                      <a:endParaRPr lang="zh-CN" altLang="en-US"/>
                    </a:p>
                  </a:txBody>
                  <a:tcPr/>
                </a:tc>
                <a:tc>
                  <a:txBody>
                    <a:bodyPr/>
                    <a:lstStyle/>
                    <a:p>
                      <a:pPr algn="ctr"/>
                      <a:r>
                        <a:rPr lang="en-US" sz="1000" kern="100">
                          <a:effectLst/>
                        </a:rPr>
                        <a:t>7</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350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2.1</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15</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594201581"/>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400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787570584"/>
                  </a:ext>
                </a:extLst>
              </a:tr>
              <a:tr h="194096">
                <a:tc vMerge="1">
                  <a:txBody>
                    <a:bodyPr/>
                    <a:lstStyle/>
                    <a:p>
                      <a:pPr algn="ctr">
                        <a:tabLst>
                          <a:tab pos="630555" algn="l"/>
                        </a:tabLst>
                      </a:pPr>
                      <a:endParaRPr lang="zh-CN" sz="11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3193" marR="63193" marT="0" marB="0" anchor="ctr"/>
                </a:tc>
                <a:tc vMerge="1">
                  <a:txBody>
                    <a:bodyPr/>
                    <a:lstStyle/>
                    <a:p>
                      <a:endParaRPr lang="zh-CN" altLang="en-US"/>
                    </a:p>
                  </a:txBody>
                  <a:tcPr/>
                </a:tc>
                <a:tc>
                  <a:txBody>
                    <a:bodyPr/>
                    <a:lstStyle/>
                    <a:p>
                      <a:pPr algn="ctr"/>
                      <a:r>
                        <a:rPr lang="en-US" sz="1000" kern="100">
                          <a:effectLst/>
                        </a:rPr>
                        <a:t>9</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450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2.7</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967247894"/>
                  </a:ext>
                </a:extLst>
              </a:tr>
              <a:tr h="194096">
                <a:tc vMerge="1">
                  <a:txBody>
                    <a:bodyPr/>
                    <a:lstStyle/>
                    <a:p>
                      <a:pPr algn="ctr"/>
                      <a:endParaRPr lang="en-US" sz="1000" b="1" kern="100">
                        <a:solidFill>
                          <a:schemeClr val="bg1"/>
                        </a:solidFill>
                        <a:effectLst/>
                        <a:latin typeface="+mn-lt"/>
                        <a:ea typeface="+mn-ea"/>
                        <a:cs typeface="+mn-ea"/>
                        <a:sym typeface="+mn-lt"/>
                      </a:endParaRPr>
                    </a:p>
                  </a:txBody>
                  <a:tcPr marL="68580" marR="68580" marT="0" marB="0" anchor="ctr"/>
                </a:tc>
                <a:tc vMerge="1">
                  <a:txBody>
                    <a:bodyPr/>
                    <a:lstStyle/>
                    <a:p>
                      <a:endParaRPr lang="zh-CN" altLang="en-US"/>
                    </a:p>
                  </a:txBody>
                  <a:tcPr/>
                </a:tc>
                <a:tc>
                  <a:txBody>
                    <a:bodyPr/>
                    <a:lstStyle/>
                    <a:p>
                      <a:pPr algn="ctr"/>
                      <a:r>
                        <a:rPr lang="en-US" sz="1000" kern="100">
                          <a:effectLst/>
                        </a:rPr>
                        <a:t>10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500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22</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631329065"/>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11</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550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3.3</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424447265"/>
                  </a:ext>
                </a:extLst>
              </a:tr>
              <a:tr h="194096">
                <a:tc vMerge="1">
                  <a:txBody>
                    <a:bodyPr/>
                    <a:lstStyle/>
                    <a:p>
                      <a:pPr algn="ctr"/>
                      <a:endParaRPr lang="en-US" altLang="zh-CN" sz="12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effectLst/>
                        </a:rPr>
                        <a:t>12</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600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3.6</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27</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355819279"/>
                  </a:ext>
                </a:extLst>
              </a:tr>
              <a:tr h="195523">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rowSpan="7">
                  <a:txBody>
                    <a:bodyPr/>
                    <a:lstStyle/>
                    <a:p>
                      <a:pPr algn="ctr"/>
                      <a:r>
                        <a:rPr lang="en-US" sz="1000" b="1" kern="100">
                          <a:effectLst/>
                        </a:rPr>
                        <a:t>3</a:t>
                      </a:r>
                      <a:r>
                        <a:rPr lang="zh-CN" sz="1000" b="1" kern="100">
                          <a:effectLst/>
                        </a:rPr>
                        <a:t>月龄至</a:t>
                      </a:r>
                      <a:r>
                        <a:rPr lang="en-US" sz="1000" b="1" kern="100">
                          <a:effectLst/>
                        </a:rPr>
                        <a:t>&lt; 6</a:t>
                      </a:r>
                      <a:r>
                        <a:rPr lang="zh-CN" sz="1000" b="1" kern="100">
                          <a:effectLst/>
                        </a:rPr>
                        <a:t>月龄</a:t>
                      </a:r>
                    </a:p>
                    <a:p>
                      <a:pPr algn="ctr"/>
                      <a:r>
                        <a:rPr lang="en-US" sz="1000" kern="100">
                          <a:effectLst/>
                        </a:rPr>
                        <a:t> </a:t>
                      </a:r>
                      <a:endParaRPr lang="zh-CN" sz="1000" kern="100">
                        <a:effectLst/>
                      </a:endParaRPr>
                    </a:p>
                    <a:p>
                      <a:pPr algn="ctr"/>
                      <a:r>
                        <a:rPr lang="en-US" sz="1000" kern="100">
                          <a:solidFill>
                            <a:srgbClr val="FF0000"/>
                          </a:solidFill>
                          <a:effectLst/>
                        </a:rPr>
                        <a:t>40 mg/kg</a:t>
                      </a:r>
                      <a:endParaRPr lang="zh-CN" sz="1000" kern="100">
                        <a:solidFill>
                          <a:srgbClr val="FF0000"/>
                        </a:solidFill>
                        <a:effectLst/>
                      </a:endParaRPr>
                    </a:p>
                    <a:p>
                      <a:pPr algn="ctr"/>
                      <a:r>
                        <a:rPr lang="zh-CN" sz="1000" kern="100">
                          <a:solidFill>
                            <a:srgbClr val="FF0000"/>
                          </a:solidFill>
                          <a:effectLst/>
                        </a:rPr>
                        <a:t>头孢他啶</a:t>
                      </a:r>
                      <a:endParaRPr lang="zh-CN" sz="1000" kern="100">
                        <a:solidFill>
                          <a:srgbClr val="FF0000"/>
                        </a:solidFill>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160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7.4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927570932"/>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5</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1.2</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8.8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139894490"/>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6</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240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210489380"/>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7</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280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1.7</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13</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70002694"/>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320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1.9</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197745432"/>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9</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360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2.2</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16</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931626909"/>
                  </a:ext>
                </a:extLst>
              </a:tr>
              <a:tr h="194096">
                <a:tc vMerge="1">
                  <a:txBody>
                    <a:bodyPr/>
                    <a:lstStyle/>
                    <a:p>
                      <a:endParaRPr lang="zh-CN" altLang="en-US"/>
                    </a:p>
                  </a:txBody>
                  <a:tcPr/>
                </a:tc>
                <a:tc vMerge="1">
                  <a:txBody>
                    <a:bodyPr/>
                    <a:lstStyle/>
                    <a:p>
                      <a:endParaRPr lang="zh-CN" altLang="en-US"/>
                    </a:p>
                  </a:txBody>
                  <a:tcPr/>
                </a:tc>
                <a:tc>
                  <a:txBody>
                    <a:bodyPr/>
                    <a:lstStyle/>
                    <a:p>
                      <a:pPr algn="ctr"/>
                      <a:r>
                        <a:rPr lang="en-US" sz="1000" kern="100">
                          <a:effectLst/>
                        </a:rPr>
                        <a:t>10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400</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2.4</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effectLst/>
                        </a:rPr>
                        <a:t>18</a:t>
                      </a: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456898137"/>
                  </a:ext>
                </a:extLst>
              </a:tr>
              <a:tr h="194096">
                <a:tc rowSpan="1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200" b="1" kern="100">
                          <a:solidFill>
                            <a:schemeClr val="bg1"/>
                          </a:solidFill>
                          <a:effectLst/>
                          <a:latin typeface="+mn-lt"/>
                          <a:ea typeface="+mn-ea"/>
                          <a:cs typeface="+mn-ea"/>
                          <a:sym typeface="+mn-lt"/>
                        </a:rPr>
                        <a:t>31~50</a:t>
                      </a:r>
                    </a:p>
                  </a:txBody>
                  <a:tcPr marL="68580" marR="68580" marT="0" marB="0" anchor="ctr">
                    <a:solidFill>
                      <a:schemeClr val="accent2">
                        <a:lumMod val="75000"/>
                      </a:schemeClr>
                    </a:solidFill>
                  </a:tcPr>
                </a:tc>
                <a:tc rowSpan="8">
                  <a:txBody>
                    <a:bodyPr/>
                    <a:lstStyle/>
                    <a:p>
                      <a:pPr algn="ctr"/>
                      <a:r>
                        <a:rPr lang="en-US" sz="1000" b="1" kern="100">
                          <a:solidFill>
                            <a:srgbClr val="000000"/>
                          </a:solidFill>
                          <a:effectLst/>
                          <a:latin typeface="+mn-ea"/>
                          <a:ea typeface="+mn-ea"/>
                          <a:cs typeface="Times New Roman" panose="02020603050405020304" pitchFamily="18" charset="0"/>
                        </a:rPr>
                        <a:t>6</a:t>
                      </a:r>
                      <a:r>
                        <a:rPr lang="zh-CN" sz="1000" b="1" kern="100">
                          <a:solidFill>
                            <a:srgbClr val="000000"/>
                          </a:solidFill>
                          <a:effectLst/>
                          <a:latin typeface="+mn-ea"/>
                          <a:ea typeface="+mn-ea"/>
                          <a:cs typeface="Times New Roman" panose="02020603050405020304" pitchFamily="18" charset="0"/>
                        </a:rPr>
                        <a:t>月龄</a:t>
                      </a:r>
                      <a:r>
                        <a:rPr lang="zh-CN" sz="1000" b="1" kern="100">
                          <a:effectLst/>
                          <a:latin typeface="+mn-ea"/>
                          <a:ea typeface="+mn-ea"/>
                          <a:cs typeface="Times New Roman" panose="02020603050405020304" pitchFamily="18" charset="0"/>
                        </a:rPr>
                        <a:t>至</a:t>
                      </a:r>
                      <a:r>
                        <a:rPr lang="en-US" sz="1000" b="1" kern="100">
                          <a:solidFill>
                            <a:srgbClr val="000000"/>
                          </a:solidFill>
                          <a:effectLst/>
                          <a:latin typeface="+mn-ea"/>
                          <a:ea typeface="+mn-ea"/>
                          <a:cs typeface="Times New Roman" panose="02020603050405020304" pitchFamily="18" charset="0"/>
                        </a:rPr>
                        <a:t>12</a:t>
                      </a:r>
                      <a:r>
                        <a:rPr lang="zh-CN" sz="1000" b="1" kern="100">
                          <a:solidFill>
                            <a:srgbClr val="000000"/>
                          </a:solidFill>
                          <a:effectLst/>
                          <a:latin typeface="+mn-ea"/>
                          <a:ea typeface="+mn-ea"/>
                          <a:cs typeface="Times New Roman" panose="02020603050405020304" pitchFamily="18" charset="0"/>
                        </a:rPr>
                        <a:t>月龄</a:t>
                      </a:r>
                      <a:endParaRPr lang="zh-CN" sz="1000" b="1" kern="100">
                        <a:effectLst/>
                        <a:latin typeface="+mn-ea"/>
                        <a:ea typeface="+mn-ea"/>
                        <a:cs typeface="Times New Roman" panose="02020603050405020304" pitchFamily="18" charset="0"/>
                      </a:endParaRPr>
                    </a:p>
                    <a:p>
                      <a:pPr algn="ctr"/>
                      <a:r>
                        <a:rPr lang="en-US" sz="1000" kern="100">
                          <a:solidFill>
                            <a:srgbClr val="000000"/>
                          </a:solidFill>
                          <a:effectLst/>
                          <a:latin typeface="+mn-ea"/>
                          <a:ea typeface="+mn-ea"/>
                          <a:cs typeface="Times New Roman" panose="02020603050405020304" pitchFamily="18" charset="0"/>
                        </a:rPr>
                        <a:t> </a:t>
                      </a:r>
                      <a:endParaRPr lang="zh-CN" sz="1000" kern="100">
                        <a:effectLst/>
                        <a:latin typeface="+mn-ea"/>
                        <a:ea typeface="+mn-ea"/>
                        <a:cs typeface="Times New Roman" panose="02020603050405020304" pitchFamily="18" charset="0"/>
                      </a:endParaRPr>
                    </a:p>
                    <a:p>
                      <a:pPr algn="ctr"/>
                      <a:r>
                        <a:rPr lang="en-US" sz="1000" kern="100">
                          <a:solidFill>
                            <a:srgbClr val="FF0000"/>
                          </a:solidFill>
                          <a:effectLst/>
                          <a:latin typeface="+mn-ea"/>
                          <a:ea typeface="+mn-ea"/>
                          <a:cs typeface="Times New Roman" panose="02020603050405020304" pitchFamily="18" charset="0"/>
                        </a:rPr>
                        <a:t>25 mg/kg</a:t>
                      </a:r>
                      <a:endParaRPr lang="zh-CN" sz="1000" kern="100">
                        <a:solidFill>
                          <a:srgbClr val="FF0000"/>
                        </a:solidFill>
                        <a:effectLst/>
                        <a:latin typeface="+mn-ea"/>
                        <a:ea typeface="+mn-ea"/>
                        <a:cs typeface="Times New Roman" panose="02020603050405020304" pitchFamily="18" charset="0"/>
                      </a:endParaRPr>
                    </a:p>
                    <a:p>
                      <a:pPr algn="ctr"/>
                      <a:r>
                        <a:rPr lang="zh-CN" sz="1000" kern="100">
                          <a:solidFill>
                            <a:srgbClr val="FF0000"/>
                          </a:solidFill>
                          <a:effectLst/>
                          <a:latin typeface="+mn-ea"/>
                          <a:ea typeface="+mn-ea"/>
                          <a:cs typeface="Times New Roman" panose="02020603050405020304" pitchFamily="18" charset="0"/>
                        </a:rPr>
                        <a:t>头孢他啶</a:t>
                      </a: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956968686"/>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150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461587586"/>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7.4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502149843"/>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200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722966693"/>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9.6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108877724"/>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250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965914220"/>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613322240"/>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300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918688483"/>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rowSpan="7">
                  <a:txBody>
                    <a:bodyPr/>
                    <a:lstStyle/>
                    <a:p>
                      <a:pPr algn="ctr"/>
                      <a:r>
                        <a:rPr lang="en-US" sz="1000" b="1" kern="100">
                          <a:solidFill>
                            <a:srgbClr val="000000"/>
                          </a:solidFill>
                          <a:effectLst/>
                          <a:latin typeface="+mn-ea"/>
                          <a:ea typeface="+mn-ea"/>
                          <a:cs typeface="Times New Roman" panose="02020603050405020304" pitchFamily="18" charset="0"/>
                        </a:rPr>
                        <a:t>3</a:t>
                      </a:r>
                      <a:r>
                        <a:rPr lang="zh-CN" sz="1000" b="1" kern="100">
                          <a:solidFill>
                            <a:srgbClr val="000000"/>
                          </a:solidFill>
                          <a:effectLst/>
                          <a:latin typeface="+mn-ea"/>
                          <a:ea typeface="+mn-ea"/>
                          <a:cs typeface="Times New Roman" panose="02020603050405020304" pitchFamily="18" charset="0"/>
                        </a:rPr>
                        <a:t>月龄</a:t>
                      </a:r>
                      <a:r>
                        <a:rPr lang="zh-CN" sz="1000" b="1" kern="100">
                          <a:effectLst/>
                          <a:latin typeface="+mn-ea"/>
                          <a:ea typeface="+mn-ea"/>
                          <a:cs typeface="Times New Roman" panose="02020603050405020304" pitchFamily="18" charset="0"/>
                        </a:rPr>
                        <a:t>至</a:t>
                      </a:r>
                      <a:r>
                        <a:rPr lang="en-US" sz="1000" b="1" kern="100">
                          <a:solidFill>
                            <a:srgbClr val="000000"/>
                          </a:solidFill>
                          <a:effectLst/>
                          <a:latin typeface="+mn-ea"/>
                          <a:ea typeface="+mn-ea"/>
                          <a:cs typeface="Times New Roman" panose="02020603050405020304" pitchFamily="18" charset="0"/>
                        </a:rPr>
                        <a:t>&lt;6</a:t>
                      </a:r>
                      <a:r>
                        <a:rPr lang="zh-CN" sz="1000" b="1" kern="100">
                          <a:solidFill>
                            <a:srgbClr val="000000"/>
                          </a:solidFill>
                          <a:effectLst/>
                          <a:latin typeface="+mn-ea"/>
                          <a:ea typeface="+mn-ea"/>
                          <a:cs typeface="Times New Roman" panose="02020603050405020304" pitchFamily="18" charset="0"/>
                        </a:rPr>
                        <a:t>月龄</a:t>
                      </a:r>
                      <a:endParaRPr lang="zh-CN" sz="1000" b="1" kern="100">
                        <a:effectLst/>
                        <a:latin typeface="+mn-ea"/>
                        <a:ea typeface="+mn-ea"/>
                        <a:cs typeface="Times New Roman" panose="02020603050405020304" pitchFamily="18" charset="0"/>
                      </a:endParaRPr>
                    </a:p>
                    <a:p>
                      <a:pPr algn="ctr"/>
                      <a:r>
                        <a:rPr lang="en-US" sz="1000" kern="100">
                          <a:solidFill>
                            <a:srgbClr val="000000"/>
                          </a:solidFill>
                          <a:effectLst/>
                          <a:latin typeface="+mn-ea"/>
                          <a:ea typeface="+mn-ea"/>
                          <a:cs typeface="Times New Roman" panose="02020603050405020304" pitchFamily="18" charset="0"/>
                        </a:rPr>
                        <a:t> </a:t>
                      </a:r>
                      <a:endParaRPr lang="zh-CN" sz="1000" kern="100">
                        <a:effectLst/>
                        <a:latin typeface="+mn-ea"/>
                        <a:ea typeface="+mn-ea"/>
                        <a:cs typeface="Times New Roman" panose="02020603050405020304" pitchFamily="18" charset="0"/>
                      </a:endParaRPr>
                    </a:p>
                    <a:p>
                      <a:pPr algn="ctr"/>
                      <a:r>
                        <a:rPr lang="en-US" sz="1000" kern="100">
                          <a:solidFill>
                            <a:srgbClr val="FF0000"/>
                          </a:solidFill>
                          <a:effectLst/>
                          <a:latin typeface="+mn-ea"/>
                          <a:ea typeface="+mn-ea"/>
                          <a:cs typeface="Times New Roman" panose="02020603050405020304" pitchFamily="18" charset="0"/>
                        </a:rPr>
                        <a:t>20 mg/kg</a:t>
                      </a:r>
                      <a:endParaRPr lang="zh-CN" sz="1000" kern="100">
                        <a:solidFill>
                          <a:srgbClr val="FF0000"/>
                        </a:solidFill>
                        <a:effectLst/>
                        <a:latin typeface="+mn-ea"/>
                        <a:ea typeface="+mn-ea"/>
                        <a:cs typeface="Times New Roman" panose="02020603050405020304" pitchFamily="18" charset="0"/>
                      </a:endParaRPr>
                    </a:p>
                    <a:p>
                      <a:pPr algn="ctr"/>
                      <a:r>
                        <a:rPr lang="zh-CN" sz="1000" kern="100">
                          <a:solidFill>
                            <a:srgbClr val="FF0000"/>
                          </a:solidFill>
                          <a:effectLst/>
                          <a:latin typeface="+mn-ea"/>
                          <a:ea typeface="+mn-ea"/>
                          <a:cs typeface="Times New Roman" panose="02020603050405020304" pitchFamily="18" charset="0"/>
                        </a:rPr>
                        <a:t>头孢他啶</a:t>
                      </a: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0.48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3.5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503210718"/>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100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642930287"/>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0.72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4970242"/>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140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0.84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586987111"/>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160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7.4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4915601"/>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180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398228633"/>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200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198761672"/>
                  </a:ext>
                </a:extLst>
              </a:tr>
              <a:tr h="194096">
                <a:tc rowSpan="15">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altLang="zh-CN" sz="1200" kern="100">
                          <a:effectLst/>
                          <a:latin typeface="Arial" panose="020B0604020202020204" pitchFamily="34" charset="0"/>
                          <a:ea typeface="微软雅黑" panose="020B0503020204020204" pitchFamily="34" charset="-122"/>
                          <a:cs typeface="Times New Roman" panose="02020603050405020304" pitchFamily="18" charset="0"/>
                        </a:rPr>
                        <a:t>16~30</a:t>
                      </a:r>
                      <a:endParaRPr lang="en-US" altLang="zh-CN" sz="1200" b="1" kern="100">
                        <a:solidFill>
                          <a:schemeClr val="bg1"/>
                        </a:solidFill>
                        <a:effectLst/>
                        <a:latin typeface="+mn-lt"/>
                        <a:ea typeface="+mn-ea"/>
                        <a:cs typeface="+mn-ea"/>
                        <a:sym typeface="+mn-lt"/>
                      </a:endParaRPr>
                    </a:p>
                  </a:txBody>
                  <a:tcPr marL="68580" marR="68580" marT="0" marB="0" anchor="ctr">
                    <a:solidFill>
                      <a:srgbClr val="C00000"/>
                    </a:solidFill>
                  </a:tcPr>
                </a:tc>
                <a:tc rowSpan="8">
                  <a:txBody>
                    <a:bodyPr/>
                    <a:lstStyle/>
                    <a:p>
                      <a:pPr algn="ctr"/>
                      <a:r>
                        <a:rPr lang="en-US" sz="1000" b="1" kern="100">
                          <a:solidFill>
                            <a:srgbClr val="000000"/>
                          </a:solidFill>
                          <a:effectLst/>
                          <a:latin typeface="+mn-ea"/>
                          <a:ea typeface="+mn-ea"/>
                          <a:cs typeface="Times New Roman" panose="02020603050405020304" pitchFamily="18" charset="0"/>
                        </a:rPr>
                        <a:t>6</a:t>
                      </a:r>
                      <a:r>
                        <a:rPr lang="zh-CN" sz="1000" b="1" kern="100">
                          <a:solidFill>
                            <a:srgbClr val="000000"/>
                          </a:solidFill>
                          <a:effectLst/>
                          <a:latin typeface="+mn-ea"/>
                          <a:ea typeface="+mn-ea"/>
                          <a:cs typeface="Times New Roman" panose="02020603050405020304" pitchFamily="18" charset="0"/>
                        </a:rPr>
                        <a:t>月龄</a:t>
                      </a:r>
                      <a:r>
                        <a:rPr lang="zh-CN" sz="1000" b="1" kern="100">
                          <a:effectLst/>
                          <a:latin typeface="+mn-ea"/>
                          <a:ea typeface="+mn-ea"/>
                          <a:cs typeface="Times New Roman" panose="02020603050405020304" pitchFamily="18" charset="0"/>
                        </a:rPr>
                        <a:t>至</a:t>
                      </a:r>
                      <a:r>
                        <a:rPr lang="en-US" sz="1000" b="1" kern="100">
                          <a:solidFill>
                            <a:srgbClr val="000000"/>
                          </a:solidFill>
                          <a:effectLst/>
                          <a:latin typeface="+mn-ea"/>
                          <a:ea typeface="+mn-ea"/>
                          <a:cs typeface="Times New Roman" panose="02020603050405020304" pitchFamily="18" charset="0"/>
                        </a:rPr>
                        <a:t>12</a:t>
                      </a:r>
                      <a:r>
                        <a:rPr lang="zh-CN" sz="1000" b="1" kern="100">
                          <a:solidFill>
                            <a:srgbClr val="000000"/>
                          </a:solidFill>
                          <a:effectLst/>
                          <a:latin typeface="+mn-ea"/>
                          <a:ea typeface="+mn-ea"/>
                          <a:cs typeface="Times New Roman" panose="02020603050405020304" pitchFamily="18" charset="0"/>
                        </a:rPr>
                        <a:t>月龄</a:t>
                      </a:r>
                      <a:endParaRPr lang="zh-CN" sz="1000" b="1" kern="100">
                        <a:effectLst/>
                        <a:latin typeface="+mn-ea"/>
                        <a:ea typeface="+mn-ea"/>
                        <a:cs typeface="Times New Roman" panose="02020603050405020304" pitchFamily="18" charset="0"/>
                      </a:endParaRPr>
                    </a:p>
                    <a:p>
                      <a:pPr algn="ctr"/>
                      <a:r>
                        <a:rPr lang="en-US" sz="1000" kern="100">
                          <a:solidFill>
                            <a:srgbClr val="000000"/>
                          </a:solidFill>
                          <a:effectLst/>
                          <a:latin typeface="+mn-ea"/>
                          <a:ea typeface="+mn-ea"/>
                          <a:cs typeface="Times New Roman" panose="02020603050405020304" pitchFamily="18" charset="0"/>
                        </a:rPr>
                        <a:t> </a:t>
                      </a:r>
                      <a:endParaRPr lang="zh-CN" sz="1000" kern="100">
                        <a:effectLst/>
                        <a:latin typeface="+mn-ea"/>
                        <a:ea typeface="+mn-ea"/>
                        <a:cs typeface="Times New Roman" panose="02020603050405020304" pitchFamily="18" charset="0"/>
                      </a:endParaRPr>
                    </a:p>
                    <a:p>
                      <a:pPr algn="ctr"/>
                      <a:r>
                        <a:rPr lang="en-US" sz="1000" kern="100">
                          <a:solidFill>
                            <a:srgbClr val="FF0000"/>
                          </a:solidFill>
                          <a:effectLst/>
                          <a:latin typeface="+mn-ea"/>
                          <a:ea typeface="+mn-ea"/>
                          <a:cs typeface="Times New Roman" panose="02020603050405020304" pitchFamily="18" charset="0"/>
                        </a:rPr>
                        <a:t>18.75 mg/kg</a:t>
                      </a:r>
                      <a:endParaRPr lang="zh-CN" sz="1000" kern="100">
                        <a:solidFill>
                          <a:srgbClr val="FF0000"/>
                        </a:solidFill>
                        <a:effectLst/>
                        <a:latin typeface="+mn-ea"/>
                        <a:ea typeface="+mn-ea"/>
                        <a:cs typeface="Times New Roman" panose="02020603050405020304" pitchFamily="18" charset="0"/>
                      </a:endParaRPr>
                    </a:p>
                    <a:p>
                      <a:pPr algn="ctr"/>
                      <a:r>
                        <a:rPr lang="zh-CN" sz="1000" kern="100">
                          <a:solidFill>
                            <a:srgbClr val="FF0000"/>
                          </a:solidFill>
                          <a:effectLst/>
                          <a:latin typeface="+mn-ea"/>
                          <a:ea typeface="+mn-ea"/>
                          <a:cs typeface="Times New Roman" panose="02020603050405020304" pitchFamily="18" charset="0"/>
                        </a:rPr>
                        <a:t>头孢他啶</a:t>
                      </a: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93.75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0.56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88664111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112.5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0.67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590697942"/>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131.25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0.78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60231615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150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50733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168.75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7.4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46628430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187.5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979709162"/>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206.25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8.8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857993054"/>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225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9.6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0710756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rowSpan="7">
                  <a:txBody>
                    <a:bodyPr/>
                    <a:lstStyle/>
                    <a:p>
                      <a:pPr algn="ctr"/>
                      <a:r>
                        <a:rPr lang="en-US" sz="1000" b="1" kern="100">
                          <a:solidFill>
                            <a:srgbClr val="000000"/>
                          </a:solidFill>
                          <a:effectLst/>
                          <a:latin typeface="+mn-ea"/>
                          <a:ea typeface="+mn-ea"/>
                          <a:cs typeface="Times New Roman" panose="02020603050405020304" pitchFamily="18" charset="0"/>
                        </a:rPr>
                        <a:t>3</a:t>
                      </a:r>
                      <a:r>
                        <a:rPr lang="zh-CN" sz="1000" b="1" kern="100">
                          <a:solidFill>
                            <a:srgbClr val="000000"/>
                          </a:solidFill>
                          <a:effectLst/>
                          <a:latin typeface="+mn-ea"/>
                          <a:ea typeface="+mn-ea"/>
                          <a:cs typeface="Times New Roman" panose="02020603050405020304" pitchFamily="18" charset="0"/>
                        </a:rPr>
                        <a:t>月龄</a:t>
                      </a:r>
                      <a:r>
                        <a:rPr lang="zh-CN" sz="1000" b="1" kern="100">
                          <a:effectLst/>
                          <a:latin typeface="+mn-ea"/>
                          <a:ea typeface="+mn-ea"/>
                          <a:cs typeface="Times New Roman" panose="02020603050405020304" pitchFamily="18" charset="0"/>
                        </a:rPr>
                        <a:t>至</a:t>
                      </a:r>
                      <a:r>
                        <a:rPr lang="en-US" sz="1000" b="1" kern="100">
                          <a:solidFill>
                            <a:srgbClr val="000000"/>
                          </a:solidFill>
                          <a:effectLst/>
                          <a:latin typeface="+mn-ea"/>
                          <a:ea typeface="+mn-ea"/>
                          <a:cs typeface="Times New Roman" panose="02020603050405020304" pitchFamily="18" charset="0"/>
                        </a:rPr>
                        <a:t>&lt;6</a:t>
                      </a:r>
                      <a:r>
                        <a:rPr lang="zh-CN" sz="1000" b="1" kern="100">
                          <a:solidFill>
                            <a:srgbClr val="000000"/>
                          </a:solidFill>
                          <a:effectLst/>
                          <a:latin typeface="+mn-ea"/>
                          <a:ea typeface="+mn-ea"/>
                          <a:cs typeface="Times New Roman" panose="02020603050405020304" pitchFamily="18" charset="0"/>
                        </a:rPr>
                        <a:t>月龄</a:t>
                      </a:r>
                      <a:endParaRPr lang="zh-CN" sz="1000" b="1" kern="100">
                        <a:effectLst/>
                        <a:latin typeface="+mn-ea"/>
                        <a:ea typeface="+mn-ea"/>
                        <a:cs typeface="Times New Roman" panose="02020603050405020304" pitchFamily="18" charset="0"/>
                      </a:endParaRPr>
                    </a:p>
                    <a:p>
                      <a:pPr algn="ctr"/>
                      <a:r>
                        <a:rPr lang="en-US" sz="1000" kern="100">
                          <a:solidFill>
                            <a:srgbClr val="000000"/>
                          </a:solidFill>
                          <a:effectLst/>
                          <a:latin typeface="+mn-ea"/>
                          <a:ea typeface="+mn-ea"/>
                          <a:cs typeface="Times New Roman" panose="02020603050405020304" pitchFamily="18" charset="0"/>
                        </a:rPr>
                        <a:t> </a:t>
                      </a:r>
                      <a:endParaRPr lang="zh-CN" sz="1000" kern="100">
                        <a:effectLst/>
                        <a:latin typeface="+mn-ea"/>
                        <a:ea typeface="+mn-ea"/>
                        <a:cs typeface="Times New Roman" panose="02020603050405020304" pitchFamily="18" charset="0"/>
                      </a:endParaRPr>
                    </a:p>
                    <a:p>
                      <a:pPr algn="ctr"/>
                      <a:r>
                        <a:rPr lang="en-US" sz="1000" kern="100">
                          <a:solidFill>
                            <a:srgbClr val="FF0000"/>
                          </a:solidFill>
                          <a:effectLst/>
                          <a:latin typeface="+mn-ea"/>
                          <a:ea typeface="+mn-ea"/>
                          <a:cs typeface="Times New Roman" panose="02020603050405020304" pitchFamily="18" charset="0"/>
                        </a:rPr>
                        <a:t>15 mg/kg</a:t>
                      </a:r>
                      <a:endParaRPr lang="zh-CN" sz="1000" kern="100">
                        <a:solidFill>
                          <a:srgbClr val="FF0000"/>
                        </a:solidFill>
                        <a:effectLst/>
                        <a:latin typeface="+mn-ea"/>
                        <a:ea typeface="+mn-ea"/>
                        <a:cs typeface="Times New Roman" panose="02020603050405020304" pitchFamily="18" charset="0"/>
                      </a:endParaRPr>
                    </a:p>
                    <a:p>
                      <a:pPr algn="ctr"/>
                      <a:r>
                        <a:rPr lang="zh-CN" sz="1000" kern="100">
                          <a:solidFill>
                            <a:srgbClr val="FF0000"/>
                          </a:solidFill>
                          <a:effectLst/>
                          <a:latin typeface="+mn-ea"/>
                          <a:ea typeface="+mn-ea"/>
                          <a:cs typeface="Times New Roman" panose="02020603050405020304" pitchFamily="18" charset="0"/>
                        </a:rPr>
                        <a:t>头孢他啶</a:t>
                      </a: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0.36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2.7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36719776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75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0.45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3.3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4009497051"/>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90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0.54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748444290"/>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7</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105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0.63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4.6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276626472"/>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8</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120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0.72</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5.3</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2893584935"/>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135</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0.81</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413173107"/>
                  </a:ext>
                </a:extLst>
              </a:tr>
              <a:tr h="194096">
                <a:tc vMerge="1">
                  <a:txBody>
                    <a:bodyPr/>
                    <a:lstStyle/>
                    <a:p>
                      <a:pPr algn="ctr"/>
                      <a:endParaRPr lang="zh-CN" sz="1000" kern="100">
                        <a:effectLst/>
                        <a:latin typeface="Arial" panose="020B0604020202020204" pitchFamily="34" charset="0"/>
                        <a:ea typeface="微软雅黑" panose="020B0503020204020204" pitchFamily="34" charset="-122"/>
                        <a:cs typeface="Times New Roman" panose="02020603050405020304" pitchFamily="18" charset="0"/>
                      </a:endParaRPr>
                    </a:p>
                  </a:txBody>
                  <a:tcPr marL="68580" marR="68580" marT="0" marB="0" anchor="ctr"/>
                </a:tc>
                <a:tc vMerge="1">
                  <a:txBody>
                    <a:bodyPr/>
                    <a:lstStyle/>
                    <a:p>
                      <a:endParaRPr lang="zh-CN" altLang="en-US"/>
                    </a:p>
                  </a:txBody>
                  <a:tcPr/>
                </a:tc>
                <a:tc>
                  <a:txBody>
                    <a:bodyPr/>
                    <a:lstStyle/>
                    <a:p>
                      <a:pPr algn="ctr"/>
                      <a:r>
                        <a:rPr lang="en-US" sz="1000" kern="100">
                          <a:solidFill>
                            <a:srgbClr val="000000"/>
                          </a:solidFill>
                          <a:effectLst/>
                          <a:latin typeface="+mn-ea"/>
                          <a:ea typeface="+mn-ea"/>
                          <a:cs typeface="Times New Roman" panose="02020603050405020304" pitchFamily="18" charset="0"/>
                        </a:rPr>
                        <a:t>10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150</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0.9</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tc>
                  <a:txBody>
                    <a:bodyPr/>
                    <a:lstStyle/>
                    <a:p>
                      <a:pPr algn="ctr"/>
                      <a:r>
                        <a:rPr lang="en-US" sz="1000" kern="100">
                          <a:solidFill>
                            <a:srgbClr val="000000"/>
                          </a:solidFill>
                          <a:effectLst/>
                          <a:latin typeface="+mn-ea"/>
                          <a:ea typeface="+mn-ea"/>
                          <a:cs typeface="Times New Roman" panose="02020603050405020304" pitchFamily="18" charset="0"/>
                        </a:rPr>
                        <a:t>6.6</a:t>
                      </a:r>
                      <a:endParaRPr lang="zh-CN" sz="1000" kern="100">
                        <a:effectLst/>
                        <a:latin typeface="+mn-ea"/>
                        <a:ea typeface="+mn-ea"/>
                        <a:cs typeface="Times New Roman" panose="02020603050405020304" pitchFamily="18" charset="0"/>
                      </a:endParaRPr>
                    </a:p>
                  </a:txBody>
                  <a:tcPr marL="68580" marR="68580" marT="0" marB="0" anchor="ctr">
                    <a:solidFill>
                      <a:schemeClr val="bg1">
                        <a:lumMod val="95000"/>
                      </a:schemeClr>
                    </a:solidFill>
                  </a:tcPr>
                </a:tc>
                <a:extLst>
                  <a:ext uri="{0D108BD9-81ED-4DB2-BD59-A6C34878D82A}">
                    <a16:rowId xmlns:a16="http://schemas.microsoft.com/office/drawing/2014/main" val="1121386073"/>
                  </a:ext>
                </a:extLst>
              </a:tr>
            </a:tbl>
          </a:graphicData>
        </a:graphic>
      </p:graphicFrame>
      <p:sp>
        <p:nvSpPr>
          <p:cNvPr id="16" name="文本框 15">
            <a:extLst>
              <a:ext uri="{FF2B5EF4-FFF2-40B4-BE49-F238E27FC236}">
                <a16:creationId xmlns:a16="http://schemas.microsoft.com/office/drawing/2014/main" id="{4BF14411-DD01-8B2A-197F-DEA8623DAB04}"/>
              </a:ext>
            </a:extLst>
          </p:cNvPr>
          <p:cNvSpPr txBox="1"/>
          <p:nvPr/>
        </p:nvSpPr>
        <p:spPr>
          <a:xfrm>
            <a:off x="218185" y="10610193"/>
            <a:ext cx="3433762" cy="276999"/>
          </a:xfrm>
          <a:prstGeom prst="rect">
            <a:avLst/>
          </a:prstGeom>
          <a:noFill/>
        </p:spPr>
        <p:txBody>
          <a:bodyPr wrap="square">
            <a:spAutoFit/>
          </a:bodyPr>
          <a:lstStyle>
            <a:defPPr>
              <a:defRPr lang="en-US"/>
            </a:defPPr>
            <a:lvl1pPr marL="228600" indent="-228600">
              <a:buFont typeface="+mj-lt"/>
              <a:buAutoNum type="arabicPeriod"/>
              <a:defRPr sz="600">
                <a:solidFill>
                  <a:schemeClr val="tx1">
                    <a:lumMod val="50000"/>
                    <a:lumOff val="50000"/>
                  </a:schemeClr>
                </a:solidFill>
                <a:cs typeface="+mn-ea"/>
              </a:defRPr>
            </a:lvl1pPr>
          </a:lstStyle>
          <a:p>
            <a:r>
              <a:rPr lang="en-US" altLang="zh-CN" sz="600">
                <a:solidFill>
                  <a:schemeClr val="tx1">
                    <a:lumMod val="50000"/>
                    <a:lumOff val="50000"/>
                  </a:schemeClr>
                </a:solidFill>
                <a:cs typeface="+mn-ea"/>
                <a:sym typeface="+mn-lt"/>
              </a:rPr>
              <a:t>CrCL </a:t>
            </a:r>
            <a:r>
              <a:rPr lang="zh-CN" altLang="en-US" sz="600">
                <a:solidFill>
                  <a:schemeClr val="tx1">
                    <a:lumMod val="50000"/>
                    <a:lumOff val="50000"/>
                  </a:schemeClr>
                </a:solidFill>
                <a:cs typeface="+mn-ea"/>
                <a:sym typeface="+mn-lt"/>
              </a:rPr>
              <a:t>使用 </a:t>
            </a:r>
            <a:r>
              <a:rPr lang="en-US" altLang="zh-CN" sz="600">
                <a:solidFill>
                  <a:schemeClr val="tx1">
                    <a:lumMod val="50000"/>
                    <a:lumOff val="50000"/>
                  </a:schemeClr>
                </a:solidFill>
                <a:cs typeface="+mn-ea"/>
                <a:sym typeface="+mn-lt"/>
              </a:rPr>
              <a:t>Schwartz bedside</a:t>
            </a:r>
            <a:r>
              <a:rPr lang="zh-CN" altLang="en-US" sz="600">
                <a:solidFill>
                  <a:schemeClr val="tx1">
                    <a:lumMod val="50000"/>
                    <a:lumOff val="50000"/>
                  </a:schemeClr>
                </a:solidFill>
                <a:cs typeface="+mn-ea"/>
                <a:sym typeface="+mn-lt"/>
              </a:rPr>
              <a:t>公式估算</a:t>
            </a:r>
          </a:p>
          <a:p>
            <a:r>
              <a:rPr lang="zh-CN" altLang="zh-CN"/>
              <a:t>仅基于头孢他啶成份</a:t>
            </a:r>
            <a:endParaRPr lang="zh-CN" altLang="en-US"/>
          </a:p>
        </p:txBody>
      </p:sp>
      <p:sp>
        <p:nvSpPr>
          <p:cNvPr id="2" name="文本框 1">
            <a:extLst>
              <a:ext uri="{FF2B5EF4-FFF2-40B4-BE49-F238E27FC236}">
                <a16:creationId xmlns:a16="http://schemas.microsoft.com/office/drawing/2014/main" id="{15C1D934-C979-75BE-8014-E4A7B36DF7F7}"/>
              </a:ext>
            </a:extLst>
          </p:cNvPr>
          <p:cNvSpPr txBox="1"/>
          <p:nvPr/>
        </p:nvSpPr>
        <p:spPr>
          <a:xfrm>
            <a:off x="218185" y="11539732"/>
            <a:ext cx="3433762" cy="215444"/>
          </a:xfrm>
          <a:prstGeom prst="rect">
            <a:avLst/>
          </a:prstGeom>
          <a:noFill/>
        </p:spPr>
        <p:txBody>
          <a:bodyPr wrap="square">
            <a:spAutoFit/>
          </a:bodyPr>
          <a:lstStyle>
            <a:defPPr>
              <a:defRPr lang="en-US"/>
            </a:defPPr>
            <a:lvl1pPr marL="228600" indent="-228600">
              <a:buFont typeface="+mj-lt"/>
              <a:buAutoNum type="arabicPeriod"/>
              <a:defRPr sz="600">
                <a:solidFill>
                  <a:schemeClr val="tx1">
                    <a:lumMod val="50000"/>
                    <a:lumOff val="50000"/>
                  </a:schemeClr>
                </a:solidFill>
                <a:cs typeface="+mn-ea"/>
              </a:defRPr>
            </a:lvl1pPr>
          </a:lstStyle>
          <a:p>
            <a:r>
              <a:rPr lang="zh-CN" altLang="en-US" sz="800">
                <a:sym typeface="思源黑体 CN Regular" panose="020B0500000000000000" pitchFamily="34" charset="-122"/>
              </a:rPr>
              <a:t>思福妥（头孢他啶阿维巴坦）</a:t>
            </a:r>
            <a:r>
              <a:rPr lang="en-US" altLang="zh-CN" sz="800">
                <a:sym typeface="思源黑体 CN Regular" panose="020B0500000000000000" pitchFamily="34" charset="-122"/>
              </a:rPr>
              <a:t>-NMPA</a:t>
            </a:r>
            <a:r>
              <a:rPr lang="zh-CN" altLang="en-US" sz="800">
                <a:sym typeface="思源黑体 CN Regular" panose="020B0500000000000000" pitchFamily="34" charset="-122"/>
              </a:rPr>
              <a:t>说明书（</a:t>
            </a:r>
            <a:r>
              <a:rPr lang="en-US" altLang="zh-CN" sz="800">
                <a:sym typeface="思源黑体 CN Regular" panose="020B0500000000000000" pitchFamily="34" charset="-122"/>
              </a:rPr>
              <a:t>2021</a:t>
            </a:r>
            <a:r>
              <a:rPr lang="zh-CN" altLang="en-US" sz="800">
                <a:sym typeface="思源黑体 CN Regular" panose="020B0500000000000000" pitchFamily="34" charset="-122"/>
              </a:rPr>
              <a:t>年</a:t>
            </a:r>
            <a:r>
              <a:rPr lang="en-US" altLang="zh-CN" sz="800">
                <a:sym typeface="思源黑体 CN Regular" panose="020B0500000000000000" pitchFamily="34" charset="-122"/>
              </a:rPr>
              <a:t>6</a:t>
            </a:r>
            <a:r>
              <a:rPr lang="zh-CN" altLang="en-US" sz="800">
                <a:sym typeface="思源黑体 CN Regular" panose="020B0500000000000000" pitchFamily="34" charset="-122"/>
              </a:rPr>
              <a:t>月</a:t>
            </a:r>
            <a:r>
              <a:rPr lang="en-US" altLang="zh-CN" sz="800">
                <a:sym typeface="思源黑体 CN Regular" panose="020B0500000000000000" pitchFamily="34" charset="-122"/>
              </a:rPr>
              <a:t>2</a:t>
            </a:r>
            <a:r>
              <a:rPr lang="zh-CN" altLang="en-US" sz="800">
                <a:sym typeface="思源黑体 CN Regular" panose="020B0500000000000000" pitchFamily="34" charset="-122"/>
              </a:rPr>
              <a:t>日）</a:t>
            </a:r>
            <a:endParaRPr lang="zh-CN" altLang="en-US" sz="800" dirty="0">
              <a:sym typeface="思源黑体 CN Regular" panose="020B0500000000000000" pitchFamily="34" charset="-122"/>
            </a:endParaRPr>
          </a:p>
        </p:txBody>
      </p:sp>
    </p:spTree>
    <p:extLst>
      <p:ext uri="{BB962C8B-B14F-4D97-AF65-F5344CB8AC3E}">
        <p14:creationId xmlns:p14="http://schemas.microsoft.com/office/powerpoint/2010/main" val="1919093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7BF7EC1-00D4-28CD-AB9D-4BA5831B172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96236" y="30875"/>
            <a:ext cx="561975" cy="400050"/>
          </a:xfrm>
          <a:prstGeom prst="rect">
            <a:avLst/>
          </a:prstGeom>
        </p:spPr>
      </p:pic>
      <p:pic>
        <p:nvPicPr>
          <p:cNvPr id="4" name="图片 3">
            <a:extLst>
              <a:ext uri="{FF2B5EF4-FFF2-40B4-BE49-F238E27FC236}">
                <a16:creationId xmlns:a16="http://schemas.microsoft.com/office/drawing/2014/main" id="{8381BEFD-4665-71AE-C8BD-00EFF22076E0}"/>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837839" y="30875"/>
            <a:ext cx="923925" cy="400050"/>
          </a:xfrm>
          <a:prstGeom prst="rect">
            <a:avLst/>
          </a:prstGeom>
        </p:spPr>
      </p:pic>
      <p:grpSp>
        <p:nvGrpSpPr>
          <p:cNvPr id="5" name="组合 4">
            <a:extLst>
              <a:ext uri="{FF2B5EF4-FFF2-40B4-BE49-F238E27FC236}">
                <a16:creationId xmlns:a16="http://schemas.microsoft.com/office/drawing/2014/main" id="{ADC60169-656B-6E5E-BFEF-C6978C6E5C42}"/>
              </a:ext>
            </a:extLst>
          </p:cNvPr>
          <p:cNvGrpSpPr/>
          <p:nvPr/>
        </p:nvGrpSpPr>
        <p:grpSpPr>
          <a:xfrm>
            <a:off x="0" y="10451701"/>
            <a:ext cx="6858000" cy="1772488"/>
            <a:chOff x="0" y="4275130"/>
            <a:chExt cx="5143500" cy="1822310"/>
          </a:xfrm>
        </p:grpSpPr>
        <p:sp>
          <p:nvSpPr>
            <p:cNvPr id="6" name="任意多边形: 形状 5">
              <a:extLst>
                <a:ext uri="{FF2B5EF4-FFF2-40B4-BE49-F238E27FC236}">
                  <a16:creationId xmlns:a16="http://schemas.microsoft.com/office/drawing/2014/main" id="{A469A7A6-3A10-22DD-20D5-59F7910232E8}"/>
                </a:ext>
              </a:extLst>
            </p:cNvPr>
            <p:cNvSpPr/>
            <p:nvPr/>
          </p:nvSpPr>
          <p:spPr>
            <a:xfrm>
              <a:off x="0" y="4275130"/>
              <a:ext cx="5143500" cy="1700617"/>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EDB9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sp>
          <p:nvSpPr>
            <p:cNvPr id="7" name="任意多边形: 形状 6">
              <a:extLst>
                <a:ext uri="{FF2B5EF4-FFF2-40B4-BE49-F238E27FC236}">
                  <a16:creationId xmlns:a16="http://schemas.microsoft.com/office/drawing/2014/main" id="{E6594966-8CD5-7160-6404-CEFCFCC91644}"/>
                </a:ext>
              </a:extLst>
            </p:cNvPr>
            <p:cNvSpPr/>
            <p:nvPr/>
          </p:nvSpPr>
          <p:spPr>
            <a:xfrm>
              <a:off x="0" y="4438077"/>
              <a:ext cx="5143500" cy="1659363"/>
            </a:xfrm>
            <a:custGeom>
              <a:avLst/>
              <a:gdLst>
                <a:gd name="connsiteX0" fmla="*/ 12192000 w 12192000"/>
                <a:gd name="connsiteY0" fmla="*/ 0 h 4031093"/>
                <a:gd name="connsiteX1" fmla="*/ 12192000 w 12192000"/>
                <a:gd name="connsiteY1" fmla="*/ 4031093 h 4031093"/>
                <a:gd name="connsiteX2" fmla="*/ 0 w 12192000"/>
                <a:gd name="connsiteY2" fmla="*/ 4031093 h 4031093"/>
                <a:gd name="connsiteX3" fmla="*/ 0 w 12192000"/>
                <a:gd name="connsiteY3" fmla="*/ 3348439 h 4031093"/>
                <a:gd name="connsiteX4" fmla="*/ 122292 w 12192000"/>
                <a:gd name="connsiteY4" fmla="*/ 3377203 h 4031093"/>
                <a:gd name="connsiteX5" fmla="*/ 5797196 w 12192000"/>
                <a:gd name="connsiteY5" fmla="*/ 3235512 h 4031093"/>
                <a:gd name="connsiteX6" fmla="*/ 12048346 w 12192000"/>
                <a:gd name="connsiteY6" fmla="*/ 170589 h 4031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031093">
                  <a:moveTo>
                    <a:pt x="12192000" y="0"/>
                  </a:moveTo>
                  <a:lnTo>
                    <a:pt x="12192000" y="4031093"/>
                  </a:lnTo>
                  <a:lnTo>
                    <a:pt x="0" y="4031093"/>
                  </a:lnTo>
                  <a:lnTo>
                    <a:pt x="0" y="3348439"/>
                  </a:lnTo>
                  <a:lnTo>
                    <a:pt x="122292" y="3377203"/>
                  </a:lnTo>
                  <a:cubicBezTo>
                    <a:pt x="1652319" y="3707976"/>
                    <a:pt x="3664839" y="3686880"/>
                    <a:pt x="5797196" y="3235512"/>
                  </a:cubicBezTo>
                  <a:cubicBezTo>
                    <a:pt x="8595915" y="2643092"/>
                    <a:pt x="10905567" y="1456682"/>
                    <a:pt x="12048346" y="170589"/>
                  </a:cubicBezTo>
                  <a:close/>
                </a:path>
              </a:pathLst>
            </a:custGeom>
            <a:solidFill>
              <a:srgbClr val="1986A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385785" rtl="0" eaLnBrk="1" fontAlgn="auto" latinLnBrk="0" hangingPunct="1">
                <a:lnSpc>
                  <a:spcPct val="100000"/>
                </a:lnSpc>
                <a:spcBef>
                  <a:spcPts val="0"/>
                </a:spcBef>
                <a:spcAft>
                  <a:spcPts val="0"/>
                </a:spcAft>
                <a:buClrTx/>
                <a:buSzTx/>
                <a:buFontTx/>
                <a:buNone/>
                <a:tabLst/>
                <a:defRPr/>
              </a:pPr>
              <a:endParaRPr kumimoji="0" lang="zh-CN" altLang="en-US" sz="759" b="0" i="0" u="none" strike="noStrike" kern="1200" cap="none" spc="0" normalizeH="0" baseline="0" noProof="0">
                <a:ln>
                  <a:noFill/>
                </a:ln>
                <a:solidFill>
                  <a:prstClr val="white"/>
                </a:solidFill>
                <a:effectLst/>
                <a:uLnTx/>
                <a:uFillTx/>
                <a:cs typeface="+mn-ea"/>
                <a:sym typeface="+mn-lt"/>
              </a:endParaRPr>
            </a:p>
          </p:txBody>
        </p:sp>
      </p:grpSp>
      <p:grpSp>
        <p:nvGrpSpPr>
          <p:cNvPr id="20" name="组合 19">
            <a:extLst>
              <a:ext uri="{FF2B5EF4-FFF2-40B4-BE49-F238E27FC236}">
                <a16:creationId xmlns:a16="http://schemas.microsoft.com/office/drawing/2014/main" id="{465CD7C1-4789-663A-5EC4-78446A24E18C}"/>
              </a:ext>
            </a:extLst>
          </p:cNvPr>
          <p:cNvGrpSpPr/>
          <p:nvPr/>
        </p:nvGrpSpPr>
        <p:grpSpPr>
          <a:xfrm>
            <a:off x="5393100" y="10784031"/>
            <a:ext cx="1173349" cy="1366351"/>
            <a:chOff x="6381750" y="1300647"/>
            <a:chExt cx="4105606" cy="5569683"/>
          </a:xfrm>
        </p:grpSpPr>
        <p:sp>
          <p:nvSpPr>
            <p:cNvPr id="21" name="文本框 20">
              <a:extLst>
                <a:ext uri="{FF2B5EF4-FFF2-40B4-BE49-F238E27FC236}">
                  <a16:creationId xmlns:a16="http://schemas.microsoft.com/office/drawing/2014/main" id="{0D49F690-C60D-C17A-3ABF-682886ED4653}"/>
                </a:ext>
              </a:extLst>
            </p:cNvPr>
            <p:cNvSpPr txBox="1"/>
            <p:nvPr/>
          </p:nvSpPr>
          <p:spPr>
            <a:xfrm>
              <a:off x="6507688" y="5364815"/>
              <a:ext cx="3979668" cy="1505515"/>
            </a:xfrm>
            <a:prstGeom prst="rect">
              <a:avLst/>
            </a:prstGeom>
            <a:noFill/>
          </p:spPr>
          <p:txBody>
            <a:bodyPr wrap="square" rtlCol="0">
              <a:spAutoFit/>
            </a:bodyPr>
            <a:lstStyle>
              <a:defPPr>
                <a:defRPr lang="zh-CN"/>
              </a:defPPr>
              <a:lvl1pPr algn="ctr">
                <a:defRPr>
                  <a:solidFill>
                    <a:schemeClr val="bg1"/>
                  </a:solidFill>
                  <a:latin typeface="微软雅黑" panose="020B0503020204020204" pitchFamily="34" charset="-122"/>
                  <a:ea typeface="微软雅黑" panose="020B0503020204020204" pitchFamily="34" charset="-122"/>
                  <a:cs typeface="+mn-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mn-lt"/>
                  <a:ea typeface="+mn-ea"/>
                  <a:sym typeface="+mn-lt"/>
                </a:rPr>
                <a:t>思福妥</a:t>
              </a:r>
              <a:r>
                <a:rPr kumimoji="0" lang="en-US" altLang="zh-CN" sz="900" b="0" i="0" u="none" strike="noStrike" kern="0" cap="none" spc="0" normalizeH="0" baseline="30000" noProof="0">
                  <a:ln>
                    <a:noFill/>
                  </a:ln>
                  <a:solidFill>
                    <a:prstClr val="white"/>
                  </a:solidFill>
                  <a:effectLst/>
                  <a:uLnTx/>
                  <a:uFillTx/>
                  <a:latin typeface="+mn-lt"/>
                  <a:ea typeface="+mn-ea"/>
                  <a:sym typeface="+mn-lt"/>
                </a:rPr>
                <a:t>®</a:t>
              </a:r>
              <a:r>
                <a:rPr kumimoji="0" lang="zh-CN" altLang="en-US" sz="900" b="0" i="0" u="none" strike="noStrike" kern="0" cap="none" spc="0" normalizeH="0" baseline="0" noProof="0">
                  <a:ln>
                    <a:noFill/>
                  </a:ln>
                  <a:solidFill>
                    <a:prstClr val="white"/>
                  </a:solidFill>
                  <a:effectLst/>
                  <a:uLnTx/>
                  <a:uFillTx/>
                  <a:latin typeface="+mn-lt"/>
                  <a:ea typeface="+mn-ea"/>
                  <a:sym typeface="+mn-lt"/>
                </a:rPr>
                <a:t>说明书</a:t>
              </a:r>
              <a:endParaRPr kumimoji="0" lang="en-US" altLang="zh-CN" sz="900" b="0" i="0" u="none" strike="noStrike" kern="0" cap="none" spc="0" normalizeH="0" baseline="0" noProof="0">
                <a:ln>
                  <a:noFill/>
                </a:ln>
                <a:solidFill>
                  <a:prstClr val="white"/>
                </a:solidFill>
                <a:effectLst/>
                <a:uLnTx/>
                <a:uFillTx/>
                <a:latin typeface="+mn-lt"/>
                <a:ea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a:ln>
                    <a:noFill/>
                  </a:ln>
                  <a:solidFill>
                    <a:prstClr val="white"/>
                  </a:solidFill>
                  <a:effectLst/>
                  <a:uLnTx/>
                  <a:uFillTx/>
                  <a:latin typeface="+mn-lt"/>
                  <a:ea typeface="+mn-ea"/>
                  <a:sym typeface="+mn-lt"/>
                </a:rPr>
                <a:t>-</a:t>
              </a:r>
              <a:r>
                <a:rPr kumimoji="0" lang="zh-CN" altLang="en-US" sz="900" b="0" i="0" u="none" strike="noStrike" kern="0" cap="none" spc="0" normalizeH="0" baseline="0" noProof="0" dirty="0">
                  <a:ln>
                    <a:noFill/>
                  </a:ln>
                  <a:solidFill>
                    <a:prstClr val="white"/>
                  </a:solidFill>
                  <a:effectLst/>
                  <a:uLnTx/>
                  <a:uFillTx/>
                  <a:latin typeface="+mn-lt"/>
                  <a:ea typeface="+mn-ea"/>
                  <a:sym typeface="+mn-lt"/>
                </a:rPr>
                <a:t>移动端</a:t>
              </a:r>
              <a:endParaRPr kumimoji="0" lang="en-US" altLang="zh-CN" sz="900" b="0" i="0" u="none" strike="noStrike" kern="0" cap="none" spc="0" normalizeH="0" baseline="0" noProof="0" dirty="0">
                <a:ln>
                  <a:noFill/>
                </a:ln>
                <a:solidFill>
                  <a:prstClr val="white"/>
                </a:solidFill>
                <a:effectLst/>
                <a:uLnTx/>
                <a:uFillTx/>
                <a:latin typeface="+mn-lt"/>
                <a:ea typeface="+mn-ea"/>
                <a:sym typeface="+mn-lt"/>
              </a:endParaRPr>
            </a:p>
          </p:txBody>
        </p:sp>
        <p:grpSp>
          <p:nvGrpSpPr>
            <p:cNvPr id="22" name="组合 21">
              <a:extLst>
                <a:ext uri="{FF2B5EF4-FFF2-40B4-BE49-F238E27FC236}">
                  <a16:creationId xmlns:a16="http://schemas.microsoft.com/office/drawing/2014/main" id="{26D5A06D-02B2-F004-2A36-845022F7AD28}"/>
                </a:ext>
              </a:extLst>
            </p:cNvPr>
            <p:cNvGrpSpPr/>
            <p:nvPr/>
          </p:nvGrpSpPr>
          <p:grpSpPr>
            <a:xfrm>
              <a:off x="6381750" y="1300647"/>
              <a:ext cx="3979668" cy="3897237"/>
              <a:chOff x="6096000" y="1364958"/>
              <a:chExt cx="3979668" cy="3897237"/>
            </a:xfrm>
          </p:grpSpPr>
          <p:grpSp>
            <p:nvGrpSpPr>
              <p:cNvPr id="23" name="组合 22">
                <a:extLst>
                  <a:ext uri="{FF2B5EF4-FFF2-40B4-BE49-F238E27FC236}">
                    <a16:creationId xmlns:a16="http://schemas.microsoft.com/office/drawing/2014/main" id="{1323C85E-DECB-2894-5A2E-0A4046D26F73}"/>
                  </a:ext>
                </a:extLst>
              </p:cNvPr>
              <p:cNvGrpSpPr/>
              <p:nvPr/>
            </p:nvGrpSpPr>
            <p:grpSpPr>
              <a:xfrm>
                <a:off x="6096000" y="1364958"/>
                <a:ext cx="3979668" cy="3897237"/>
                <a:chOff x="4004517" y="1458686"/>
                <a:chExt cx="4182967" cy="4013200"/>
              </a:xfrm>
            </p:grpSpPr>
            <p:sp>
              <p:nvSpPr>
                <p:cNvPr id="25" name="矩形: 圆角 24">
                  <a:extLst>
                    <a:ext uri="{FF2B5EF4-FFF2-40B4-BE49-F238E27FC236}">
                      <a16:creationId xmlns:a16="http://schemas.microsoft.com/office/drawing/2014/main" id="{E129AB70-D223-C623-EDDF-1CF6A5BFB5C5}"/>
                    </a:ext>
                  </a:extLst>
                </p:cNvPr>
                <p:cNvSpPr/>
                <p:nvPr/>
              </p:nvSpPr>
              <p:spPr>
                <a:xfrm>
                  <a:off x="4004517" y="1458686"/>
                  <a:ext cx="4182967" cy="4013200"/>
                </a:xfrm>
                <a:prstGeom prst="roundRect">
                  <a:avLst>
                    <a:gd name="adj" fmla="val 2649"/>
                  </a:avLst>
                </a:prstGeom>
                <a:solidFill>
                  <a:sysClr val="window" lastClr="FFFFFF">
                    <a:alpha val="11000"/>
                  </a:sysClr>
                </a:solidFill>
                <a:ln w="12700" cap="flat" cmpd="sng" algn="ctr">
                  <a:solidFill>
                    <a:srgbClr val="D0EEF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prstClr val="white"/>
                    </a:solidFill>
                    <a:effectLst>
                      <a:outerShdw blurRad="50800" dist="850900" dir="5400000" algn="t" rotWithShape="0">
                        <a:prstClr val="black">
                          <a:alpha val="40000"/>
                        </a:prstClr>
                      </a:outerShdw>
                    </a:effectLst>
                    <a:uLnTx/>
                    <a:uFillTx/>
                    <a:cs typeface="+mn-ea"/>
                    <a:sym typeface="+mn-lt"/>
                  </a:endParaRPr>
                </a:p>
              </p:txBody>
            </p:sp>
            <p:sp>
              <p:nvSpPr>
                <p:cNvPr id="26" name="矩形: 圆角 25">
                  <a:extLst>
                    <a:ext uri="{FF2B5EF4-FFF2-40B4-BE49-F238E27FC236}">
                      <a16:creationId xmlns:a16="http://schemas.microsoft.com/office/drawing/2014/main" id="{669E8EB3-0D36-B211-36BF-70B07BABABBC}"/>
                    </a:ext>
                  </a:extLst>
                </p:cNvPr>
                <p:cNvSpPr/>
                <p:nvPr/>
              </p:nvSpPr>
              <p:spPr>
                <a:xfrm>
                  <a:off x="4136890" y="1585687"/>
                  <a:ext cx="3918221" cy="3759199"/>
                </a:xfrm>
                <a:prstGeom prst="roundRect">
                  <a:avLst>
                    <a:gd name="adj" fmla="val 2649"/>
                  </a:avLst>
                </a:prstGeom>
                <a:solidFill>
                  <a:sysClr val="window" lastClr="FFFFFF"/>
                </a:solidFill>
                <a:ln w="12700" cap="flat" cmpd="sng" algn="ctr">
                  <a:noFill/>
                  <a:prstDash val="solid"/>
                  <a:miter lim="800000"/>
                </a:ln>
                <a:effectLst>
                  <a:outerShdw blurRad="304800" dist="88900" dir="5400000" algn="t" rotWithShape="0">
                    <a:srgbClr val="1986A6">
                      <a:alpha val="16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800" b="0" i="0" u="none" strike="noStrike" kern="0" cap="none" spc="0" normalizeH="0" baseline="0" noProof="0" dirty="0">
                    <a:ln>
                      <a:noFill/>
                    </a:ln>
                    <a:solidFill>
                      <a:prstClr val="white"/>
                    </a:solidFill>
                    <a:effectLst>
                      <a:outerShdw blurRad="50800" dist="850900" dir="5400000" algn="t" rotWithShape="0">
                        <a:prstClr val="black">
                          <a:alpha val="40000"/>
                        </a:prstClr>
                      </a:outerShdw>
                    </a:effectLst>
                    <a:uLnTx/>
                    <a:uFillTx/>
                    <a:cs typeface="+mn-ea"/>
                    <a:sym typeface="+mn-lt"/>
                  </a:endParaRPr>
                </a:p>
              </p:txBody>
            </p:sp>
          </p:grpSp>
          <p:pic>
            <p:nvPicPr>
              <p:cNvPr id="24" name="图片 23">
                <a:extLst>
                  <a:ext uri="{FF2B5EF4-FFF2-40B4-BE49-F238E27FC236}">
                    <a16:creationId xmlns:a16="http://schemas.microsoft.com/office/drawing/2014/main" id="{F5DDAD93-B59B-2EF2-02A4-818ED87DE6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20834" y="1648576"/>
                <a:ext cx="3330000" cy="3330000"/>
              </a:xfrm>
              <a:prstGeom prst="rect">
                <a:avLst/>
              </a:prstGeom>
            </p:spPr>
          </p:pic>
        </p:grpSp>
      </p:grpSp>
      <p:grpSp>
        <p:nvGrpSpPr>
          <p:cNvPr id="27" name="组合 26">
            <a:extLst>
              <a:ext uri="{FF2B5EF4-FFF2-40B4-BE49-F238E27FC236}">
                <a16:creationId xmlns:a16="http://schemas.microsoft.com/office/drawing/2014/main" id="{06207457-1DFB-F064-79CB-EFC9DEBFB1CD}"/>
              </a:ext>
            </a:extLst>
          </p:cNvPr>
          <p:cNvGrpSpPr/>
          <p:nvPr/>
        </p:nvGrpSpPr>
        <p:grpSpPr>
          <a:xfrm>
            <a:off x="339818" y="10589920"/>
            <a:ext cx="4592865" cy="861238"/>
            <a:chOff x="76200" y="7577829"/>
            <a:chExt cx="4271993" cy="861238"/>
          </a:xfrm>
        </p:grpSpPr>
        <p:sp>
          <p:nvSpPr>
            <p:cNvPr id="28" name="文本框 27">
              <a:extLst>
                <a:ext uri="{FF2B5EF4-FFF2-40B4-BE49-F238E27FC236}">
                  <a16:creationId xmlns:a16="http://schemas.microsoft.com/office/drawing/2014/main" id="{19EC2DD5-E978-0D44-3A63-6F5F89BDF319}"/>
                </a:ext>
              </a:extLst>
            </p:cNvPr>
            <p:cNvSpPr txBox="1"/>
            <p:nvPr/>
          </p:nvSpPr>
          <p:spPr>
            <a:xfrm>
              <a:off x="76200" y="7802169"/>
              <a:ext cx="1841500" cy="63094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cs typeface="+mn-ea"/>
                  <a:sym typeface="+mn-lt"/>
                </a:rPr>
                <a:t>上海办事处地址:上海市南京西路1168号中信泰富广场36层</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cs typeface="+mn-ea"/>
                  <a:sym typeface="+mn-lt"/>
                </a:rPr>
                <a:t>邮编:200041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cs typeface="+mn-ea"/>
                  <a:sym typeface="+mn-lt"/>
                </a:rPr>
                <a:t>电话:(86)(21)22316800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cs typeface="+mn-ea"/>
                  <a:sym typeface="+mn-lt"/>
                </a:rPr>
                <a:t>传真:(86)(21)52925462</a:t>
              </a:r>
            </a:p>
          </p:txBody>
        </p:sp>
        <p:sp>
          <p:nvSpPr>
            <p:cNvPr id="29" name="文本框 28">
              <a:extLst>
                <a:ext uri="{FF2B5EF4-FFF2-40B4-BE49-F238E27FC236}">
                  <a16:creationId xmlns:a16="http://schemas.microsoft.com/office/drawing/2014/main" id="{0F6D1189-C184-F612-7779-16F098AEE42D}"/>
                </a:ext>
              </a:extLst>
            </p:cNvPr>
            <p:cNvSpPr txBox="1"/>
            <p:nvPr/>
          </p:nvSpPr>
          <p:spPr>
            <a:xfrm>
              <a:off x="2203436" y="7808125"/>
              <a:ext cx="2144757" cy="630942"/>
            </a:xfrm>
            <a:prstGeom prst="rect">
              <a:avLst/>
            </a:prstGeom>
            <a:noFill/>
          </p:spPr>
          <p:txBody>
            <a:bodyPr wrap="square">
              <a:spAutoFit/>
            </a:bodyPr>
            <a:lstStyle>
              <a:defPPr>
                <a:defRPr lang="en-US"/>
              </a:defPPr>
              <a:lvl1pPr>
                <a:defRPr sz="500">
                  <a:solidFill>
                    <a:schemeClr val="tx1">
                      <a:lumMod val="65000"/>
                      <a:lumOff val="35000"/>
                    </a:schemeClr>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sym typeface="+mn-lt"/>
                </a:rPr>
                <a:t>北京办事处地址</a:t>
              </a:r>
              <a:r>
                <a:rPr kumimoji="0" lang="en-US" altLang="zh-CN" sz="700" b="0" i="0" u="none" strike="noStrike" kern="0" cap="none" spc="0" normalizeH="0" baseline="0" noProof="0">
                  <a:ln>
                    <a:noFill/>
                  </a:ln>
                  <a:solidFill>
                    <a:prstClr val="black">
                      <a:lumMod val="65000"/>
                      <a:lumOff val="35000"/>
                    </a:prstClr>
                  </a:solidFill>
                  <a:effectLst/>
                  <a:uLnTx/>
                  <a:uFillTx/>
                  <a:sym typeface="+mn-lt"/>
                </a:rPr>
                <a:t>:</a:t>
              </a:r>
              <a:r>
                <a:rPr kumimoji="0" lang="zh-CN" altLang="en-US" sz="700" b="0" i="0" u="none" strike="noStrike" kern="0" cap="none" spc="0" normalizeH="0" baseline="0" noProof="0">
                  <a:ln>
                    <a:noFill/>
                  </a:ln>
                  <a:solidFill>
                    <a:prstClr val="black">
                      <a:lumMod val="65000"/>
                      <a:lumOff val="35000"/>
                    </a:prstClr>
                  </a:solidFill>
                  <a:effectLst/>
                  <a:uLnTx/>
                  <a:uFillTx/>
                  <a:sym typeface="+mn-lt"/>
                </a:rPr>
                <a:t>北京市东城区朝阳门北大街</a:t>
              </a:r>
              <a:r>
                <a:rPr kumimoji="0" lang="en-US" altLang="zh-CN" sz="700" b="0" i="0" u="none" strike="noStrike" kern="0" cap="none" spc="0" normalizeH="0" baseline="0" noProof="0">
                  <a:ln>
                    <a:noFill/>
                  </a:ln>
                  <a:solidFill>
                    <a:prstClr val="black">
                      <a:lumMod val="65000"/>
                      <a:lumOff val="35000"/>
                    </a:prstClr>
                  </a:solidFill>
                  <a:effectLst/>
                  <a:uLnTx/>
                  <a:uFillTx/>
                  <a:sym typeface="+mn-lt"/>
                </a:rPr>
                <a:t>3-7</a:t>
              </a:r>
              <a:r>
                <a:rPr kumimoji="0" lang="zh-CN" altLang="en-US" sz="700" b="0" i="0" u="none" strike="noStrike" kern="0" cap="none" spc="0" normalizeH="0" baseline="0" noProof="0">
                  <a:ln>
                    <a:noFill/>
                  </a:ln>
                  <a:solidFill>
                    <a:prstClr val="black">
                      <a:lumMod val="65000"/>
                      <a:lumOff val="35000"/>
                    </a:prstClr>
                  </a:solidFill>
                  <a:effectLst/>
                  <a:uLnTx/>
                  <a:uFillTx/>
                  <a:sym typeface="+mn-lt"/>
                </a:rPr>
                <a:t>号五矿广场</a:t>
              </a:r>
              <a:r>
                <a:rPr kumimoji="0" lang="en-US" altLang="zh-CN" sz="700" b="0" i="0" u="none" strike="noStrike" kern="0" cap="none" spc="0" normalizeH="0" baseline="0" noProof="0">
                  <a:ln>
                    <a:noFill/>
                  </a:ln>
                  <a:solidFill>
                    <a:prstClr val="black">
                      <a:lumMod val="65000"/>
                      <a:lumOff val="35000"/>
                    </a:prstClr>
                  </a:solidFill>
                  <a:effectLst/>
                  <a:uLnTx/>
                  <a:uFillTx/>
                  <a:sym typeface="+mn-lt"/>
                </a:rPr>
                <a:t>B</a:t>
              </a:r>
              <a:r>
                <a:rPr kumimoji="0" lang="zh-CN" altLang="en-US" sz="700" b="0" i="0" u="none" strike="noStrike" kern="0" cap="none" spc="0" normalizeH="0" baseline="0" noProof="0">
                  <a:ln>
                    <a:noFill/>
                  </a:ln>
                  <a:solidFill>
                    <a:prstClr val="black">
                      <a:lumMod val="65000"/>
                      <a:lumOff val="35000"/>
                    </a:prstClr>
                  </a:solidFill>
                  <a:effectLst/>
                  <a:uLnTx/>
                  <a:uFillTx/>
                  <a:sym typeface="+mn-lt"/>
                </a:rPr>
                <a:t>座</a:t>
              </a:r>
              <a:r>
                <a:rPr kumimoji="0" lang="en-US" altLang="zh-CN" sz="700" b="0" i="0" u="none" strike="noStrike" kern="0" cap="none" spc="0" normalizeH="0" baseline="0" noProof="0">
                  <a:ln>
                    <a:noFill/>
                  </a:ln>
                  <a:solidFill>
                    <a:prstClr val="black">
                      <a:lumMod val="65000"/>
                      <a:lumOff val="35000"/>
                    </a:prstClr>
                  </a:solidFill>
                  <a:effectLst/>
                  <a:uLnTx/>
                  <a:uFillTx/>
                  <a:sym typeface="+mn-lt"/>
                </a:rPr>
                <a:t>8-13</a:t>
              </a:r>
              <a:r>
                <a:rPr kumimoji="0" lang="zh-CN" altLang="en-US" sz="700" b="0" i="0" u="none" strike="noStrike" kern="0" cap="none" spc="0" normalizeH="0" baseline="0" noProof="0">
                  <a:ln>
                    <a:noFill/>
                  </a:ln>
                  <a:solidFill>
                    <a:prstClr val="black">
                      <a:lumMod val="65000"/>
                      <a:lumOff val="35000"/>
                    </a:prstClr>
                  </a:solidFill>
                  <a:effectLst/>
                  <a:uLnTx/>
                  <a:uFillTx/>
                  <a:sym typeface="+mn-lt"/>
                </a:rPr>
                <a:t>层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sym typeface="+mn-lt"/>
                </a:rPr>
                <a:t>邮编</a:t>
              </a:r>
              <a:r>
                <a:rPr kumimoji="0" lang="en-US" altLang="zh-CN" sz="700" b="0" i="0" u="none" strike="noStrike" kern="0" cap="none" spc="0" normalizeH="0" baseline="0" noProof="0">
                  <a:ln>
                    <a:noFill/>
                  </a:ln>
                  <a:solidFill>
                    <a:prstClr val="black">
                      <a:lumMod val="65000"/>
                      <a:lumOff val="35000"/>
                    </a:prstClr>
                  </a:solidFill>
                  <a:effectLst/>
                  <a:uLnTx/>
                  <a:uFillTx/>
                  <a:sym typeface="+mn-lt"/>
                </a:rPr>
                <a:t>:100010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sym typeface="+mn-lt"/>
                </a:rPr>
                <a:t>电话</a:t>
              </a:r>
              <a:r>
                <a:rPr kumimoji="0" lang="en-US" altLang="zh-CN" sz="700" b="0" i="0" u="none" strike="noStrike" kern="0" cap="none" spc="0" normalizeH="0" baseline="0" noProof="0">
                  <a:ln>
                    <a:noFill/>
                  </a:ln>
                  <a:solidFill>
                    <a:prstClr val="black">
                      <a:lumMod val="65000"/>
                      <a:lumOff val="35000"/>
                    </a:prstClr>
                  </a:solidFill>
                  <a:effectLst/>
                  <a:uLnTx/>
                  <a:uFillTx/>
                  <a:sym typeface="+mn-lt"/>
                </a:rPr>
                <a:t>:(86)(10)85167000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0" cap="none" spc="0" normalizeH="0" baseline="0" noProof="0">
                  <a:ln>
                    <a:noFill/>
                  </a:ln>
                  <a:solidFill>
                    <a:prstClr val="black">
                      <a:lumMod val="65000"/>
                      <a:lumOff val="35000"/>
                    </a:prstClr>
                  </a:solidFill>
                  <a:effectLst/>
                  <a:uLnTx/>
                  <a:uFillTx/>
                  <a:sym typeface="+mn-lt"/>
                </a:rPr>
                <a:t>传真</a:t>
              </a:r>
              <a:r>
                <a:rPr kumimoji="0" lang="en-US" altLang="zh-CN" sz="700" b="0" i="0" u="none" strike="noStrike" kern="0" cap="none" spc="0" normalizeH="0" baseline="0" noProof="0">
                  <a:ln>
                    <a:noFill/>
                  </a:ln>
                  <a:solidFill>
                    <a:prstClr val="black">
                      <a:lumMod val="65000"/>
                      <a:lumOff val="35000"/>
                    </a:prstClr>
                  </a:solidFill>
                  <a:effectLst/>
                  <a:uLnTx/>
                  <a:uFillTx/>
                  <a:sym typeface="+mn-lt"/>
                </a:rPr>
                <a:t>:(86)(10)85167067</a:t>
              </a:r>
              <a:endParaRPr kumimoji="0" lang="zh-CN" altLang="en-US" sz="700" b="0" i="0" u="none" strike="noStrike" kern="0" cap="none" spc="0" normalizeH="0" baseline="0" noProof="0">
                <a:ln>
                  <a:noFill/>
                </a:ln>
                <a:solidFill>
                  <a:prstClr val="black">
                    <a:lumMod val="65000"/>
                    <a:lumOff val="35000"/>
                  </a:prstClr>
                </a:solidFill>
                <a:effectLst/>
                <a:uLnTx/>
                <a:uFillTx/>
                <a:sym typeface="+mn-lt"/>
              </a:endParaRPr>
            </a:p>
          </p:txBody>
        </p:sp>
        <p:cxnSp>
          <p:nvCxnSpPr>
            <p:cNvPr id="30" name="直接连接符 29">
              <a:extLst>
                <a:ext uri="{FF2B5EF4-FFF2-40B4-BE49-F238E27FC236}">
                  <a16:creationId xmlns:a16="http://schemas.microsoft.com/office/drawing/2014/main" id="{B4E3BDF9-07AE-029E-7490-460180FFF0FF}"/>
                </a:ext>
              </a:extLst>
            </p:cNvPr>
            <p:cNvCxnSpPr>
              <a:cxnSpLocks/>
            </p:cNvCxnSpPr>
            <p:nvPr/>
          </p:nvCxnSpPr>
          <p:spPr>
            <a:xfrm>
              <a:off x="133350" y="7794549"/>
              <a:ext cx="4092407" cy="0"/>
            </a:xfrm>
            <a:prstGeom prst="line">
              <a:avLst/>
            </a:prstGeom>
            <a:noFill/>
            <a:ln w="6350" cap="flat" cmpd="sng" algn="ctr">
              <a:solidFill>
                <a:sysClr val="windowText" lastClr="000000"/>
              </a:solidFill>
              <a:prstDash val="solid"/>
              <a:miter lim="800000"/>
            </a:ln>
            <a:effectLst/>
          </p:spPr>
        </p:cxnSp>
        <p:sp>
          <p:nvSpPr>
            <p:cNvPr id="31" name="文本框 30">
              <a:extLst>
                <a:ext uri="{FF2B5EF4-FFF2-40B4-BE49-F238E27FC236}">
                  <a16:creationId xmlns:a16="http://schemas.microsoft.com/office/drawing/2014/main" id="{0F9BBB4F-EF29-A8F5-5F0D-C6F9466B8231}"/>
                </a:ext>
              </a:extLst>
            </p:cNvPr>
            <p:cNvSpPr txBox="1"/>
            <p:nvPr/>
          </p:nvSpPr>
          <p:spPr>
            <a:xfrm>
              <a:off x="82550" y="7577829"/>
              <a:ext cx="1057899" cy="230832"/>
            </a:xfrm>
            <a:prstGeom prst="rect">
              <a:avLst/>
            </a:prstGeom>
            <a:noFill/>
          </p:spPr>
          <p:txBody>
            <a:bodyPr wrap="square">
              <a:spAutoFit/>
            </a:bodyPr>
            <a:lstStyle>
              <a:defPPr>
                <a:defRPr lang="en-US"/>
              </a:defPPr>
              <a:lvl1pPr>
                <a:defRPr sz="500">
                  <a:solidFill>
                    <a:schemeClr val="tx1">
                      <a:lumMod val="65000"/>
                      <a:lumOff val="35000"/>
                    </a:schemeClr>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00" b="1" i="0" u="none" strike="noStrike" kern="0" cap="none" spc="0" normalizeH="0" baseline="0" noProof="0">
                  <a:ln>
                    <a:noFill/>
                  </a:ln>
                  <a:solidFill>
                    <a:prstClr val="black">
                      <a:lumMod val="65000"/>
                      <a:lumOff val="35000"/>
                    </a:prstClr>
                  </a:solidFill>
                  <a:effectLst/>
                  <a:uLnTx/>
                  <a:uFillTx/>
                  <a:sym typeface="+mn-lt"/>
                </a:rPr>
                <a:t>辉瑞投资有限公司</a:t>
              </a:r>
            </a:p>
          </p:txBody>
        </p:sp>
      </p:grpSp>
      <p:sp>
        <p:nvSpPr>
          <p:cNvPr id="2" name="文本框 1">
            <a:extLst>
              <a:ext uri="{FF2B5EF4-FFF2-40B4-BE49-F238E27FC236}">
                <a16:creationId xmlns:a16="http://schemas.microsoft.com/office/drawing/2014/main" id="{7DFA63C3-B67E-E954-36C1-785222FF2259}"/>
              </a:ext>
            </a:extLst>
          </p:cNvPr>
          <p:cNvSpPr txBox="1"/>
          <p:nvPr/>
        </p:nvSpPr>
        <p:spPr>
          <a:xfrm>
            <a:off x="339818" y="147697"/>
            <a:ext cx="6226631" cy="10229467"/>
          </a:xfrm>
          <a:prstGeom prst="rect">
            <a:avLst/>
          </a:prstGeom>
          <a:noFill/>
        </p:spPr>
        <p:txBody>
          <a:bodyPr wrap="square" rtlCol="0">
            <a:spAutoFit/>
          </a:bodyPr>
          <a:lstStyle/>
          <a:p>
            <a:pPr>
              <a:lnSpc>
                <a:spcPct val="300000"/>
              </a:lnSpc>
            </a:pPr>
            <a:r>
              <a:rPr lang="zh-CN" altLang="en-US" sz="1200" b="1">
                <a:solidFill>
                  <a:schemeClr val="tx1">
                    <a:lumMod val="85000"/>
                    <a:lumOff val="15000"/>
                  </a:schemeClr>
                </a:solidFill>
                <a:latin typeface="+mn-ea"/>
                <a:cs typeface="+mn-ea"/>
                <a:sym typeface="+mn-lt"/>
              </a:rPr>
              <a:t>思福妥</a:t>
            </a:r>
            <a:r>
              <a:rPr lang="en-US" altLang="zh-CN" sz="1200" b="1" baseline="30000">
                <a:solidFill>
                  <a:schemeClr val="tx1">
                    <a:lumMod val="85000"/>
                    <a:lumOff val="15000"/>
                  </a:schemeClr>
                </a:solidFill>
                <a:latin typeface="+mn-ea"/>
                <a:cs typeface="+mn-ea"/>
                <a:sym typeface="+mn-lt"/>
              </a:rPr>
              <a:t>®</a:t>
            </a:r>
            <a:r>
              <a:rPr lang="zh-CN" altLang="en-US" sz="1200" b="1">
                <a:solidFill>
                  <a:schemeClr val="tx1">
                    <a:lumMod val="85000"/>
                    <a:lumOff val="15000"/>
                  </a:schemeClr>
                </a:solidFill>
                <a:latin typeface="+mn-ea"/>
                <a:cs typeface="+mn-ea"/>
                <a:sym typeface="+mn-lt"/>
              </a:rPr>
              <a:t>产品信息摘要</a:t>
            </a:r>
            <a:r>
              <a:rPr lang="en-US" altLang="zh-CN" sz="1200" b="1">
                <a:solidFill>
                  <a:schemeClr val="tx1">
                    <a:lumMod val="85000"/>
                    <a:lumOff val="15000"/>
                  </a:schemeClr>
                </a:solidFill>
                <a:latin typeface="+mn-ea"/>
                <a:cs typeface="+mn-ea"/>
                <a:sym typeface="+mn-lt"/>
              </a:rPr>
              <a:t>(PS)</a:t>
            </a:r>
            <a:endParaRPr lang="en-US" altLang="zh-CN" sz="1200" b="1">
              <a:latin typeface="+mn-ea"/>
            </a:endParaRPr>
          </a:p>
          <a:p>
            <a:pPr>
              <a:lnSpc>
                <a:spcPct val="130000"/>
              </a:lnSpc>
            </a:pPr>
            <a:r>
              <a:rPr lang="zh-CN" altLang="en-US" sz="1000">
                <a:latin typeface="+mn-ea"/>
              </a:rPr>
              <a:t>药品</a:t>
            </a:r>
            <a:r>
              <a:rPr lang="zh-CN" altLang="en-US" sz="1000" dirty="0">
                <a:latin typeface="+mn-ea"/>
              </a:rPr>
              <a:t>信息</a:t>
            </a:r>
            <a:r>
              <a:rPr lang="en-US" altLang="zh-CN" sz="1000" dirty="0">
                <a:latin typeface="+mn-ea"/>
              </a:rPr>
              <a:t>: [</a:t>
            </a:r>
            <a:r>
              <a:rPr lang="zh-CN" altLang="en-US" sz="1000" dirty="0">
                <a:latin typeface="+mn-ea"/>
              </a:rPr>
              <a:t>商品名：思福妥</a:t>
            </a:r>
            <a:r>
              <a:rPr lang="en-US" altLang="zh-CN" sz="1000" dirty="0">
                <a:latin typeface="+mn-ea"/>
              </a:rPr>
              <a:t>/</a:t>
            </a:r>
            <a:r>
              <a:rPr lang="en-US" altLang="zh-CN" sz="1000" dirty="0" err="1">
                <a:latin typeface="+mn-ea"/>
              </a:rPr>
              <a:t>Zavicefta</a:t>
            </a:r>
            <a:r>
              <a:rPr lang="zh-CN" altLang="en-US" sz="1000" dirty="0">
                <a:latin typeface="+mn-ea"/>
              </a:rPr>
              <a:t>；通用名：注射用头孢他啶阿维巴坦钠；剂型：注射剂；成份： 本品为复方制剂，其组分为头孢他啶五水合物和阿维巴坦钠；规格：</a:t>
            </a:r>
            <a:r>
              <a:rPr lang="en-US" altLang="zh-CN" sz="1000" dirty="0">
                <a:latin typeface="+mn-ea"/>
              </a:rPr>
              <a:t>2.5g</a:t>
            </a:r>
            <a:r>
              <a:rPr lang="zh-CN" altLang="en-US" sz="1000" dirty="0">
                <a:latin typeface="+mn-ea"/>
              </a:rPr>
              <a:t>（头孢他啶 </a:t>
            </a:r>
            <a:r>
              <a:rPr lang="en-US" altLang="zh-CN" sz="1000" dirty="0">
                <a:latin typeface="+mn-ea"/>
              </a:rPr>
              <a:t>2.0g </a:t>
            </a:r>
            <a:r>
              <a:rPr lang="zh-CN" altLang="en-US" sz="1000" dirty="0">
                <a:latin typeface="+mn-ea"/>
              </a:rPr>
              <a:t>与阿维巴坦 </a:t>
            </a:r>
            <a:r>
              <a:rPr lang="en-US" altLang="zh-CN" sz="1000" dirty="0">
                <a:latin typeface="+mn-ea"/>
              </a:rPr>
              <a:t>0.5g] </a:t>
            </a:r>
            <a:r>
              <a:rPr lang="zh-CN" altLang="en-US" sz="1000" dirty="0">
                <a:latin typeface="+mn-ea"/>
              </a:rPr>
              <a:t>适应症</a:t>
            </a:r>
            <a:r>
              <a:rPr lang="en-US" altLang="zh-CN" sz="1000" dirty="0">
                <a:latin typeface="+mn-ea"/>
              </a:rPr>
              <a:t>: 1</a:t>
            </a:r>
            <a:r>
              <a:rPr lang="zh-CN" altLang="en-US" sz="1000" dirty="0">
                <a:latin typeface="+mn-ea"/>
              </a:rPr>
              <a:t>、复杂性腹腔内感染（</a:t>
            </a:r>
            <a:r>
              <a:rPr lang="en-US" altLang="zh-CN" sz="1000" dirty="0" err="1">
                <a:latin typeface="+mn-ea"/>
              </a:rPr>
              <a:t>cIAI</a:t>
            </a:r>
            <a:r>
              <a:rPr lang="zh-CN" altLang="en-US" sz="1000" dirty="0">
                <a:latin typeface="+mn-ea"/>
              </a:rPr>
              <a:t>） 本品适用于联合甲硝唑治疗 </a:t>
            </a:r>
            <a:r>
              <a:rPr lang="en-US" altLang="zh-CN" sz="1000" dirty="0">
                <a:latin typeface="+mn-ea"/>
              </a:rPr>
              <a:t>18 </a:t>
            </a:r>
            <a:r>
              <a:rPr lang="zh-CN" altLang="en-US" sz="1000" dirty="0">
                <a:latin typeface="+mn-ea"/>
              </a:rPr>
              <a:t>岁及以上患者中由下列对本品敏感的革兰阴性菌引起的复杂性腹腔内感 染：大肠埃希菌、肺炎克雷伯菌、奇异变形杆菌、阴沟肠杆菌、产酸克雷伯菌、弗氏柠檬酸杆菌复合 体和铜绿假单胞菌。 </a:t>
            </a:r>
            <a:r>
              <a:rPr lang="en-US" altLang="zh-CN" sz="1000" dirty="0">
                <a:latin typeface="+mn-ea"/>
              </a:rPr>
              <a:t>2</a:t>
            </a:r>
            <a:r>
              <a:rPr lang="zh-CN" altLang="en-US" sz="1000" dirty="0">
                <a:latin typeface="+mn-ea"/>
              </a:rPr>
              <a:t>、医院获得性肺炎和呼吸机相关性肺炎（</a:t>
            </a:r>
            <a:r>
              <a:rPr lang="en-US" altLang="zh-CN" sz="1000" dirty="0">
                <a:latin typeface="+mn-ea"/>
              </a:rPr>
              <a:t>HAP/VAP</a:t>
            </a:r>
            <a:r>
              <a:rPr lang="zh-CN" altLang="en-US" sz="1000" dirty="0">
                <a:latin typeface="+mn-ea"/>
              </a:rPr>
              <a:t>） 本品适用于治疗 </a:t>
            </a:r>
            <a:r>
              <a:rPr lang="en-US" altLang="zh-CN" sz="1000" dirty="0">
                <a:latin typeface="+mn-ea"/>
              </a:rPr>
              <a:t>18 </a:t>
            </a:r>
            <a:r>
              <a:rPr lang="zh-CN" altLang="en-US" sz="1000" dirty="0">
                <a:latin typeface="+mn-ea"/>
              </a:rPr>
              <a:t>岁及以上患者中由下列对本品敏感的阴性菌引起的医院获得性肺炎和呼吸机相关性 肺炎：肺炎克雷伯菌、阴沟肠杆菌、大肠埃希菌、粘质沙雷菌、奇异变形杆菌、铜绿假单胞菌和流感 嗜血杆菌。 </a:t>
            </a:r>
            <a:r>
              <a:rPr lang="en-US" altLang="zh-CN" sz="1000" dirty="0">
                <a:latin typeface="+mn-ea"/>
              </a:rPr>
              <a:t>3</a:t>
            </a:r>
            <a:r>
              <a:rPr lang="zh-CN" altLang="en-US" sz="1000" dirty="0">
                <a:latin typeface="+mn-ea"/>
              </a:rPr>
              <a:t>、在治疗方案选择有限的成人患者中治疗由下列对本品敏感的革兰阴性菌引起的感染</a:t>
            </a:r>
            <a:r>
              <a:rPr lang="en-US" altLang="zh-CN" sz="1000" dirty="0">
                <a:latin typeface="+mn-ea"/>
              </a:rPr>
              <a:t>: </a:t>
            </a:r>
            <a:r>
              <a:rPr lang="zh-CN" altLang="en-US" sz="1000" dirty="0">
                <a:latin typeface="+mn-ea"/>
              </a:rPr>
              <a:t>肺炎克雷伯 菌、阴沟肠杆菌、大肠埃希菌、奇异变形杆菌和铜绿假单胞菌。</a:t>
            </a:r>
            <a:endParaRPr lang="en-US" altLang="zh-CN" sz="1000" dirty="0">
              <a:latin typeface="+mn-ea"/>
            </a:endParaRPr>
          </a:p>
          <a:p>
            <a:pPr>
              <a:lnSpc>
                <a:spcPct val="130000"/>
              </a:lnSpc>
            </a:pPr>
            <a:r>
              <a:rPr lang="en-US" altLang="zh-CN" sz="1000" dirty="0">
                <a:latin typeface="+mn-ea"/>
              </a:rPr>
              <a:t>【</a:t>
            </a:r>
            <a:r>
              <a:rPr lang="zh-CN" altLang="en-US" sz="1000" dirty="0">
                <a:latin typeface="+mn-ea"/>
              </a:rPr>
              <a:t>用法用量</a:t>
            </a:r>
            <a:r>
              <a:rPr lang="en-US" altLang="zh-CN" sz="1000" dirty="0">
                <a:latin typeface="+mn-ea"/>
              </a:rPr>
              <a:t>】:</a:t>
            </a:r>
            <a:r>
              <a:rPr lang="zh-CN" altLang="en-US" sz="1000" dirty="0">
                <a:latin typeface="+mn-ea"/>
              </a:rPr>
              <a:t>估计肌酐清除率（</a:t>
            </a:r>
            <a:r>
              <a:rPr lang="en-US" altLang="zh-CN" sz="1000" dirty="0" err="1">
                <a:latin typeface="+mn-ea"/>
              </a:rPr>
              <a:t>eCrCL</a:t>
            </a:r>
            <a:r>
              <a:rPr lang="zh-CN" altLang="en-US" sz="1000" dirty="0">
                <a:latin typeface="+mn-ea"/>
              </a:rPr>
              <a:t>）＞</a:t>
            </a:r>
            <a:r>
              <a:rPr lang="en-US" altLang="zh-CN" sz="1000" dirty="0">
                <a:latin typeface="+mn-ea"/>
              </a:rPr>
              <a:t>50 ml/min</a:t>
            </a:r>
            <a:r>
              <a:rPr lang="zh-CN" altLang="en-US" sz="1000" dirty="0">
                <a:latin typeface="+mn-ea"/>
              </a:rPr>
              <a:t>的成人患者中，按适应症总结的本品给药剂量如下：复杂性腹腔内感染 </a:t>
            </a:r>
            <a:r>
              <a:rPr lang="en-US" altLang="zh-CN" sz="1000" dirty="0">
                <a:latin typeface="+mn-ea"/>
              </a:rPr>
              <a:t>[</a:t>
            </a:r>
            <a:r>
              <a:rPr lang="zh-CN" altLang="en-US" sz="1000" dirty="0">
                <a:latin typeface="+mn-ea"/>
              </a:rPr>
              <a:t>与甲硝唑联用</a:t>
            </a:r>
            <a:r>
              <a:rPr lang="en-US" altLang="zh-CN" sz="1000" dirty="0">
                <a:latin typeface="+mn-ea"/>
              </a:rPr>
              <a:t>]</a:t>
            </a:r>
            <a:r>
              <a:rPr lang="zh-CN" altLang="en-US" sz="1000" dirty="0">
                <a:latin typeface="+mn-ea"/>
              </a:rPr>
              <a:t>： </a:t>
            </a:r>
            <a:r>
              <a:rPr lang="en-US" altLang="zh-CN" sz="1000" dirty="0">
                <a:latin typeface="+mn-ea"/>
              </a:rPr>
              <a:t>2.5g(2 g/0.5 g) q8h</a:t>
            </a:r>
            <a:r>
              <a:rPr lang="zh-CN" altLang="en-US" sz="1000" dirty="0">
                <a:latin typeface="+mn-ea"/>
              </a:rPr>
              <a:t>，输注时间：</a:t>
            </a:r>
            <a:r>
              <a:rPr lang="en-US" altLang="zh-CN" sz="1000" dirty="0">
                <a:latin typeface="+mn-ea"/>
              </a:rPr>
              <a:t>2h</a:t>
            </a:r>
            <a:r>
              <a:rPr lang="zh-CN" altLang="en-US" sz="1000" dirty="0">
                <a:latin typeface="+mn-ea"/>
              </a:rPr>
              <a:t>，疗程：</a:t>
            </a:r>
            <a:r>
              <a:rPr lang="en-US" altLang="zh-CN" sz="1000" dirty="0">
                <a:latin typeface="+mn-ea"/>
              </a:rPr>
              <a:t>5-14</a:t>
            </a:r>
            <a:r>
              <a:rPr lang="zh-CN" altLang="en-US" sz="1000" dirty="0">
                <a:latin typeface="+mn-ea"/>
              </a:rPr>
              <a:t>天。医院获得性肺炎和呼吸机相关性肺炎：</a:t>
            </a:r>
            <a:r>
              <a:rPr lang="en-US" altLang="zh-CN" sz="1000" dirty="0">
                <a:latin typeface="+mn-ea"/>
              </a:rPr>
              <a:t>2.5g(2 g/0.5 g) q8h</a:t>
            </a:r>
            <a:r>
              <a:rPr lang="zh-CN" altLang="en-US" sz="1000" dirty="0">
                <a:latin typeface="+mn-ea"/>
              </a:rPr>
              <a:t>，输注时间：</a:t>
            </a:r>
            <a:r>
              <a:rPr lang="en-US" altLang="zh-CN" sz="1000" dirty="0">
                <a:latin typeface="+mn-ea"/>
              </a:rPr>
              <a:t>2h</a:t>
            </a:r>
            <a:r>
              <a:rPr lang="zh-CN" altLang="en-US" sz="1000" dirty="0">
                <a:latin typeface="+mn-ea"/>
              </a:rPr>
              <a:t>，疗程：</a:t>
            </a:r>
            <a:r>
              <a:rPr lang="en-US" altLang="zh-CN" sz="1000" dirty="0">
                <a:latin typeface="+mn-ea"/>
              </a:rPr>
              <a:t>7-14</a:t>
            </a:r>
            <a:r>
              <a:rPr lang="zh-CN" altLang="en-US" sz="1000" dirty="0">
                <a:latin typeface="+mn-ea"/>
              </a:rPr>
              <a:t>天。治疗方案选择有限的成人患者中需氧型革兰阴性菌引起的感染：</a:t>
            </a:r>
            <a:r>
              <a:rPr lang="en-US" altLang="zh-CN" sz="1000" dirty="0">
                <a:latin typeface="+mn-ea"/>
              </a:rPr>
              <a:t>2.5g(2 g/0.5 g)q8h</a:t>
            </a:r>
            <a:r>
              <a:rPr lang="zh-CN" altLang="en-US" sz="1000" dirty="0">
                <a:latin typeface="+mn-ea"/>
              </a:rPr>
              <a:t>，输注时间：</a:t>
            </a:r>
            <a:r>
              <a:rPr lang="en-US" altLang="zh-CN" sz="1000" dirty="0">
                <a:latin typeface="+mn-ea"/>
              </a:rPr>
              <a:t>2h</a:t>
            </a:r>
            <a:r>
              <a:rPr lang="zh-CN" altLang="en-US" sz="1000" dirty="0">
                <a:latin typeface="+mn-ea"/>
              </a:rPr>
              <a:t>，疗程：取决于感染的严重程度、病原菌、患者的临床情况和细菌学进展。</a:t>
            </a:r>
            <a:endParaRPr lang="en-US" altLang="zh-CN" sz="1000" dirty="0">
              <a:latin typeface="+mn-ea"/>
            </a:endParaRPr>
          </a:p>
          <a:p>
            <a:pPr>
              <a:lnSpc>
                <a:spcPct val="130000"/>
              </a:lnSpc>
            </a:pPr>
            <a:r>
              <a:rPr lang="zh-CN" altLang="en-US" sz="1000" dirty="0">
                <a:latin typeface="+mn-ea"/>
              </a:rPr>
              <a:t>老年人： 无需调整剂量。肾功能损害的患者：轻度肾功能损伤患者无需调整剂量（</a:t>
            </a:r>
            <a:r>
              <a:rPr lang="en-US" altLang="zh-CN" sz="1000" dirty="0">
                <a:latin typeface="+mn-ea"/>
              </a:rPr>
              <a:t>50 mL/min&lt;eCrCL≤80 mL/min</a:t>
            </a:r>
            <a:r>
              <a:rPr lang="zh-CN" altLang="en-US" sz="1000" dirty="0">
                <a:latin typeface="+mn-ea"/>
              </a:rPr>
              <a:t>）</a:t>
            </a:r>
            <a:r>
              <a:rPr lang="en-US" altLang="zh-CN" sz="1000" dirty="0" err="1">
                <a:latin typeface="+mn-ea"/>
              </a:rPr>
              <a:t>eCrCL</a:t>
            </a:r>
            <a:r>
              <a:rPr lang="en-US" altLang="zh-CN" sz="1000" dirty="0">
                <a:latin typeface="+mn-ea"/>
              </a:rPr>
              <a:t>≤ 50 mL/min </a:t>
            </a:r>
            <a:r>
              <a:rPr lang="zh-CN" altLang="en-US" sz="1000" dirty="0">
                <a:latin typeface="+mn-ea"/>
              </a:rPr>
              <a:t>患者的推荐剂量需要调整，具体推荐详见完整处方说明书。肝功能损伤患者：无需调整剂量。儿童：尚未确立在 </a:t>
            </a:r>
            <a:r>
              <a:rPr lang="en-US" altLang="zh-CN" sz="1000" dirty="0">
                <a:latin typeface="+mn-ea"/>
              </a:rPr>
              <a:t>18 </a:t>
            </a:r>
            <a:r>
              <a:rPr lang="zh-CN" altLang="en-US" sz="1000" dirty="0">
                <a:latin typeface="+mn-ea"/>
              </a:rPr>
              <a:t>岁以下儿童及青少年中的有效性和安全性。</a:t>
            </a:r>
          </a:p>
          <a:p>
            <a:pPr>
              <a:lnSpc>
                <a:spcPct val="130000"/>
              </a:lnSpc>
            </a:pPr>
            <a:r>
              <a:rPr lang="zh-CN" altLang="en-US" sz="1000" dirty="0">
                <a:latin typeface="+mn-ea"/>
              </a:rPr>
              <a:t>禁忌</a:t>
            </a:r>
            <a:r>
              <a:rPr lang="en-US" altLang="zh-CN" sz="1000" dirty="0">
                <a:latin typeface="+mn-ea"/>
              </a:rPr>
              <a:t>:</a:t>
            </a:r>
          </a:p>
          <a:p>
            <a:pPr>
              <a:lnSpc>
                <a:spcPct val="130000"/>
              </a:lnSpc>
            </a:pPr>
            <a:r>
              <a:rPr lang="zh-CN" altLang="en-US" sz="1000" dirty="0">
                <a:latin typeface="+mn-ea"/>
              </a:rPr>
              <a:t>对活性物质或本品中的任何辅料过敏者。对头孢菌素类抗菌药物过敏者。对其他类型 </a:t>
            </a:r>
            <a:r>
              <a:rPr lang="en-US" altLang="zh-CN" sz="1000" dirty="0">
                <a:latin typeface="+mn-ea"/>
              </a:rPr>
              <a:t>β-</a:t>
            </a:r>
            <a:r>
              <a:rPr lang="zh-CN" altLang="en-US" sz="1000" dirty="0">
                <a:latin typeface="+mn-ea"/>
              </a:rPr>
              <a:t>内酰胺类抗菌药物（如青霉素、单酰胺菌素或碳青霉烯类）的严重超敏者（例如速发过敏反应、严重的皮肤反应）。</a:t>
            </a:r>
          </a:p>
          <a:p>
            <a:pPr>
              <a:lnSpc>
                <a:spcPct val="130000"/>
              </a:lnSpc>
            </a:pPr>
            <a:r>
              <a:rPr lang="zh-CN" altLang="en-US" sz="1000" dirty="0">
                <a:latin typeface="+mn-ea"/>
              </a:rPr>
              <a:t>药物相互作用</a:t>
            </a:r>
            <a:r>
              <a:rPr lang="en-US" altLang="zh-CN" sz="1000" dirty="0">
                <a:latin typeface="+mn-ea"/>
              </a:rPr>
              <a:t>:</a:t>
            </a:r>
          </a:p>
          <a:p>
            <a:pPr>
              <a:lnSpc>
                <a:spcPct val="130000"/>
              </a:lnSpc>
            </a:pPr>
            <a:r>
              <a:rPr lang="zh-CN" altLang="en-US" sz="1000" dirty="0">
                <a:latin typeface="+mn-ea"/>
              </a:rPr>
              <a:t>在体外，阿维巴坦对细胞色素 </a:t>
            </a:r>
            <a:r>
              <a:rPr lang="en-US" altLang="zh-CN" sz="1000" dirty="0">
                <a:latin typeface="+mn-ea"/>
              </a:rPr>
              <a:t>P450 </a:t>
            </a:r>
            <a:r>
              <a:rPr lang="zh-CN" altLang="en-US" sz="1000" dirty="0">
                <a:latin typeface="+mn-ea"/>
              </a:rPr>
              <a:t>酶无明显的抑制作用。临床相关浓度的阿维巴坦和头孢他啶在体外对细胞色素 </a:t>
            </a:r>
            <a:r>
              <a:rPr lang="en-US" altLang="zh-CN" sz="1000" dirty="0">
                <a:latin typeface="+mn-ea"/>
              </a:rPr>
              <a:t>P450 </a:t>
            </a:r>
            <a:r>
              <a:rPr lang="zh-CN" altLang="en-US" sz="1000" dirty="0">
                <a:latin typeface="+mn-ea"/>
              </a:rPr>
              <a:t>无诱导作用。在临床相关的暴露范围内，阿维巴坦和头孢他啶不会抑制主要的肾脏或肝脏转运蛋白，因此认为可能通过这些机制引起的相互作用很小。</a:t>
            </a:r>
          </a:p>
          <a:p>
            <a:pPr>
              <a:lnSpc>
                <a:spcPct val="130000"/>
              </a:lnSpc>
            </a:pPr>
            <a:r>
              <a:rPr lang="zh-CN" altLang="en-US" sz="1000" dirty="0">
                <a:latin typeface="+mn-ea"/>
              </a:rPr>
              <a:t>在体外，丙磺舒可抑制 </a:t>
            </a:r>
            <a:r>
              <a:rPr lang="en-US" altLang="zh-CN" sz="1000" dirty="0">
                <a:latin typeface="+mn-ea"/>
              </a:rPr>
              <a:t>56-70%</a:t>
            </a:r>
            <a:r>
              <a:rPr lang="zh-CN" altLang="en-US" sz="1000" dirty="0">
                <a:latin typeface="+mn-ea"/>
              </a:rPr>
              <a:t>阿维巴坦的摄取，不建议同时使用本品和丙磺舒。药物过量</a:t>
            </a:r>
            <a:r>
              <a:rPr lang="en-US" altLang="zh-CN" sz="1000" dirty="0">
                <a:latin typeface="+mn-ea"/>
              </a:rPr>
              <a:t>:</a:t>
            </a:r>
            <a:r>
              <a:rPr lang="zh-CN" altLang="en-US" sz="1000" dirty="0">
                <a:latin typeface="+mn-ea"/>
              </a:rPr>
              <a:t>可导致神经系统后遗症，包括脑病、抽搐和昏迷。</a:t>
            </a:r>
          </a:p>
          <a:p>
            <a:pPr>
              <a:lnSpc>
                <a:spcPct val="130000"/>
              </a:lnSpc>
            </a:pPr>
            <a:r>
              <a:rPr lang="zh-CN" altLang="en-US" sz="1000" dirty="0">
                <a:latin typeface="+mn-ea"/>
              </a:rPr>
              <a:t>不良反应</a:t>
            </a:r>
            <a:r>
              <a:rPr lang="en-US" altLang="zh-CN" sz="1000" dirty="0">
                <a:latin typeface="+mn-ea"/>
              </a:rPr>
              <a:t>: </a:t>
            </a:r>
            <a:r>
              <a:rPr lang="zh-CN" altLang="en-US" sz="1000" dirty="0">
                <a:latin typeface="+mn-ea"/>
              </a:rPr>
              <a:t>很常见（≥ </a:t>
            </a:r>
            <a:r>
              <a:rPr lang="en-US" altLang="zh-CN" sz="1000" dirty="0">
                <a:latin typeface="+mn-ea"/>
              </a:rPr>
              <a:t>1/10</a:t>
            </a:r>
            <a:r>
              <a:rPr lang="zh-CN" altLang="en-US" sz="1000" dirty="0">
                <a:latin typeface="+mn-ea"/>
              </a:rPr>
              <a:t>）的不良反应包括直接库姆斯 </a:t>
            </a:r>
            <a:r>
              <a:rPr lang="en-US" altLang="zh-CN" sz="1000" dirty="0">
                <a:latin typeface="+mn-ea"/>
              </a:rPr>
              <a:t>Coombs </a:t>
            </a:r>
            <a:r>
              <a:rPr lang="zh-CN" altLang="en-US" sz="1000" dirty="0">
                <a:latin typeface="+mn-ea"/>
              </a:rPr>
              <a:t>试验阳性；常见（≥ </a:t>
            </a:r>
            <a:r>
              <a:rPr lang="en-US" altLang="zh-CN" sz="1000" dirty="0">
                <a:latin typeface="+mn-ea"/>
              </a:rPr>
              <a:t>1/100 </a:t>
            </a:r>
            <a:r>
              <a:rPr lang="zh-CN" altLang="en-US" sz="1000" dirty="0">
                <a:latin typeface="+mn-ea"/>
              </a:rPr>
              <a:t>且 </a:t>
            </a:r>
            <a:r>
              <a:rPr lang="en-US" altLang="zh-CN" sz="1000" dirty="0">
                <a:latin typeface="+mn-ea"/>
              </a:rPr>
              <a:t>&lt; 1/10</a:t>
            </a:r>
            <a:r>
              <a:rPr lang="zh-CN" altLang="en-US" sz="1000" dirty="0">
                <a:latin typeface="+mn-ea"/>
              </a:rPr>
              <a:t>）的不良反应包括念珠菌病、头痛、头晕、腹泻、腹痛、恶心、呕吐等。</a:t>
            </a:r>
          </a:p>
          <a:p>
            <a:pPr>
              <a:lnSpc>
                <a:spcPct val="130000"/>
              </a:lnSpc>
            </a:pPr>
            <a:r>
              <a:rPr lang="zh-CN" altLang="en-US" sz="1000" dirty="0">
                <a:latin typeface="+mn-ea"/>
              </a:rPr>
              <a:t>注意事项 </a:t>
            </a:r>
            <a:r>
              <a:rPr lang="en-US" altLang="zh-CN" sz="1000" dirty="0">
                <a:latin typeface="+mn-ea"/>
              </a:rPr>
              <a:t>:</a:t>
            </a:r>
          </a:p>
          <a:p>
            <a:pPr>
              <a:lnSpc>
                <a:spcPct val="130000"/>
              </a:lnSpc>
            </a:pPr>
            <a:r>
              <a:rPr lang="en-US" altLang="zh-CN" sz="1000" dirty="0">
                <a:latin typeface="+mn-ea"/>
              </a:rPr>
              <a:t>1. </a:t>
            </a:r>
            <a:r>
              <a:rPr lang="zh-CN" altLang="en-US" sz="1000" dirty="0">
                <a:latin typeface="+mn-ea"/>
              </a:rPr>
              <a:t>超敏反应：已明确</a:t>
            </a:r>
            <a:r>
              <a:rPr lang="en-US" altLang="zh-CN" sz="1000" dirty="0">
                <a:latin typeface="+mn-ea"/>
              </a:rPr>
              <a:t>β-</a:t>
            </a:r>
            <a:r>
              <a:rPr lang="zh-CN" altLang="en-US" sz="1000" dirty="0">
                <a:latin typeface="+mn-ea"/>
              </a:rPr>
              <a:t>内酰胺类抗菌药物之间存在交叉过敏，故对青霉素或其他</a:t>
            </a:r>
            <a:r>
              <a:rPr lang="en-US" altLang="zh-CN" sz="1000" dirty="0">
                <a:latin typeface="+mn-ea"/>
              </a:rPr>
              <a:t>β-</a:t>
            </a:r>
            <a:r>
              <a:rPr lang="zh-CN" altLang="en-US" sz="1000" dirty="0">
                <a:latin typeface="+mn-ea"/>
              </a:rPr>
              <a:t>内酰胺类抗生素过敏的患者应谨慎用药。</a:t>
            </a:r>
            <a:endParaRPr lang="en-US" altLang="zh-CN" sz="1000" dirty="0">
              <a:latin typeface="+mn-ea"/>
            </a:endParaRPr>
          </a:p>
          <a:p>
            <a:pPr>
              <a:lnSpc>
                <a:spcPct val="130000"/>
              </a:lnSpc>
            </a:pPr>
            <a:r>
              <a:rPr lang="en-US" altLang="zh-CN" sz="1000" dirty="0">
                <a:latin typeface="+mn-ea"/>
              </a:rPr>
              <a:t>2. </a:t>
            </a:r>
            <a:r>
              <a:rPr lang="zh-CN" altLang="en-US" sz="1000" dirty="0">
                <a:latin typeface="+mn-ea"/>
              </a:rPr>
              <a:t>艰难梭菌相关性腹泻（</a:t>
            </a:r>
            <a:r>
              <a:rPr lang="en-US" altLang="zh-CN" sz="1000" dirty="0">
                <a:latin typeface="+mn-ea"/>
              </a:rPr>
              <a:t>CDAD</a:t>
            </a:r>
            <a:r>
              <a:rPr lang="zh-CN" altLang="en-US" sz="1000" dirty="0">
                <a:latin typeface="+mn-ea"/>
              </a:rPr>
              <a:t>）：几乎所有全身用抗菌药（包括本品）均报告过 </a:t>
            </a:r>
            <a:r>
              <a:rPr lang="en-US" altLang="zh-CN" sz="1000" dirty="0">
                <a:latin typeface="+mn-ea"/>
              </a:rPr>
              <a:t>CDAD</a:t>
            </a:r>
            <a:r>
              <a:rPr lang="zh-CN" altLang="en-US" sz="1000" dirty="0">
                <a:latin typeface="+mn-ea"/>
              </a:rPr>
              <a:t>。</a:t>
            </a:r>
            <a:endParaRPr lang="en-US" altLang="zh-CN" sz="1000" dirty="0">
              <a:latin typeface="+mn-ea"/>
            </a:endParaRPr>
          </a:p>
          <a:p>
            <a:pPr>
              <a:lnSpc>
                <a:spcPct val="130000"/>
              </a:lnSpc>
            </a:pPr>
            <a:r>
              <a:rPr lang="en-US" altLang="zh-CN" sz="1000" dirty="0">
                <a:latin typeface="+mn-ea"/>
              </a:rPr>
              <a:t>3. </a:t>
            </a:r>
            <a:r>
              <a:rPr lang="zh-CN" altLang="en-US" sz="1000" dirty="0">
                <a:latin typeface="+mn-ea"/>
              </a:rPr>
              <a:t>中枢神经系统反应：接受头孢他啶治疗的患者，特别是有肾功能损伤的患者，曾报告了癫痫发 作、非惊厥性癫痫持续状态（</a:t>
            </a:r>
            <a:r>
              <a:rPr lang="en-US" altLang="zh-CN" sz="1000" dirty="0">
                <a:latin typeface="+mn-ea"/>
              </a:rPr>
              <a:t>NCSE</a:t>
            </a:r>
            <a:r>
              <a:rPr lang="zh-CN" altLang="en-US" sz="1000" dirty="0">
                <a:latin typeface="+mn-ea"/>
              </a:rPr>
              <a:t>）、脑病、昏迷、扑翼样震颤、神经肌肉的兴奋性和肌阵挛。 按照肌酐清除率调整剂量 </a:t>
            </a:r>
            <a:endParaRPr lang="en-US" altLang="zh-CN" sz="1000" dirty="0">
              <a:latin typeface="+mn-ea"/>
            </a:endParaRPr>
          </a:p>
          <a:p>
            <a:pPr>
              <a:lnSpc>
                <a:spcPct val="130000"/>
              </a:lnSpc>
            </a:pPr>
            <a:r>
              <a:rPr lang="en-US" altLang="zh-CN" sz="1000" dirty="0">
                <a:latin typeface="+mn-ea"/>
              </a:rPr>
              <a:t>4. </a:t>
            </a:r>
            <a:r>
              <a:rPr lang="zh-CN" altLang="en-US" sz="1000" dirty="0">
                <a:latin typeface="+mn-ea"/>
              </a:rPr>
              <a:t>对实验室检查的干扰：头孢他啶可干扰检测尿糖的铜还原法，导致假阳性结果，不会干扰尿糖的 酶检测法。可能导致直接抗人球蛋白试验结果阳性，这可能会干扰交叉配血和</a:t>
            </a:r>
            <a:r>
              <a:rPr lang="en-US" altLang="zh-CN" sz="1000" dirty="0">
                <a:latin typeface="+mn-ea"/>
              </a:rPr>
              <a:t>/</a:t>
            </a:r>
            <a:r>
              <a:rPr lang="zh-CN" altLang="en-US" sz="1000" dirty="0">
                <a:latin typeface="+mn-ea"/>
              </a:rPr>
              <a:t>或可能引起药源性 免疫溶血性贫血。 </a:t>
            </a:r>
            <a:endParaRPr lang="en-US" altLang="zh-CN" sz="1000" dirty="0">
              <a:latin typeface="+mn-ea"/>
            </a:endParaRPr>
          </a:p>
          <a:p>
            <a:pPr>
              <a:lnSpc>
                <a:spcPct val="130000"/>
              </a:lnSpc>
            </a:pPr>
            <a:r>
              <a:rPr lang="en-US" altLang="zh-CN" sz="1000" dirty="0">
                <a:latin typeface="+mn-ea"/>
              </a:rPr>
              <a:t>5. </a:t>
            </a:r>
            <a:r>
              <a:rPr lang="zh-CN" altLang="en-US" sz="1000" dirty="0">
                <a:latin typeface="+mn-ea"/>
              </a:rPr>
              <a:t>控制钠饮食：本药品每瓶含有约 </a:t>
            </a:r>
            <a:r>
              <a:rPr lang="en-US" altLang="zh-CN" sz="1000" dirty="0">
                <a:latin typeface="+mn-ea"/>
              </a:rPr>
              <a:t>146 mg </a:t>
            </a:r>
            <a:r>
              <a:rPr lang="zh-CN" altLang="en-US" sz="1000" dirty="0">
                <a:latin typeface="+mn-ea"/>
              </a:rPr>
              <a:t>的钠，相当于 </a:t>
            </a:r>
            <a:r>
              <a:rPr lang="en-US" altLang="zh-CN" sz="1000" dirty="0">
                <a:latin typeface="+mn-ea"/>
              </a:rPr>
              <a:t>WHO </a:t>
            </a:r>
            <a:r>
              <a:rPr lang="zh-CN" altLang="en-US" sz="1000" dirty="0">
                <a:latin typeface="+mn-ea"/>
              </a:rPr>
              <a:t>建议的成人每日最大钠摄入量 （</a:t>
            </a:r>
            <a:r>
              <a:rPr lang="en-US" altLang="zh-CN" sz="1000" dirty="0">
                <a:latin typeface="+mn-ea"/>
              </a:rPr>
              <a:t>RDI</a:t>
            </a:r>
            <a:r>
              <a:rPr lang="zh-CN" altLang="en-US" sz="1000" dirty="0">
                <a:latin typeface="+mn-ea"/>
              </a:rPr>
              <a:t>，为 </a:t>
            </a:r>
            <a:r>
              <a:rPr lang="en-US" altLang="zh-CN" sz="1000" dirty="0">
                <a:latin typeface="+mn-ea"/>
              </a:rPr>
              <a:t>2 g</a:t>
            </a:r>
            <a:r>
              <a:rPr lang="zh-CN" altLang="en-US" sz="1000" dirty="0">
                <a:latin typeface="+mn-ea"/>
              </a:rPr>
              <a:t>）的 </a:t>
            </a:r>
            <a:r>
              <a:rPr lang="en-US" altLang="zh-CN" sz="1000" dirty="0">
                <a:latin typeface="+mn-ea"/>
              </a:rPr>
              <a:t>7.3%</a:t>
            </a:r>
            <a:r>
              <a:rPr lang="zh-CN" altLang="en-US" sz="1000" dirty="0">
                <a:latin typeface="+mn-ea"/>
              </a:rPr>
              <a:t>。本品的每日最大剂量相当于 </a:t>
            </a:r>
            <a:r>
              <a:rPr lang="en-US" altLang="zh-CN" sz="1000" dirty="0">
                <a:latin typeface="+mn-ea"/>
              </a:rPr>
              <a:t>WHO </a:t>
            </a:r>
            <a:r>
              <a:rPr lang="zh-CN" altLang="en-US" sz="1000" dirty="0">
                <a:latin typeface="+mn-ea"/>
              </a:rPr>
              <a:t>建议的每日最大钠摄入量的 </a:t>
            </a:r>
            <a:r>
              <a:rPr lang="en-US" altLang="zh-CN" sz="1000" dirty="0">
                <a:latin typeface="+mn-ea"/>
              </a:rPr>
              <a:t>22%</a:t>
            </a:r>
            <a:r>
              <a:rPr lang="zh-CN" altLang="en-US" sz="1000" dirty="0">
                <a:latin typeface="+mn-ea"/>
              </a:rPr>
              <a:t>。本 品被认为钠含量较高。对接受控制钠饮食的患者使用本品时需考虑这一点。 </a:t>
            </a:r>
            <a:endParaRPr lang="en-US" altLang="zh-CN" sz="1000" dirty="0">
              <a:latin typeface="+mn-ea"/>
            </a:endParaRPr>
          </a:p>
          <a:p>
            <a:pPr>
              <a:lnSpc>
                <a:spcPct val="130000"/>
              </a:lnSpc>
            </a:pPr>
            <a:r>
              <a:rPr lang="en-US" altLang="zh-CN" sz="1000" dirty="0">
                <a:latin typeface="+mn-ea"/>
              </a:rPr>
              <a:t>6. </a:t>
            </a:r>
            <a:r>
              <a:rPr lang="zh-CN" altLang="en-US" sz="1000" dirty="0">
                <a:latin typeface="+mn-ea"/>
              </a:rPr>
              <a:t>有效期：</a:t>
            </a:r>
            <a:r>
              <a:rPr lang="en-US" altLang="zh-CN" sz="1000" dirty="0">
                <a:latin typeface="+mn-ea"/>
              </a:rPr>
              <a:t>24 </a:t>
            </a:r>
            <a:r>
              <a:rPr lang="zh-CN" altLang="en-US" sz="1000" dirty="0">
                <a:latin typeface="+mn-ea"/>
              </a:rPr>
              <a:t>个月； </a:t>
            </a:r>
            <a:r>
              <a:rPr lang="en-US" altLang="zh-CN" sz="1000" dirty="0">
                <a:latin typeface="+mn-ea"/>
              </a:rPr>
              <a:t>7. </a:t>
            </a:r>
            <a:r>
              <a:rPr lang="zh-CN" altLang="en-US" sz="1000" dirty="0">
                <a:latin typeface="+mn-ea"/>
              </a:rPr>
              <a:t>贮藏：避光，密闭，不超过 </a:t>
            </a:r>
            <a:r>
              <a:rPr lang="en-US" altLang="zh-CN" sz="1000" dirty="0">
                <a:latin typeface="+mn-ea"/>
              </a:rPr>
              <a:t>30℃</a:t>
            </a:r>
            <a:r>
              <a:rPr lang="zh-CN" altLang="en-US" sz="1000" dirty="0">
                <a:latin typeface="+mn-ea"/>
              </a:rPr>
              <a:t>保存。</a:t>
            </a:r>
            <a:endParaRPr lang="en-US" altLang="zh-CN" sz="1000" dirty="0">
              <a:latin typeface="+mn-ea"/>
            </a:endParaRPr>
          </a:p>
          <a:p>
            <a:pPr>
              <a:lnSpc>
                <a:spcPct val="130000"/>
              </a:lnSpc>
            </a:pPr>
            <a:r>
              <a:rPr lang="zh-CN" altLang="en-US" sz="1000" dirty="0">
                <a:latin typeface="+mn-ea"/>
              </a:rPr>
              <a:t>制药公司名称及地址： </a:t>
            </a:r>
            <a:endParaRPr lang="en-US" altLang="zh-CN" sz="1000" dirty="0">
              <a:latin typeface="+mn-ea"/>
            </a:endParaRPr>
          </a:p>
          <a:p>
            <a:pPr>
              <a:lnSpc>
                <a:spcPct val="130000"/>
              </a:lnSpc>
            </a:pPr>
            <a:r>
              <a:rPr lang="en-US" altLang="zh-CN" sz="1000" dirty="0">
                <a:latin typeface="+mn-ea"/>
              </a:rPr>
              <a:t>【</a:t>
            </a:r>
            <a:r>
              <a:rPr lang="zh-CN" altLang="en-US" sz="1000" dirty="0">
                <a:latin typeface="+mn-ea"/>
              </a:rPr>
              <a:t>药品上市许可持有人</a:t>
            </a:r>
            <a:r>
              <a:rPr lang="en-US" altLang="zh-CN" sz="1000" dirty="0">
                <a:latin typeface="+mn-ea"/>
              </a:rPr>
              <a:t>】 </a:t>
            </a:r>
            <a:r>
              <a:rPr lang="zh-CN" altLang="en-US" sz="1000" dirty="0">
                <a:latin typeface="+mn-ea"/>
              </a:rPr>
              <a:t>名 称：</a:t>
            </a:r>
            <a:r>
              <a:rPr lang="en-US" altLang="zh-CN" sz="1000" dirty="0">
                <a:latin typeface="+mn-ea"/>
              </a:rPr>
              <a:t>Pfizer Ireland Pharmaceuticals </a:t>
            </a:r>
            <a:r>
              <a:rPr lang="zh-CN" altLang="en-US" sz="1000" dirty="0">
                <a:latin typeface="+mn-ea"/>
              </a:rPr>
              <a:t>注册地址：</a:t>
            </a:r>
            <a:r>
              <a:rPr lang="en-US" altLang="zh-CN" sz="1000" dirty="0">
                <a:latin typeface="+mn-ea"/>
              </a:rPr>
              <a:t>Operations Support Group, </a:t>
            </a:r>
            <a:r>
              <a:rPr lang="en-US" altLang="zh-CN" sz="1000" dirty="0" err="1">
                <a:latin typeface="+mn-ea"/>
              </a:rPr>
              <a:t>Ringaskiddy</a:t>
            </a:r>
            <a:r>
              <a:rPr lang="en-US" altLang="zh-CN" sz="1000" dirty="0">
                <a:latin typeface="+mn-ea"/>
              </a:rPr>
              <a:t>, County Cork, Ireland </a:t>
            </a:r>
          </a:p>
          <a:p>
            <a:pPr>
              <a:lnSpc>
                <a:spcPct val="130000"/>
              </a:lnSpc>
            </a:pPr>
            <a:r>
              <a:rPr lang="en-US" altLang="zh-CN" sz="1000" dirty="0">
                <a:latin typeface="+mn-ea"/>
              </a:rPr>
              <a:t>【</a:t>
            </a:r>
            <a:r>
              <a:rPr lang="zh-CN" altLang="en-US" sz="1000" dirty="0">
                <a:latin typeface="+mn-ea"/>
              </a:rPr>
              <a:t>生产企业</a:t>
            </a:r>
            <a:r>
              <a:rPr lang="en-US" altLang="zh-CN" sz="1000" dirty="0">
                <a:latin typeface="+mn-ea"/>
              </a:rPr>
              <a:t>】 </a:t>
            </a:r>
            <a:r>
              <a:rPr lang="zh-CN" altLang="en-US" sz="1000" dirty="0">
                <a:latin typeface="+mn-ea"/>
              </a:rPr>
              <a:t>企业名称：</a:t>
            </a:r>
            <a:r>
              <a:rPr lang="en-US" altLang="zh-CN" sz="1000" dirty="0">
                <a:latin typeface="+mn-ea"/>
              </a:rPr>
              <a:t>ACS </a:t>
            </a:r>
            <a:r>
              <a:rPr lang="en-US" altLang="zh-CN" sz="1000" dirty="0" err="1">
                <a:latin typeface="+mn-ea"/>
              </a:rPr>
              <a:t>Dobfar</a:t>
            </a:r>
            <a:r>
              <a:rPr lang="en-US" altLang="zh-CN" sz="1000" dirty="0">
                <a:latin typeface="+mn-ea"/>
              </a:rPr>
              <a:t> S.p.A. </a:t>
            </a:r>
            <a:r>
              <a:rPr lang="zh-CN" altLang="en-US" sz="1000" dirty="0">
                <a:latin typeface="+mn-ea"/>
              </a:rPr>
              <a:t>生产地址：</a:t>
            </a:r>
            <a:r>
              <a:rPr lang="en-US" altLang="zh-CN" sz="1000" dirty="0">
                <a:latin typeface="+mn-ea"/>
              </a:rPr>
              <a:t>Via A. Fleming, 2, 37135 Verona, Italy </a:t>
            </a:r>
          </a:p>
          <a:p>
            <a:pPr>
              <a:lnSpc>
                <a:spcPct val="130000"/>
              </a:lnSpc>
            </a:pPr>
            <a:r>
              <a:rPr lang="en-US" altLang="zh-CN" sz="1000" dirty="0">
                <a:latin typeface="+mn-ea"/>
              </a:rPr>
              <a:t>【</a:t>
            </a:r>
            <a:r>
              <a:rPr lang="zh-CN" altLang="en-US" sz="1000" dirty="0">
                <a:latin typeface="+mn-ea"/>
              </a:rPr>
              <a:t>国内联系单位</a:t>
            </a:r>
            <a:r>
              <a:rPr lang="en-US" altLang="zh-CN" sz="1000" dirty="0">
                <a:latin typeface="+mn-ea"/>
              </a:rPr>
              <a:t>】 </a:t>
            </a:r>
            <a:r>
              <a:rPr lang="zh-CN" altLang="en-US" sz="1000" dirty="0">
                <a:latin typeface="+mn-ea"/>
              </a:rPr>
              <a:t>辉瑞投资有限公司 地 址：北京市东城区朝阳门北大街</a:t>
            </a:r>
            <a:r>
              <a:rPr lang="en-US" altLang="zh-CN" sz="1000" dirty="0">
                <a:latin typeface="+mn-ea"/>
              </a:rPr>
              <a:t>3-7 </a:t>
            </a:r>
            <a:r>
              <a:rPr lang="zh-CN" altLang="en-US" sz="1000" dirty="0">
                <a:latin typeface="+mn-ea"/>
              </a:rPr>
              <a:t>号五矿广场</a:t>
            </a:r>
            <a:r>
              <a:rPr lang="en-US" altLang="zh-CN" sz="1000" dirty="0">
                <a:latin typeface="+mn-ea"/>
              </a:rPr>
              <a:t>B </a:t>
            </a:r>
            <a:r>
              <a:rPr lang="zh-CN" altLang="en-US" sz="1000" dirty="0">
                <a:latin typeface="+mn-ea"/>
              </a:rPr>
              <a:t>座</a:t>
            </a:r>
            <a:r>
              <a:rPr lang="en-US" altLang="zh-CN" sz="1000" dirty="0">
                <a:latin typeface="+mn-ea"/>
              </a:rPr>
              <a:t>8-13 </a:t>
            </a:r>
            <a:r>
              <a:rPr lang="zh-CN" altLang="en-US" sz="1000" dirty="0">
                <a:latin typeface="+mn-ea"/>
              </a:rPr>
              <a:t>层 邮政编码：</a:t>
            </a:r>
            <a:r>
              <a:rPr lang="en-US" altLang="zh-CN" sz="1000" dirty="0">
                <a:latin typeface="+mn-ea"/>
              </a:rPr>
              <a:t>100010 </a:t>
            </a:r>
            <a:r>
              <a:rPr lang="zh-CN" altLang="en-US" sz="1000" dirty="0">
                <a:latin typeface="+mn-ea"/>
              </a:rPr>
              <a:t>电话号码：</a:t>
            </a:r>
            <a:r>
              <a:rPr lang="en-US" altLang="zh-CN" sz="1000" dirty="0">
                <a:latin typeface="+mn-ea"/>
              </a:rPr>
              <a:t>010-85167000 </a:t>
            </a:r>
            <a:r>
              <a:rPr lang="zh-CN" altLang="en-US" sz="1000" dirty="0">
                <a:latin typeface="+mn-ea"/>
              </a:rPr>
              <a:t>产品咨询热线：</a:t>
            </a:r>
            <a:r>
              <a:rPr lang="en-US" altLang="zh-CN" sz="1000" dirty="0">
                <a:latin typeface="+mn-ea"/>
              </a:rPr>
              <a:t>400 910 0055 </a:t>
            </a:r>
          </a:p>
          <a:p>
            <a:pPr>
              <a:lnSpc>
                <a:spcPct val="130000"/>
              </a:lnSpc>
            </a:pPr>
            <a:r>
              <a:rPr lang="zh-CN" altLang="en-US" sz="1000" dirty="0">
                <a:latin typeface="+mn-ea"/>
              </a:rPr>
              <a:t>详细资料参见药品说明书（</a:t>
            </a:r>
            <a:r>
              <a:rPr lang="en-US" altLang="zh-CN" sz="1000" dirty="0">
                <a:latin typeface="+mn-ea"/>
              </a:rPr>
              <a:t>2021 </a:t>
            </a:r>
            <a:r>
              <a:rPr lang="zh-CN" altLang="en-US" sz="1000" dirty="0">
                <a:latin typeface="+mn-ea"/>
              </a:rPr>
              <a:t>年 </a:t>
            </a:r>
            <a:r>
              <a:rPr lang="en-US" altLang="zh-CN" sz="1000" dirty="0">
                <a:latin typeface="+mn-ea"/>
              </a:rPr>
              <a:t>06 </a:t>
            </a:r>
            <a:r>
              <a:rPr lang="zh-CN" altLang="en-US" sz="1000" dirty="0">
                <a:latin typeface="+mn-ea"/>
              </a:rPr>
              <a:t>月 </a:t>
            </a:r>
            <a:r>
              <a:rPr lang="en-US" altLang="zh-CN" sz="1000" dirty="0">
                <a:latin typeface="+mn-ea"/>
              </a:rPr>
              <a:t>02 </a:t>
            </a:r>
            <a:r>
              <a:rPr lang="zh-CN" altLang="en-US" sz="1000" dirty="0">
                <a:latin typeface="+mn-ea"/>
              </a:rPr>
              <a:t>日）</a:t>
            </a:r>
          </a:p>
        </p:txBody>
      </p:sp>
    </p:spTree>
    <p:extLst>
      <p:ext uri="{BB962C8B-B14F-4D97-AF65-F5344CB8AC3E}">
        <p14:creationId xmlns:p14="http://schemas.microsoft.com/office/powerpoint/2010/main" val="1643758576"/>
      </p:ext>
    </p:extLst>
  </p:cSld>
  <p:clrMapOvr>
    <a:masterClrMapping/>
  </p:clrMapOvr>
</p:sld>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d512wjs">
      <a:majorFont>
        <a:latin typeface="Arial" panose="020F0302020204030204"/>
        <a:ea typeface="微软雅黑"/>
        <a:cs typeface=""/>
      </a:majorFont>
      <a:minorFont>
        <a:latin typeface="Arial" panose="020F050202020403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443</TotalTime>
  <Words>2246</Words>
  <Application>Microsoft Office PowerPoint</Application>
  <PresentationFormat>宽屏</PresentationFormat>
  <Paragraphs>349</Paragraphs>
  <Slides>4</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4</vt:i4>
      </vt:variant>
    </vt:vector>
  </HeadingPairs>
  <TitlesOfParts>
    <vt:vector size="7" baseType="lpstr">
      <vt:lpstr>微软雅黑</vt:lpstr>
      <vt:lpstr>Arial</vt:lpstr>
      <vt:lpstr>1_Office 主题​​</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蔡 蔡</dc:creator>
  <cp:lastModifiedBy>蔡 蔡</cp:lastModifiedBy>
  <cp:revision>32</cp:revision>
  <dcterms:created xsi:type="dcterms:W3CDTF">2022-09-27T03:25:01Z</dcterms:created>
  <dcterms:modified xsi:type="dcterms:W3CDTF">2022-09-28T02:14:01Z</dcterms:modified>
</cp:coreProperties>
</file>