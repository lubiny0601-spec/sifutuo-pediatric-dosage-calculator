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 wrap="square">
            <a:noAutofit/>
          </a:bodyPr>
          <a:lstStyle>
            <a:lvl1pPr algn="l">
              <a:lnSpc>
                <a:spcPct val="100000"/>
              </a:lnSpc>
              <a:defRPr sz="12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200">
                <a:solidFill>
                  <a:srgbClr val="000000"/>
                </a:solidFill>
              </a:rPr>
              <a:t>Click to add text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hatGPT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01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23900" y="1390650"/>
            <a:ext cx="5429250" cy="1466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43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从业务想法到</a:t>
            </a:r>
            <a:endParaRPr lang="en-US" sz="1100"/>
          </a:p>
          <a:p>
            <a:pPr algn="l" marL="0" indent="0">
              <a:lnSpc>
                <a:spcPct val="100000"/>
              </a:lnSpc>
            </a:pPr>
            <a:r>
              <a:rPr lang="en-US" b="true" i="false" strike="noStrike" u="none" sz="43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AI 可开发需求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81050" y="3276600"/>
            <a:ext cx="5810250" cy="666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8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以“销售拜访准备助手”为例，</a:t>
            </a:r>
            <a:endParaRPr lang="en-US" sz="1100"/>
          </a:p>
          <a:p>
            <a:pPr algn="l" marL="0" indent="0">
              <a:lnSpc>
                <a:spcPct val="116666"/>
              </a:lnSpc>
            </a:pPr>
            <a:r>
              <a:rPr lang="en-US" b="false" i="false" strike="noStrike" u="none" sz="18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学习如何和 AI 聊清楚产品需求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81050" y="4095750"/>
            <a:ext cx="13525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产品经理思维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266950" y="4095750"/>
            <a:ext cx="10477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需求澄清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48050" y="4095750"/>
            <a:ext cx="6667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F4A23A"/>
                </a:solidFill>
                <a:latin typeface="PingFang SC"/>
                <a:ea typeface="PingFang SC"/>
                <a:cs typeface="PingFang SC"/>
                <a:sym typeface="PingFang SC"/>
              </a:rPr>
              <a:t>PRD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248150" y="40957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Agent 开发准备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9150" y="5048250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✓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62050" y="5057775"/>
            <a:ext cx="1428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业务场景清楚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800350" y="5048250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✓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143250" y="5057775"/>
            <a:ext cx="1428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字段口径明确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781550" y="5048250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✓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124450" y="5057775"/>
            <a:ext cx="1428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边界可验证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05600" y="895350"/>
            <a:ext cx="4343400" cy="4476750"/>
          </a:xfrm>
          <a:prstGeom prst="roundRect">
            <a:avLst>
              <a:gd name="adj" fmla="val 657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219950" y="1466850"/>
            <a:ext cx="3276600" cy="3011805"/>
          </a:xfrm>
          <a:prstGeom prst="roundRect">
            <a:avLst>
              <a:gd name="adj" fmla="val 8218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486650" y="1695450"/>
            <a:ext cx="27432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72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产品 vs 竞品对比卡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486650" y="2209800"/>
            <a:ext cx="2743200" cy="1953260"/>
          </a:xfrm>
          <a:prstGeom prst="roundRect">
            <a:avLst>
              <a:gd name="adj" fmla="val 9573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93608" y="2381250"/>
            <a:ext cx="838200" cy="304800"/>
          </a:xfrm>
          <a:prstGeom prst="roundRect">
            <a:avLst>
              <a:gd name="adj" fmla="val 37500"/>
            </a:avLst>
          </a:prstGeom>
          <a:solidFill>
            <a:srgbClr val="EAF4FF">
              <a:alpha val="100000"/>
            </a:srgbClr>
          </a:solidFill>
          <a:ln w="12700">
            <a:solidFill>
              <a:srgbClr val="BCD9F8">
                <a:alpha val="100000"/>
              </a:srgbClr>
            </a:solidFill>
            <a:prstDash val="solid"/>
          </a:ln>
        </p:spPr>
        <p:txBody>
          <a:bodyPr anchor="ctr" rtlCol="false" wrap="square" lIns="38100" rIns="381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2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我方产品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73718" y="2381250"/>
            <a:ext cx="742950" cy="304800"/>
          </a:xfrm>
          <a:prstGeom prst="roundRect">
            <a:avLst>
              <a:gd name="adj" fmla="val 37500"/>
            </a:avLst>
          </a:prstGeom>
          <a:solidFill>
            <a:srgbClr val="EAF8F5">
              <a:alpha val="100000"/>
            </a:srgbClr>
          </a:solidFill>
          <a:ln w="12700">
            <a:solidFill>
              <a:srgbClr val="AFE2D5">
                <a:alpha val="100000"/>
              </a:srgbClr>
            </a:solidFill>
            <a:prstDash val="solid"/>
          </a:ln>
        </p:spPr>
        <p:txBody>
          <a:bodyPr anchor="ctr" rtlCol="false" wrap="square" lIns="38100" rIns="381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25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竞品 A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58100" y="2790825"/>
            <a:ext cx="8382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价格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331708" y="287655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A8D3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192768" y="2876550"/>
            <a:ext cx="685800" cy="76200"/>
          </a:xfrm>
          <a:prstGeom prst="roundRect">
            <a:avLst>
              <a:gd name="adj" fmla="val 50000"/>
            </a:avLst>
          </a:prstGeom>
          <a:solidFill>
            <a:srgbClr val="9BDCC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658100" y="3114675"/>
            <a:ext cx="8382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日治疗费用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31708" y="320040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A8D3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192768" y="3200400"/>
            <a:ext cx="685800" cy="76200"/>
          </a:xfrm>
          <a:prstGeom prst="roundRect">
            <a:avLst>
              <a:gd name="adj" fmla="val 50000"/>
            </a:avLst>
          </a:prstGeom>
          <a:solidFill>
            <a:srgbClr val="9BDCC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658100" y="3438525"/>
            <a:ext cx="8382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DDD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331708" y="352425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A8D3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192768" y="3524250"/>
            <a:ext cx="685800" cy="76200"/>
          </a:xfrm>
          <a:prstGeom prst="roundRect">
            <a:avLst>
              <a:gd name="adj" fmla="val 50000"/>
            </a:avLst>
          </a:prstGeom>
          <a:solidFill>
            <a:srgbClr val="9BDCC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658100" y="3762375"/>
            <a:ext cx="8382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医保条件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331708" y="384810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A8D3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192768" y="3848100"/>
            <a:ext cx="685800" cy="76200"/>
          </a:xfrm>
          <a:prstGeom prst="roundRect">
            <a:avLst>
              <a:gd name="adj" fmla="val 50000"/>
            </a:avLst>
          </a:prstGeom>
          <a:solidFill>
            <a:srgbClr val="9BDCC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868156" y="2985135"/>
            <a:ext cx="419100" cy="419100"/>
          </a:xfrm>
          <a:prstGeom prst="ellipse">
            <a:avLst/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16A085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5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VS</a:t>
            </a:r>
            <a:endParaRPr lang="en-US" sz="1100"/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6240453" y="4318000"/>
            <a:ext cx="1193184" cy="16764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10452811" y="272415"/>
            <a:ext cx="811378" cy="11049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02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一句话需求，AI 会怎么理解？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一个看似清楚的请求，背后往往藏着很多未定义的信息。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42950" y="1714500"/>
            <a:ext cx="4724400" cy="3600450"/>
          </a:xfrm>
          <a:prstGeom prst="roundRect">
            <a:avLst>
              <a:gd name="adj" fmla="val 740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23950" y="2133600"/>
            <a:ext cx="15240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50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原始需求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23950" y="2800350"/>
            <a:ext cx="2667000" cy="1257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“帮我做一个</a:t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产品和竞品</a:t>
            </a:r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2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对比工具。”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409700" y="4343400"/>
            <a:ext cx="2724150" cy="609600"/>
          </a:xfrm>
          <a:prstGeom prst="roundRect">
            <a:avLst>
              <a:gd name="adj" fmla="val 26471"/>
            </a:avLst>
          </a:prstGeom>
          <a:solidFill>
            <a:srgbClr val="FFF4DD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657350" y="4457700"/>
            <a:ext cx="2208530" cy="4000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听起来清楚，其实还很模糊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962650" y="1714500"/>
            <a:ext cx="5486400" cy="3600450"/>
          </a:xfrm>
          <a:prstGeom prst="roundRect">
            <a:avLst>
              <a:gd name="adj" fmla="val 740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362700" y="2133600"/>
            <a:ext cx="3048000" cy="3429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1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AI 需要继续追问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62700" y="2686050"/>
            <a:ext cx="2209800" cy="609600"/>
          </a:xfrm>
          <a:prstGeom prst="roundRect">
            <a:avLst>
              <a:gd name="adj" fmla="val 28125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34150" y="2781300"/>
            <a:ext cx="1809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7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给谁用？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34150" y="3019425"/>
            <a:ext cx="18669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销售、市场部，还是其他角色？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39200" y="2686050"/>
            <a:ext cx="2209800" cy="609600"/>
          </a:xfrm>
          <a:prstGeom prst="roundRect">
            <a:avLst>
              <a:gd name="adj" fmla="val 28125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010650" y="2781300"/>
            <a:ext cx="1809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7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什么场景？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10650" y="3016250"/>
            <a:ext cx="2038350" cy="193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拜访前准备、培训学习，还是现场查询？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362700" y="3467100"/>
            <a:ext cx="2209800" cy="609600"/>
          </a:xfrm>
          <a:prstGeom prst="roundRect">
            <a:avLst>
              <a:gd name="adj" fmla="val 28125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534150" y="3562350"/>
            <a:ext cx="1809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7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对比什么？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534150" y="3801745"/>
            <a:ext cx="2077720" cy="1892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价格、DDD、医保条件，还有哪些字段？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839200" y="3467100"/>
            <a:ext cx="2209800" cy="609600"/>
          </a:xfrm>
          <a:prstGeom prst="roundRect">
            <a:avLst>
              <a:gd name="adj" fmla="val 28125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010650" y="3562350"/>
            <a:ext cx="1809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7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数据从哪来？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010650" y="3774440"/>
            <a:ext cx="2038350" cy="2165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模拟数据、已批准资料，还是内部系统？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362700" y="4248150"/>
            <a:ext cx="2209800" cy="609600"/>
          </a:xfrm>
          <a:prstGeom prst="roundRect">
            <a:avLst>
              <a:gd name="adj" fmla="val 28125"/>
            </a:avLst>
          </a:prstGeom>
          <a:solidFill>
            <a:srgbClr val="FFF1F1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534150" y="4343400"/>
            <a:ext cx="1809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75">
                <a:solidFill>
                  <a:srgbClr val="D84A4A"/>
                </a:solidFill>
                <a:latin typeface="PingFang SC"/>
                <a:ea typeface="PingFang SC"/>
                <a:cs typeface="PingFang SC"/>
                <a:sym typeface="PingFang SC"/>
              </a:rPr>
              <a:t>什么不能做？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534150" y="4581525"/>
            <a:ext cx="18669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是否生成话术、推荐、对外材料？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839200" y="4248150"/>
            <a:ext cx="2209800" cy="609600"/>
          </a:xfrm>
          <a:prstGeom prst="roundRect">
            <a:avLst>
              <a:gd name="adj" fmla="val 28125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010650" y="4343400"/>
            <a:ext cx="1809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7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怎么验收？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010650" y="4581525"/>
            <a:ext cx="18669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9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做到什么程度算可以用？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2095500" y="5829300"/>
            <a:ext cx="8001000" cy="514350"/>
          </a:xfrm>
          <a:prstGeom prst="roundRect">
            <a:avLst>
              <a:gd name="adj" fmla="val 40740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90500" rIns="1905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72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AI 不怕需求小，怕需求模糊。</a:t>
            </a:r>
            <a:endParaRPr lang="en-US" sz="1100"/>
          </a:p>
        </p:txBody>
      </p:sp>
      <p:pic>
        <p:nvPicPr>
          <p:cNvPr name="Picture 34" id="3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3431341" y="1917065"/>
            <a:ext cx="1759348" cy="219075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03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产品经理不是写文档的人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产品经理的本质，是把模糊想法翻译成别人能执行的说明书。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42950" y="1847850"/>
            <a:ext cx="2305050" cy="1200150"/>
          </a:xfrm>
          <a:prstGeom prst="roundRect">
            <a:avLst>
              <a:gd name="adj" fmla="val 1746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33450" y="2076450"/>
            <a:ext cx="400050" cy="4000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85900" y="2095500"/>
            <a:ext cx="135255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发现问题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485900" y="2472055"/>
            <a:ext cx="13525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到底哪里麻烦？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0" flipH="false" flipV="false">
            <a:off x="3048000" y="2519680"/>
            <a:ext cx="34290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3448050" y="1847850"/>
            <a:ext cx="2305050" cy="1200150"/>
          </a:xfrm>
          <a:prstGeom prst="roundRect">
            <a:avLst>
              <a:gd name="adj" fmla="val 1746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38550" y="2076450"/>
            <a:ext cx="400050" cy="4000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191000" y="2095500"/>
            <a:ext cx="135255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判断价值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191000" y="2472055"/>
            <a:ext cx="13525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值不值得做工具？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0" flipH="false" flipV="false">
            <a:off x="5753100" y="2519680"/>
            <a:ext cx="34290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153150" y="1847850"/>
            <a:ext cx="2305050" cy="1200150"/>
          </a:xfrm>
          <a:prstGeom prst="roundRect">
            <a:avLst>
              <a:gd name="adj" fmla="val 1746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43650" y="2076450"/>
            <a:ext cx="400050" cy="4000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896100" y="2095500"/>
            <a:ext cx="135255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明确用户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896100" y="2472055"/>
            <a:ext cx="13525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谁在什么场景用？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0" flipH="false" flipV="false">
            <a:off x="8458200" y="2519680"/>
            <a:ext cx="34290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8858250" y="1847850"/>
            <a:ext cx="2305050" cy="1200150"/>
          </a:xfrm>
          <a:prstGeom prst="roundRect">
            <a:avLst>
              <a:gd name="adj" fmla="val 1746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048750" y="2076450"/>
            <a:ext cx="400050" cy="4000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601200" y="2095500"/>
            <a:ext cx="135255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拆解流程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601200" y="2472055"/>
            <a:ext cx="13525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先做什么后做什么？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2095500" y="3638550"/>
            <a:ext cx="2381250" cy="1200150"/>
          </a:xfrm>
          <a:prstGeom prst="roundRect">
            <a:avLst>
              <a:gd name="adj" fmla="val 1746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2286000" y="3867150"/>
            <a:ext cx="400050" cy="4000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2838450" y="3886200"/>
            <a:ext cx="14478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定义功能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2838450" y="4262755"/>
            <a:ext cx="144780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页面、字段、规则</a:t>
            </a:r>
            <a:endParaRPr lang="en-US" sz="1100"/>
          </a:p>
        </p:txBody>
      </p:sp>
      <p:cxnSp>
        <p:nvCxnSpPr>
          <p:cNvPr name="Connector 31" id="31"/>
          <p:cNvCxnSpPr/>
          <p:nvPr/>
        </p:nvCxnSpPr>
        <p:spPr>
          <a:xfrm rot="0" flipH="false" flipV="false">
            <a:off x="4476750" y="4310380"/>
            <a:ext cx="32385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2" id="32"/>
          <p:cNvSpPr/>
          <p:nvPr/>
        </p:nvSpPr>
        <p:spPr>
          <a:xfrm rot="0" flipH="false" flipV="false">
            <a:off x="4857750" y="3638550"/>
            <a:ext cx="2381250" cy="1200150"/>
          </a:xfrm>
          <a:prstGeom prst="roundRect">
            <a:avLst>
              <a:gd name="adj" fmla="val 1746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048250" y="3867150"/>
            <a:ext cx="400050" cy="4000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F4A23A"/>
                </a:solidFill>
                <a:latin typeface="Aptos"/>
                <a:ea typeface="Aptos"/>
                <a:cs typeface="Aptos"/>
                <a:sym typeface="Aptos"/>
              </a:rPr>
              <a:t>6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5600700" y="3886200"/>
            <a:ext cx="14478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收敛 MVP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5600700" y="4262755"/>
            <a:ext cx="144780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先跑通核心流程</a:t>
            </a:r>
            <a:endParaRPr lang="en-US" sz="1100"/>
          </a:p>
        </p:txBody>
      </p:sp>
      <p:cxnSp>
        <p:nvCxnSpPr>
          <p:cNvPr name="Connector 36" id="36"/>
          <p:cNvCxnSpPr/>
          <p:nvPr/>
        </p:nvCxnSpPr>
        <p:spPr>
          <a:xfrm rot="0" flipH="false" flipV="false">
            <a:off x="7239000" y="4310380"/>
            <a:ext cx="32385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7" id="37"/>
          <p:cNvSpPr/>
          <p:nvPr/>
        </p:nvSpPr>
        <p:spPr>
          <a:xfrm rot="0" flipH="false" flipV="false">
            <a:off x="7620000" y="3638550"/>
            <a:ext cx="2381250" cy="1200150"/>
          </a:xfrm>
          <a:prstGeom prst="roundRect">
            <a:avLst>
              <a:gd name="adj" fmla="val 1746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810500" y="3867150"/>
            <a:ext cx="400050" cy="4000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0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7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362950" y="3886200"/>
            <a:ext cx="14478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验收结果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362950" y="4262755"/>
            <a:ext cx="144780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做到什么算成功？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2095500" y="5715000"/>
            <a:ext cx="8001000" cy="533400"/>
          </a:xfrm>
          <a:prstGeom prst="roundRect">
            <a:avLst>
              <a:gd name="adj" fmla="val 39286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90500" rIns="1905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今天只取最关键的部分：用户、场景、流程、字段、边界、验收。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04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AI 没有取消产品经理思维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现在业务同事做这些事，是为了让 AI Agent 理解需求。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90600" y="1619250"/>
            <a:ext cx="10210800" cy="4095750"/>
          </a:xfrm>
          <a:prstGeom prst="roundRect">
            <a:avLst>
              <a:gd name="adj" fmla="val 651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512570" y="1981200"/>
            <a:ext cx="1788795" cy="323850"/>
          </a:xfrm>
          <a:prstGeom prst="roundRect">
            <a:avLst>
              <a:gd name="adj" fmla="val 35294"/>
            </a:avLst>
          </a:prstGeom>
          <a:solidFill>
            <a:srgbClr val="1F6FE5">
              <a:alpha val="100000"/>
            </a:srgbClr>
          </a:solidFill>
          <a:ln w="12700">
            <a:solidFill>
              <a:srgbClr val="1F6FE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产品经理动作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724650" y="1981200"/>
            <a:ext cx="3928745" cy="323850"/>
          </a:xfrm>
          <a:prstGeom prst="roundRect">
            <a:avLst>
              <a:gd name="adj" fmla="val 35294"/>
            </a:avLst>
          </a:prstGeom>
          <a:solidFill>
            <a:srgbClr val="16A085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AI 小应用需求动作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71600" y="2400300"/>
            <a:ext cx="9334500" cy="361950"/>
          </a:xfrm>
          <a:prstGeom prst="roundRect">
            <a:avLst>
              <a:gd name="adj" fmla="val 21052"/>
            </a:avLst>
          </a:prstGeom>
          <a:solidFill>
            <a:srgbClr val="F8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81150" y="2476500"/>
            <a:ext cx="1619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发现用户问题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0" flipH="false" flipV="false">
            <a:off x="3790950" y="2581275"/>
            <a:ext cx="230505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6724650" y="2476500"/>
            <a:ext cx="17526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说清业务痛点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648700" y="2486025"/>
            <a:ext cx="18097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86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信息分散、查找成本高、口径不一致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371600" y="2857500"/>
            <a:ext cx="9334500" cy="361950"/>
          </a:xfrm>
          <a:prstGeom prst="roundRect">
            <a:avLst>
              <a:gd name="adj" fmla="val 21052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81150" y="2933700"/>
            <a:ext cx="1619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定义目标用户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0" flipH="false" flipV="false">
            <a:off x="3790950" y="3038475"/>
            <a:ext cx="230505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6724650" y="2933700"/>
            <a:ext cx="17526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说清谁来用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648700" y="2943225"/>
            <a:ext cx="18097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86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销售内部拜访前准备，不是医生决策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371600" y="3314700"/>
            <a:ext cx="9334500" cy="361950"/>
          </a:xfrm>
          <a:prstGeom prst="roundRect">
            <a:avLst>
              <a:gd name="adj" fmla="val 21052"/>
            </a:avLst>
          </a:prstGeom>
          <a:solidFill>
            <a:srgbClr val="F8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581150" y="3390900"/>
            <a:ext cx="1619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设计任务流程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0" flipH="false" flipV="false">
            <a:off x="3790950" y="3495675"/>
            <a:ext cx="230505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6724650" y="3390900"/>
            <a:ext cx="17526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说清输入到输出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648700" y="3400425"/>
            <a:ext cx="18097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86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选产品/地区 → 生成对比卡 → 查看来源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371600" y="3771900"/>
            <a:ext cx="9334500" cy="361950"/>
          </a:xfrm>
          <a:prstGeom prst="roundRect">
            <a:avLst>
              <a:gd name="adj" fmla="val 21052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581150" y="3848100"/>
            <a:ext cx="1619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定义功能规则</a:t>
            </a:r>
            <a:endParaRPr lang="en-US" sz="1100"/>
          </a:p>
        </p:txBody>
      </p:sp>
      <p:cxnSp>
        <p:nvCxnSpPr>
          <p:cNvPr name="Connector 28" id="28"/>
          <p:cNvCxnSpPr/>
          <p:nvPr/>
        </p:nvCxnSpPr>
        <p:spPr>
          <a:xfrm rot="0" flipH="false" flipV="false">
            <a:off x="3790950" y="3952875"/>
            <a:ext cx="230505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29" id="29"/>
          <p:cNvSpPr/>
          <p:nvPr/>
        </p:nvSpPr>
        <p:spPr>
          <a:xfrm rot="0" flipH="false" flipV="false">
            <a:off x="6724650" y="3848100"/>
            <a:ext cx="17526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说清页面字段规则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648700" y="3857625"/>
            <a:ext cx="18097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86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价格、日治疗费用、DDD、医保条件等字段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371600" y="4229100"/>
            <a:ext cx="9334500" cy="361950"/>
          </a:xfrm>
          <a:prstGeom prst="roundRect">
            <a:avLst>
              <a:gd name="adj" fmla="val 21052"/>
            </a:avLst>
          </a:prstGeom>
          <a:solidFill>
            <a:srgbClr val="F8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581150" y="4305300"/>
            <a:ext cx="1619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控制版本范围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0" flipH="false" flipV="false">
            <a:off x="3790950" y="4410075"/>
            <a:ext cx="230505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6724650" y="4305300"/>
            <a:ext cx="17526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说清第一版不做什么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648700" y="4314825"/>
            <a:ext cx="18097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86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不接真实系统，不生成治疗建议和话术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371600" y="4686300"/>
            <a:ext cx="9334500" cy="361950"/>
          </a:xfrm>
          <a:prstGeom prst="roundRect">
            <a:avLst>
              <a:gd name="adj" fmla="val 21052"/>
            </a:avLst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581150" y="4762500"/>
            <a:ext cx="1619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验收测试</a:t>
            </a:r>
            <a:endParaRPr lang="en-US" sz="1100"/>
          </a:p>
        </p:txBody>
      </p:sp>
      <p:cxnSp>
        <p:nvCxnSpPr>
          <p:cNvPr name="Connector 38" id="38"/>
          <p:cNvCxnSpPr/>
          <p:nvPr/>
        </p:nvCxnSpPr>
        <p:spPr>
          <a:xfrm rot="0" flipH="false" flipV="false">
            <a:off x="3790950" y="4867275"/>
            <a:ext cx="230505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9" id="39"/>
          <p:cNvSpPr/>
          <p:nvPr/>
        </p:nvSpPr>
        <p:spPr>
          <a:xfrm rot="0" flipH="false" flipV="false">
            <a:off x="6724650" y="4762500"/>
            <a:ext cx="17526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说清做到什么算成功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648700" y="4772025"/>
            <a:ext cx="180975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86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字段完整、筛选有效、边界提示清晰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2857500" y="5905500"/>
            <a:ext cx="6477000" cy="457200"/>
          </a:xfrm>
          <a:prstGeom prst="roundRect">
            <a:avLst>
              <a:gd name="adj" fmla="val 41667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52400" rIns="1524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业务同事不需要懂架构，但必须懂场景、规则和边界。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05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今天的真实案例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销售拜访准备助手：产品与竞品对比卡片。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42950" y="1676400"/>
            <a:ext cx="10706100" cy="4000500"/>
          </a:xfrm>
          <a:prstGeom prst="roundRect">
            <a:avLst>
              <a:gd name="adj" fmla="val 714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447800" y="2152650"/>
            <a:ext cx="3810000" cy="2686050"/>
          </a:xfrm>
          <a:prstGeom prst="roundRect">
            <a:avLst>
              <a:gd name="adj" fmla="val 851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14500" y="2381250"/>
            <a:ext cx="32766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2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产品 vs 竞品对比卡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714500" y="2800350"/>
            <a:ext cx="3276600" cy="1847850"/>
          </a:xfrm>
          <a:prstGeom prst="roundRect">
            <a:avLst>
              <a:gd name="adj" fmla="val 9277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756154" y="2971800"/>
            <a:ext cx="838200" cy="304800"/>
          </a:xfrm>
          <a:prstGeom prst="roundRect">
            <a:avLst>
              <a:gd name="adj" fmla="val 37500"/>
            </a:avLst>
          </a:prstGeom>
          <a:solidFill>
            <a:srgbClr val="EAF4FF">
              <a:alpha val="100000"/>
            </a:srgbClr>
          </a:solidFill>
          <a:ln w="12700">
            <a:solidFill>
              <a:srgbClr val="BCD9F8">
                <a:alpha val="100000"/>
              </a:srgbClr>
            </a:solidFill>
            <a:prstDash val="solid"/>
          </a:ln>
        </p:spPr>
        <p:txBody>
          <a:bodyPr anchor="ctr" rtlCol="false" wrap="square" lIns="38100" rIns="381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2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我方产品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796284" y="2971800"/>
            <a:ext cx="742950" cy="304800"/>
          </a:xfrm>
          <a:prstGeom prst="roundRect">
            <a:avLst>
              <a:gd name="adj" fmla="val 37500"/>
            </a:avLst>
          </a:prstGeom>
          <a:solidFill>
            <a:srgbClr val="EAF8F5">
              <a:alpha val="100000"/>
            </a:srgbClr>
          </a:solidFill>
          <a:ln w="12700">
            <a:solidFill>
              <a:srgbClr val="AFE2D5">
                <a:alpha val="100000"/>
              </a:srgbClr>
            </a:solidFill>
            <a:prstDash val="solid"/>
          </a:ln>
        </p:spPr>
        <p:txBody>
          <a:bodyPr anchor="ctr" rtlCol="false" wrap="square" lIns="38100" rIns="381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25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竞品 A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85950" y="3381375"/>
            <a:ext cx="8382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价格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794254" y="346710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A8D3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815334" y="3467100"/>
            <a:ext cx="685800" cy="76200"/>
          </a:xfrm>
          <a:prstGeom prst="roundRect">
            <a:avLst>
              <a:gd name="adj" fmla="val 50000"/>
            </a:avLst>
          </a:prstGeom>
          <a:solidFill>
            <a:srgbClr val="9BDCC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885950" y="3648075"/>
            <a:ext cx="8382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日治疗费用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794254" y="373380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A8D3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815334" y="3733800"/>
            <a:ext cx="685800" cy="76200"/>
          </a:xfrm>
          <a:prstGeom prst="roundRect">
            <a:avLst>
              <a:gd name="adj" fmla="val 50000"/>
            </a:avLst>
          </a:prstGeom>
          <a:solidFill>
            <a:srgbClr val="9BDCC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885950" y="3914775"/>
            <a:ext cx="8382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DDD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794254" y="400050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A8D3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815334" y="4000500"/>
            <a:ext cx="685800" cy="76200"/>
          </a:xfrm>
          <a:prstGeom prst="roundRect">
            <a:avLst>
              <a:gd name="adj" fmla="val 50000"/>
            </a:avLst>
          </a:prstGeom>
          <a:solidFill>
            <a:srgbClr val="9BDCC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885950" y="4181475"/>
            <a:ext cx="8382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医保条件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794254" y="4267200"/>
            <a:ext cx="723900" cy="76200"/>
          </a:xfrm>
          <a:prstGeom prst="roundRect">
            <a:avLst>
              <a:gd name="adj" fmla="val 50000"/>
            </a:avLst>
          </a:prstGeom>
          <a:solidFill>
            <a:srgbClr val="A8D3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815334" y="4267200"/>
            <a:ext cx="685800" cy="76200"/>
          </a:xfrm>
          <a:prstGeom prst="roundRect">
            <a:avLst>
              <a:gd name="adj" fmla="val 50000"/>
            </a:avLst>
          </a:prstGeom>
          <a:solidFill>
            <a:srgbClr val="9BDCCA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405378" y="3607118"/>
            <a:ext cx="419100" cy="419100"/>
          </a:xfrm>
          <a:prstGeom prst="ellipse">
            <a:avLst/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16A085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05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VS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076950" y="2152650"/>
            <a:ext cx="4095750" cy="636905"/>
          </a:xfrm>
          <a:prstGeom prst="roundRect">
            <a:avLst>
              <a:gd name="adj" fmla="val 27777"/>
            </a:avLst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324600" y="2305050"/>
            <a:ext cx="66675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输入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181850" y="2324100"/>
            <a:ext cx="2667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选择产品、地区或政策口径</a:t>
            </a:r>
            <a:endParaRPr lang="en-US" sz="1100"/>
          </a:p>
        </p:txBody>
      </p:sp>
      <p:cxnSp>
        <p:nvCxnSpPr>
          <p:cNvPr name="Connector 30" id="30"/>
          <p:cNvCxnSpPr/>
          <p:nvPr/>
        </p:nvCxnSpPr>
        <p:spPr>
          <a:xfrm rot="0" flipH="false" flipV="false">
            <a:off x="8126095" y="2776855"/>
            <a:ext cx="635" cy="38100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1" id="31"/>
          <p:cNvSpPr/>
          <p:nvPr/>
        </p:nvSpPr>
        <p:spPr>
          <a:xfrm rot="0" flipH="false" flipV="false">
            <a:off x="6076950" y="3162300"/>
            <a:ext cx="4095750" cy="636905"/>
          </a:xfrm>
          <a:prstGeom prst="roundRect">
            <a:avLst>
              <a:gd name="adj" fmla="val 27777"/>
            </a:avLst>
          </a:prstGeom>
          <a:solidFill>
            <a:srgbClr val="EAF8F5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324600" y="3318510"/>
            <a:ext cx="666750" cy="3346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处理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181850" y="3333750"/>
            <a:ext cx="2667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读取标准字段和资料来源</a:t>
            </a:r>
            <a:endParaRPr lang="en-US" sz="1100"/>
          </a:p>
        </p:txBody>
      </p:sp>
      <p:cxnSp>
        <p:nvCxnSpPr>
          <p:cNvPr name="Connector 34" id="34"/>
          <p:cNvCxnSpPr/>
          <p:nvPr/>
        </p:nvCxnSpPr>
        <p:spPr>
          <a:xfrm rot="0" flipH="false" flipV="false">
            <a:off x="8125460" y="3823970"/>
            <a:ext cx="635" cy="380365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35" id="35"/>
          <p:cNvSpPr/>
          <p:nvPr/>
        </p:nvSpPr>
        <p:spPr>
          <a:xfrm rot="0" flipH="false" flipV="false">
            <a:off x="6076950" y="4171950"/>
            <a:ext cx="4095750" cy="601980"/>
          </a:xfrm>
          <a:prstGeom prst="roundRect">
            <a:avLst>
              <a:gd name="adj" fmla="val 27777"/>
            </a:avLst>
          </a:prstGeom>
          <a:solidFill>
            <a:srgbClr val="FFF4DD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324600" y="4324350"/>
            <a:ext cx="666750" cy="336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4A23A"/>
                </a:solidFill>
                <a:latin typeface="PingFang SC"/>
                <a:ea typeface="PingFang SC"/>
                <a:cs typeface="PingFang SC"/>
                <a:sym typeface="PingFang SC"/>
              </a:rPr>
              <a:t>输出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181850" y="4343400"/>
            <a:ext cx="2667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生成内部参考对比卡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6275070" y="5013325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快速准备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589520" y="5013325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结构清晰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903970" y="5013325"/>
            <a:ext cx="10668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合规可控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2095500" y="5905500"/>
            <a:ext cx="8001000" cy="457200"/>
          </a:xfrm>
          <a:prstGeom prst="roundRect">
            <a:avLst>
              <a:gd name="adj" fmla="val 41667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52400" rIns="1524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定位：销售内部拜访前准备工具，不是医生决策工具。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06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先把用户说清楚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同一个工具，给不同人用，需求和边界会完全不同。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42950" y="1943100"/>
            <a:ext cx="3257550" cy="2914650"/>
          </a:xfrm>
          <a:prstGeom prst="roundRect">
            <a:avLst>
              <a:gd name="adj" fmla="val 7843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41400" y="2239010"/>
            <a:ext cx="21336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7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面向销售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41400" y="2543810"/>
            <a:ext cx="2133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089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设计重点：拜访前快速准备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47750" y="3048000"/>
            <a:ext cx="26479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• 快速查到关键信息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47750" y="3314700"/>
            <a:ext cx="26479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• 生成内部参考卡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47750" y="3581400"/>
            <a:ext cx="26479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• 明确沟通边界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76750" y="1943100"/>
            <a:ext cx="3257550" cy="2914650"/>
          </a:xfrm>
          <a:prstGeom prst="roundRect">
            <a:avLst>
              <a:gd name="adj" fmla="val 7843"/>
            </a:avLst>
          </a:prstGeom>
          <a:solidFill>
            <a:srgbClr val="FFF7F7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779010" y="2228850"/>
            <a:ext cx="21336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75">
                <a:solidFill>
                  <a:srgbClr val="D84A4A"/>
                </a:solidFill>
                <a:latin typeface="PingFang SC"/>
                <a:ea typeface="PingFang SC"/>
                <a:cs typeface="PingFang SC"/>
                <a:sym typeface="PingFang SC"/>
              </a:rPr>
              <a:t>面向医生/客户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779010" y="2533650"/>
            <a:ext cx="2133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089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设计重点：临床问题查询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781550" y="3048000"/>
            <a:ext cx="26479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• 证据来源可追溯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781550" y="3314700"/>
            <a:ext cx="26479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• 按疾病/场景查找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781550" y="3581400"/>
            <a:ext cx="26479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• 对比适用条件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10550" y="1943100"/>
            <a:ext cx="3257550" cy="2914650"/>
          </a:xfrm>
          <a:prstGeom prst="roundRect">
            <a:avLst>
              <a:gd name="adj" fmla="val 7843"/>
            </a:avLst>
          </a:prstGeom>
          <a:solidFill>
            <a:srgbClr val="F6FFFC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512810" y="2228850"/>
            <a:ext cx="21336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75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面向运营管理方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512810" y="2533650"/>
            <a:ext cx="21336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089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设计重点：内容可管理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515350" y="3048000"/>
            <a:ext cx="26479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• 确认资料来源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515350" y="3314700"/>
            <a:ext cx="26479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• 更新内容版本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515350" y="3581400"/>
            <a:ext cx="26479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• 留痕审批记录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457700" y="5143500"/>
            <a:ext cx="3276600" cy="323850"/>
          </a:xfrm>
          <a:prstGeom prst="roundRect">
            <a:avLst>
              <a:gd name="adj" fmla="val 50000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角色一变，设计重点就变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2095500" y="5905500"/>
            <a:ext cx="8001000" cy="457200"/>
          </a:xfrm>
          <a:prstGeom prst="roundRect">
            <a:avLst>
              <a:gd name="adj" fmla="val 41667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52400" rIns="1524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需求澄清第一问：面向谁，解决哪种场景？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"/>
          <a:srcRect l="4818" r="66784" t="18855" b="22853"/>
          <a:stretch>
            <a:fillRect/>
          </a:stretch>
        </p:blipFill>
        <p:spPr>
          <a:xfrm rot="0" flipH="false" flipV="false">
            <a:off x="2639695" y="3116580"/>
            <a:ext cx="1272540" cy="174117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2"/>
          <a:srcRect l="36955" r="37254" t="19770" b="25382"/>
          <a:stretch>
            <a:fillRect/>
          </a:stretch>
        </p:blipFill>
        <p:spPr>
          <a:xfrm rot="0" flipH="false" flipV="false">
            <a:off x="6527800" y="3123565"/>
            <a:ext cx="1155700" cy="16383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name="Picture 30" id="30"/>
          <p:cNvPicPr>
            <a:picLocks noChangeAspect="true"/>
          </p:cNvPicPr>
          <p:nvPr/>
        </p:nvPicPr>
        <p:blipFill>
          <a:blip r:embed="rId2"/>
          <a:srcRect l="67493" r="1969" t="23661" b="24829"/>
          <a:stretch>
            <a:fillRect/>
          </a:stretch>
        </p:blipFill>
        <p:spPr>
          <a:xfrm rot="0" flipH="false" flipV="false">
            <a:off x="10056495" y="3223895"/>
            <a:ext cx="1368425" cy="15386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07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不是所有想法都值得做成应用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先判断值不值得做，再谈怎么做。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42950" y="1714500"/>
            <a:ext cx="4740910" cy="3714750"/>
          </a:xfrm>
          <a:prstGeom prst="roundRect">
            <a:avLst>
              <a:gd name="adj" fmla="val 717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81100" y="2114550"/>
            <a:ext cx="22860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价值判断 5 问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00150" y="2686050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✓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543050" y="2695575"/>
            <a:ext cx="1219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高频吗？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848610" y="2699385"/>
            <a:ext cx="2282825" cy="23431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销售是否经常在拜访前查找这些信息？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00150" y="3181350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✓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543050" y="3190875"/>
            <a:ext cx="1219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查找成本高吗？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2848610" y="3184525"/>
            <a:ext cx="2200910" cy="2444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信息是否分散在资料、政策、表格中？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00150" y="3676650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✓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43050" y="3686175"/>
            <a:ext cx="1219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容易出错吗？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848610" y="3703955"/>
            <a:ext cx="2560320" cy="220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口径是否容易不一致、字段是否需要标准化？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200150" y="4171950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✓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543050" y="4181475"/>
            <a:ext cx="1219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输出明确吗？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848610" y="4199255"/>
            <a:ext cx="2396490" cy="2203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最终是否能形成一张清晰的内部参考卡？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543050" y="4676775"/>
            <a:ext cx="12192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比 Excel 更好吗？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848610" y="4652010"/>
            <a:ext cx="2396490" cy="2628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是否需要筛选、生成、复用和持续迭代？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905500" y="1714500"/>
            <a:ext cx="4953000" cy="3714750"/>
          </a:xfrm>
          <a:prstGeom prst="roundRect">
            <a:avLst>
              <a:gd name="adj" fmla="val 7179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00800" y="2114550"/>
            <a:ext cx="2095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8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套到本案例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43650" y="2705100"/>
            <a:ext cx="2044700" cy="1079500"/>
          </a:xfrm>
          <a:prstGeom prst="roundRect">
            <a:avLst>
              <a:gd name="adj" fmla="val 1956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553200" y="2933700"/>
            <a:ext cx="438150" cy="4381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124700" y="2933700"/>
            <a:ext cx="819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50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信息分散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124700" y="3219450"/>
            <a:ext cx="1134745" cy="4787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产品资料、医保政策、内部文件分散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582660" y="2705100"/>
            <a:ext cx="2025015" cy="1079500"/>
          </a:xfrm>
          <a:prstGeom prst="roundRect">
            <a:avLst>
              <a:gd name="adj" fmla="val 1956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792210" y="2933700"/>
            <a:ext cx="438150" cy="4381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363710" y="2933700"/>
            <a:ext cx="819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50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字段固定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363710" y="3219450"/>
            <a:ext cx="1055370" cy="47879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价格、日治疗费用、DDD、医保条件相对明确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343650" y="3991610"/>
            <a:ext cx="2025015" cy="1079500"/>
          </a:xfrm>
          <a:prstGeom prst="roundRect">
            <a:avLst>
              <a:gd name="adj" fmla="val 1956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553200" y="4220210"/>
            <a:ext cx="438150" cy="4381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124700" y="4220210"/>
            <a:ext cx="819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50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查询频繁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124700" y="4505960"/>
            <a:ext cx="81915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销售拜访前需要快速准备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582660" y="3991610"/>
            <a:ext cx="2044700" cy="1106805"/>
          </a:xfrm>
          <a:prstGeom prst="roundRect">
            <a:avLst>
              <a:gd name="adj" fmla="val 19565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792210" y="4220210"/>
            <a:ext cx="438150" cy="4381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363710" y="4220210"/>
            <a:ext cx="8191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50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输出清楚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363710" y="4505960"/>
            <a:ext cx="1063625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一张内部参考对比卡即可验证 MVP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2857500" y="5905500"/>
            <a:ext cx="6477000" cy="457200"/>
          </a:xfrm>
          <a:prstGeom prst="roundRect">
            <a:avLst>
              <a:gd name="adj" fmla="val 41667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52400" rIns="1524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2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结论：这个案例适合做小应用 MVP，因为高频、标准化、输出明确。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1200150" y="4653280"/>
            <a:ext cx="228600" cy="228600"/>
          </a:xfrm>
          <a:prstGeom prst="roundRect">
            <a:avLst>
              <a:gd name="adj" fmla="val 29167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75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✓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08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不要说“销售会用”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要说清楚：销售什么时候用、怎么用、用完拿到什么。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81050" y="1733550"/>
            <a:ext cx="5219700" cy="3676650"/>
          </a:xfrm>
          <a:prstGeom prst="roundRect">
            <a:avLst>
              <a:gd name="adj" fmla="val 725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62050" y="2095500"/>
            <a:ext cx="1257300" cy="323850"/>
          </a:xfrm>
          <a:prstGeom prst="roundRect">
            <a:avLst>
              <a:gd name="adj" fmla="val 35294"/>
            </a:avLst>
          </a:prstGeom>
          <a:solidFill>
            <a:srgbClr val="1F6FE5">
              <a:alpha val="100000"/>
            </a:srgbClr>
          </a:solidFill>
          <a:ln w="12700">
            <a:solidFill>
              <a:srgbClr val="1F6FE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场景表达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162050" y="2705100"/>
            <a:ext cx="3429000" cy="3238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9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CFC 拜访前 5-10 分钟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00150" y="3333750"/>
            <a:ext cx="5143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人物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866900" y="3333750"/>
            <a:ext cx="3390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CFC / 销售代表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00150" y="3771900"/>
            <a:ext cx="5143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任务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866900" y="3771900"/>
            <a:ext cx="3390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快速查看产品与竞品差异，确认沟通口径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00150" y="4210050"/>
            <a:ext cx="5143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环境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866900" y="4210050"/>
            <a:ext cx="3390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手机或电脑上快速查询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200150" y="4648200"/>
            <a:ext cx="5143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结果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866900" y="4648200"/>
            <a:ext cx="33909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2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生成一张结构化内部参考卡片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24650" y="1752600"/>
            <a:ext cx="4095750" cy="666750"/>
          </a:xfrm>
          <a:prstGeom prst="roundRect">
            <a:avLst>
              <a:gd name="adj" fmla="val 25714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934200" y="1895475"/>
            <a:ext cx="381000" cy="381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467600" y="1885950"/>
            <a:ext cx="1809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选择产品和地区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467600" y="2133600"/>
            <a:ext cx="27432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明确查询对象和政策口径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724650" y="2780030"/>
            <a:ext cx="4095750" cy="666750"/>
          </a:xfrm>
          <a:prstGeom prst="roundRect">
            <a:avLst>
              <a:gd name="adj" fmla="val 25714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934200" y="2922905"/>
            <a:ext cx="381000" cy="381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467600" y="2913380"/>
            <a:ext cx="1809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查看标准对比卡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467600" y="3161030"/>
            <a:ext cx="27432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价格、日治疗费用、DDD、医保条件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724650" y="3788410"/>
            <a:ext cx="4095750" cy="666750"/>
          </a:xfrm>
          <a:prstGeom prst="roundRect">
            <a:avLst>
              <a:gd name="adj" fmla="val 25714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934200" y="3931285"/>
            <a:ext cx="381000" cy="381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vert="horz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7467600" y="3921760"/>
            <a:ext cx="1809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确认来源与边界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467600" y="4169410"/>
            <a:ext cx="27432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查看资料来源、更新时间、合规提示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724650" y="4749165"/>
            <a:ext cx="4095750" cy="666750"/>
          </a:xfrm>
          <a:prstGeom prst="roundRect">
            <a:avLst>
              <a:gd name="adj" fmla="val 25714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934200" y="4892040"/>
            <a:ext cx="381000" cy="381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467600" y="4882515"/>
            <a:ext cx="1809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2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保存内部参考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467600" y="5130165"/>
            <a:ext cx="27432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用于拜访前准备和会后复盘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2095500" y="5905500"/>
            <a:ext cx="8001000" cy="457200"/>
          </a:xfrm>
          <a:prstGeom prst="roundRect">
            <a:avLst>
              <a:gd name="adj" fmla="val 41667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52400" rIns="1524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场景越具体，功能越容易自然长出来。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09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从打开工具到拿到结果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把用户流程拆清楚，形成后续页面和功能的骨架。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2000250"/>
            <a:ext cx="2000250" cy="2400300"/>
          </a:xfrm>
          <a:prstGeom prst="roundRect">
            <a:avLst>
              <a:gd name="adj" fmla="val 1142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333500" y="2209800"/>
            <a:ext cx="1619250" cy="323850"/>
          </a:xfrm>
          <a:prstGeom prst="roundRect">
            <a:avLst>
              <a:gd name="adj" fmla="val 35294"/>
            </a:avLst>
          </a:prstGeom>
          <a:solidFill>
            <a:srgbClr val="1F6FE5">
              <a:alpha val="100000"/>
            </a:srgbClr>
          </a:solidFill>
          <a:ln w="12700">
            <a:solidFill>
              <a:srgbClr val="1F6FE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进入工具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847850" y="2914650"/>
            <a:ext cx="590550" cy="5905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75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504950" y="3733800"/>
            <a:ext cx="127635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销售打开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准备助手</a:t>
            </a:r>
          </a:p>
        </p:txBody>
      </p:sp>
      <p:cxnSp>
        <p:nvCxnSpPr>
          <p:cNvPr name="Connector 12" id="12"/>
          <p:cNvCxnSpPr/>
          <p:nvPr/>
        </p:nvCxnSpPr>
        <p:spPr>
          <a:xfrm rot="0" flipH="false" flipV="false">
            <a:off x="3162300" y="3181350"/>
            <a:ext cx="457200" cy="0"/>
          </a:xfrm>
          <a:prstGeom prst="line">
            <a:avLst/>
          </a:prstGeom>
          <a:noFill/>
          <a:ln w="12700">
            <a:solidFill>
              <a:srgbClr val="8DB9E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3714750" y="2000250"/>
            <a:ext cx="2000250" cy="2400300"/>
          </a:xfrm>
          <a:prstGeom prst="roundRect">
            <a:avLst>
              <a:gd name="adj" fmla="val 1142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905250" y="2209800"/>
            <a:ext cx="1619250" cy="323850"/>
          </a:xfrm>
          <a:prstGeom prst="roundRect">
            <a:avLst>
              <a:gd name="adj" fmla="val 35294"/>
            </a:avLst>
          </a:prstGeom>
          <a:solidFill>
            <a:srgbClr val="16A085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选择产品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419600" y="2914650"/>
            <a:ext cx="590550" cy="59055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75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076700" y="3733800"/>
            <a:ext cx="127635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选择公司产品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与地区口径</a:t>
            </a:r>
          </a:p>
        </p:txBody>
      </p:sp>
      <p:cxnSp>
        <p:nvCxnSpPr>
          <p:cNvPr name="Connector 17" id="17"/>
          <p:cNvCxnSpPr/>
          <p:nvPr/>
        </p:nvCxnSpPr>
        <p:spPr>
          <a:xfrm rot="0" flipH="false" flipV="false">
            <a:off x="5734050" y="3181350"/>
            <a:ext cx="457200" cy="0"/>
          </a:xfrm>
          <a:prstGeom prst="line">
            <a:avLst/>
          </a:prstGeom>
          <a:noFill/>
          <a:ln w="12700">
            <a:solidFill>
              <a:srgbClr val="8DB9E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6286500" y="2000250"/>
            <a:ext cx="2000250" cy="2400300"/>
          </a:xfrm>
          <a:prstGeom prst="roundRect">
            <a:avLst>
              <a:gd name="adj" fmla="val 1142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2209800"/>
            <a:ext cx="1619250" cy="323850"/>
          </a:xfrm>
          <a:prstGeom prst="roundRect">
            <a:avLst>
              <a:gd name="adj" fmla="val 35294"/>
            </a:avLst>
          </a:prstGeom>
          <a:solidFill>
            <a:srgbClr val="1F6FE5">
              <a:alpha val="100000"/>
            </a:srgbClr>
          </a:solidFill>
          <a:ln w="12700">
            <a:solidFill>
              <a:srgbClr val="1F6FE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展示竞品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991350" y="2914650"/>
            <a:ext cx="590550" cy="5905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75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648450" y="3733800"/>
            <a:ext cx="127635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系统展示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预设竞品</a:t>
            </a:r>
          </a:p>
        </p:txBody>
      </p:sp>
      <p:cxnSp>
        <p:nvCxnSpPr>
          <p:cNvPr name="Connector 22" id="22"/>
          <p:cNvCxnSpPr/>
          <p:nvPr/>
        </p:nvCxnSpPr>
        <p:spPr>
          <a:xfrm rot="0" flipH="false" flipV="false">
            <a:off x="8305800" y="3181350"/>
            <a:ext cx="457200" cy="0"/>
          </a:xfrm>
          <a:prstGeom prst="line">
            <a:avLst/>
          </a:prstGeom>
          <a:noFill/>
          <a:ln w="12700">
            <a:solidFill>
              <a:srgbClr val="8DB9E8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8858250" y="2000250"/>
            <a:ext cx="2000250" cy="2400300"/>
          </a:xfrm>
          <a:prstGeom prst="roundRect">
            <a:avLst>
              <a:gd name="adj" fmla="val 11429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048750" y="2209800"/>
            <a:ext cx="1619250" cy="323850"/>
          </a:xfrm>
          <a:prstGeom prst="roundRect">
            <a:avLst>
              <a:gd name="adj" fmla="val 35294"/>
            </a:avLst>
          </a:prstGeom>
          <a:solidFill>
            <a:srgbClr val="F4A23A">
              <a:alpha val="100000"/>
            </a:srgbClr>
          </a:solidFill>
          <a:ln w="12700">
            <a:solidFill>
              <a:srgbClr val="F4A23A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生成卡片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563100" y="2914650"/>
            <a:ext cx="590550" cy="59055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875">
                <a:solidFill>
                  <a:srgbClr val="F4A23A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220200" y="3733800"/>
            <a:ext cx="127635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tru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输出内部</a:t>
            </a:r>
            <a:endParaRPr lang="en-US" sz="1100"/>
          </a:p>
          <a:p>
            <a:pPr algn="ctr" marL="0" indent="0">
              <a:lnSpc>
                <a:spcPct val="116666"/>
              </a:lnSpc>
            </a:pPr>
            <a:r>
              <a:rPr lang="en-US" b="true" i="false" strike="noStrike" u="none" sz="12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参考卡片</a:t>
            </a:r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200150" y="4762500"/>
            <a:ext cx="188595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入口：无需复杂登录流程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771900" y="4762500"/>
            <a:ext cx="188595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输入：产品、地区/政策口径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343650" y="4762500"/>
            <a:ext cx="188595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处理：读取预设竞品与字段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915400" y="4762500"/>
            <a:ext cx="188595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输出：卡片、来源、更新时间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2095500" y="5905500"/>
            <a:ext cx="8001000" cy="457200"/>
          </a:xfrm>
          <a:prstGeom prst="roundRect">
            <a:avLst>
              <a:gd name="adj" fmla="val 41667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52400" rIns="1524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Agent 开发应用时，最需要知道的就是这条核心流程。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10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需求清单：字段定义（示例）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字段越清楚，Agent 生成页面和数据结构时越不容易跑偏。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38200" y="1619250"/>
            <a:ext cx="8477250" cy="4000500"/>
          </a:xfrm>
          <a:prstGeom prst="roundRect">
            <a:avLst>
              <a:gd name="adj" fmla="val 4286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104900" y="1905000"/>
            <a:ext cx="1238250" cy="323850"/>
          </a:xfrm>
          <a:prstGeom prst="roundRect">
            <a:avLst>
              <a:gd name="adj" fmla="val 35294"/>
            </a:avLst>
          </a:prstGeom>
          <a:solidFill>
            <a:srgbClr val="1F6FE5">
              <a:alpha val="100000"/>
            </a:srgbClr>
          </a:solidFill>
          <a:ln w="12700">
            <a:solidFill>
              <a:srgbClr val="1F6FE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字段类别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628900" y="1905000"/>
            <a:ext cx="1905000" cy="323850"/>
          </a:xfrm>
          <a:prstGeom prst="roundRect">
            <a:avLst>
              <a:gd name="adj" fmla="val 35294"/>
            </a:avLst>
          </a:prstGeom>
          <a:solidFill>
            <a:srgbClr val="1F6FE5">
              <a:alpha val="100000"/>
            </a:srgbClr>
          </a:solidFill>
          <a:ln w="12700">
            <a:solidFill>
              <a:srgbClr val="1F6FE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字段示例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819650" y="1905000"/>
            <a:ext cx="1524000" cy="323850"/>
          </a:xfrm>
          <a:prstGeom prst="roundRect">
            <a:avLst>
              <a:gd name="adj" fmla="val 35294"/>
            </a:avLst>
          </a:prstGeom>
          <a:solidFill>
            <a:srgbClr val="1F6FE5">
              <a:alpha val="100000"/>
            </a:srgbClr>
          </a:solidFill>
          <a:ln w="12700">
            <a:solidFill>
              <a:srgbClr val="1F6FE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类型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724650" y="1905000"/>
            <a:ext cx="1047750" cy="323850"/>
          </a:xfrm>
          <a:prstGeom prst="roundRect">
            <a:avLst>
              <a:gd name="adj" fmla="val 35294"/>
            </a:avLst>
          </a:prstGeom>
          <a:solidFill>
            <a:srgbClr val="1F6FE5">
              <a:alpha val="100000"/>
            </a:srgbClr>
          </a:solidFill>
          <a:ln w="12700">
            <a:solidFill>
              <a:srgbClr val="1F6FE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是否必填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58150" y="1905000"/>
            <a:ext cx="857250" cy="323850"/>
          </a:xfrm>
          <a:prstGeom prst="roundRect">
            <a:avLst>
              <a:gd name="adj" fmla="val 35294"/>
            </a:avLst>
          </a:prstGeom>
          <a:solidFill>
            <a:srgbClr val="16A085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备注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47750" y="2343150"/>
            <a:ext cx="7810500" cy="342900"/>
          </a:xfrm>
          <a:prstGeom prst="roundRect">
            <a:avLst>
              <a:gd name="adj" fmla="val 22221"/>
            </a:avLst>
          </a:prstGeom>
          <a:solidFill>
            <a:srgbClr val="F8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181100" y="2419350"/>
            <a:ext cx="114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产品信息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705100" y="2419350"/>
            <a:ext cx="1809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产品名称、规格、组别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895850" y="2419350"/>
            <a:ext cx="1428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文本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00850" y="2419350"/>
            <a:ext cx="952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1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34350" y="2419350"/>
            <a:ext cx="762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标准名称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181100" y="2876550"/>
            <a:ext cx="114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竞品信息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705100" y="2876550"/>
            <a:ext cx="1809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竞品名称、核心特点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895850" y="2876550"/>
            <a:ext cx="1428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文本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800850" y="2876550"/>
            <a:ext cx="952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1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是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34350" y="2876550"/>
            <a:ext cx="762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占位示例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47750" y="3257550"/>
            <a:ext cx="7810500" cy="342900"/>
          </a:xfrm>
          <a:prstGeom prst="roundRect">
            <a:avLst>
              <a:gd name="adj" fmla="val 22221"/>
            </a:avLst>
          </a:prstGeom>
          <a:solidFill>
            <a:srgbClr val="F8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181100" y="3333750"/>
            <a:ext cx="114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对比维度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2705100" y="3333750"/>
            <a:ext cx="1809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价格、DDD、医保条件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895850" y="3333750"/>
            <a:ext cx="1428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多选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800850" y="3333750"/>
            <a:ext cx="952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1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是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134350" y="3333750"/>
            <a:ext cx="762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可扩展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181100" y="3790950"/>
            <a:ext cx="114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证据来源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2705100" y="3790950"/>
            <a:ext cx="1809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资料编号、更新时间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4895850" y="3790950"/>
            <a:ext cx="1428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文本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800850" y="3790950"/>
            <a:ext cx="952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1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是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134350" y="3790950"/>
            <a:ext cx="762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可追溯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047750" y="4171950"/>
            <a:ext cx="7810500" cy="342900"/>
          </a:xfrm>
          <a:prstGeom prst="roundRect">
            <a:avLst>
              <a:gd name="adj" fmla="val 22221"/>
            </a:avLst>
          </a:prstGeom>
          <a:solidFill>
            <a:srgbClr val="F8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181100" y="4248150"/>
            <a:ext cx="114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客户信息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2705100" y="4248150"/>
            <a:ext cx="1809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客户类型、关注点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4895850" y="4248150"/>
            <a:ext cx="1428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文本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800850" y="4248150"/>
            <a:ext cx="952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否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134350" y="4248150"/>
            <a:ext cx="762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内部使用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1181100" y="4705350"/>
            <a:ext cx="1143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其他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2705100" y="4705350"/>
            <a:ext cx="1809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备注、更新人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4895850" y="4705350"/>
            <a:ext cx="1428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文本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6800850" y="4705350"/>
            <a:ext cx="9525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否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8134350" y="4705350"/>
            <a:ext cx="7620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维护用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9620250" y="1866900"/>
            <a:ext cx="1676400" cy="3086100"/>
          </a:xfrm>
          <a:prstGeom prst="roundRect">
            <a:avLst>
              <a:gd name="adj" fmla="val 10227"/>
            </a:avLst>
          </a:prstGeom>
          <a:solidFill>
            <a:srgbClr val="FFF4DD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9906000" y="2247900"/>
            <a:ext cx="1104900" cy="552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先核心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8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后扩展</a:t>
            </a:r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9784080" y="3143250"/>
            <a:ext cx="1429385" cy="125857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50000"/>
              </a:lnSpc>
              <a:defRPr/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字段不是越多越好。</a:t>
            </a:r>
            <a:endParaRPr lang="en-US" sz="1100"/>
          </a:p>
          <a:p>
            <a:pPr algn="ctr" marL="0" indent="0">
              <a:lnSpc>
                <a:spcPct val="150000"/>
              </a:lnSpc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先把决定页面和输出的核心字段定义清楚，后续再迭代。</a:t>
            </a:r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2095500" y="5905500"/>
            <a:ext cx="8001000" cy="457200"/>
          </a:xfrm>
          <a:prstGeom prst="roundRect">
            <a:avLst>
              <a:gd name="adj" fmla="val 41667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52400" rIns="1524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42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字段定义是 PRD 中最容易被忽略、但最影响开发结果的部分。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11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MVP：怎么判断第一版先做什么？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不是按“我想要”排序，而是按“能不能跑通核心场景”排序。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38200" y="1695450"/>
            <a:ext cx="4267200" cy="3848100"/>
          </a:xfrm>
          <a:prstGeom prst="roundRect">
            <a:avLst>
              <a:gd name="adj" fmla="val 594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00150" y="2000250"/>
            <a:ext cx="1714500" cy="323850"/>
          </a:xfrm>
          <a:prstGeom prst="roundRect">
            <a:avLst>
              <a:gd name="adj" fmla="val 35294"/>
            </a:avLst>
          </a:prstGeom>
          <a:solidFill>
            <a:srgbClr val="1F6FE5">
              <a:alpha val="100000"/>
            </a:srgbClr>
          </a:solidFill>
          <a:ln w="12700">
            <a:solidFill>
              <a:srgbClr val="1F6FE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四个判断问题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200150" y="2552700"/>
            <a:ext cx="419100" cy="419100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790700" y="2571750"/>
            <a:ext cx="2571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139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没有它，核心流程还能跑通吗？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790700" y="2838450"/>
            <a:ext cx="25717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不能，就是 P0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00150" y="3219450"/>
            <a:ext cx="419100" cy="419100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790700" y="3238500"/>
            <a:ext cx="2571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139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没有它，用户还愿意试用吗？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90700" y="3505200"/>
            <a:ext cx="25717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明显影响，就是 P1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200150" y="3886200"/>
            <a:ext cx="419100" cy="419100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F4A23A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790700" y="3905250"/>
            <a:ext cx="2571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139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没有它，只是体验没那么好吗？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790700" y="4171950"/>
            <a:ext cx="25717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通常先放 P2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200150" y="4552950"/>
            <a:ext cx="419100" cy="419100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350">
                <a:solidFill>
                  <a:srgbClr val="60758C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790700" y="4572000"/>
            <a:ext cx="2571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139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它会不会让系统变重？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790700" y="4838700"/>
            <a:ext cx="25717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复杂集成先后置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581650" y="1695450"/>
            <a:ext cx="5676900" cy="3848100"/>
          </a:xfrm>
          <a:prstGeom prst="roundRect">
            <a:avLst>
              <a:gd name="adj" fmla="val 594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943600" y="2000250"/>
            <a:ext cx="2000250" cy="323850"/>
          </a:xfrm>
          <a:prstGeom prst="roundRect">
            <a:avLst>
              <a:gd name="adj" fmla="val 35294"/>
            </a:avLst>
          </a:prstGeom>
          <a:solidFill>
            <a:srgbClr val="16A085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放到本案例里判断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943600" y="2514600"/>
            <a:ext cx="4762500" cy="247650"/>
          </a:xfrm>
          <a:prstGeom prst="roundRect">
            <a:avLst>
              <a:gd name="adj" fmla="val 26923"/>
            </a:avLst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115050" y="2581275"/>
            <a:ext cx="12192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88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功能/事项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486650" y="2581275"/>
            <a:ext cx="180975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88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判断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639300" y="2552700"/>
            <a:ext cx="495300" cy="171450"/>
          </a:xfrm>
          <a:prstGeom prst="roundRect">
            <a:avLst>
              <a:gd name="adj" fmla="val 50000"/>
            </a:avLst>
          </a:prstGeom>
          <a:noFill/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696450" y="2581275"/>
            <a:ext cx="3810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8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结论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5943600" y="2819400"/>
            <a:ext cx="4762500" cy="247650"/>
          </a:xfrm>
          <a:prstGeom prst="roundRect">
            <a:avLst>
              <a:gd name="adj" fmla="val 2692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115050" y="2886075"/>
            <a:ext cx="12192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产品选择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486650" y="2886075"/>
            <a:ext cx="180975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没有它无法开始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639300" y="2857500"/>
            <a:ext cx="495300" cy="171450"/>
          </a:xfrm>
          <a:prstGeom prst="roundRect">
            <a:avLst>
              <a:gd name="adj" fmla="val 50000"/>
            </a:avLst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696450" y="2886075"/>
            <a:ext cx="3810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8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P0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5943600" y="3124200"/>
            <a:ext cx="4762500" cy="247650"/>
          </a:xfrm>
          <a:prstGeom prst="roundRect">
            <a:avLst>
              <a:gd name="adj" fmla="val 26923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115050" y="3190875"/>
            <a:ext cx="12192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竞品选择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486650" y="3190875"/>
            <a:ext cx="180975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没有它无法对比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639300" y="3162300"/>
            <a:ext cx="495300" cy="171450"/>
          </a:xfrm>
          <a:prstGeom prst="roundRect">
            <a:avLst>
              <a:gd name="adj" fmla="val 50000"/>
            </a:avLst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696450" y="3190875"/>
            <a:ext cx="3810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8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P0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5943600" y="3429000"/>
            <a:ext cx="4762500" cy="247650"/>
          </a:xfrm>
          <a:prstGeom prst="roundRect">
            <a:avLst>
              <a:gd name="adj" fmla="val 2692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6115050" y="3495675"/>
            <a:ext cx="12192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核心字段展示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7486650" y="3495675"/>
            <a:ext cx="180975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没有它没有价值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639300" y="3467100"/>
            <a:ext cx="495300" cy="171450"/>
          </a:xfrm>
          <a:prstGeom prst="roundRect">
            <a:avLst>
              <a:gd name="adj" fmla="val 50000"/>
            </a:avLst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696450" y="3495675"/>
            <a:ext cx="3810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85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P0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5943600" y="3733800"/>
            <a:ext cx="4762500" cy="247650"/>
          </a:xfrm>
          <a:prstGeom prst="roundRect">
            <a:avLst>
              <a:gd name="adj" fmla="val 26923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6115050" y="3800475"/>
            <a:ext cx="12192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导出图片/PDF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7486650" y="3800475"/>
            <a:ext cx="180975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方便内部复盘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9639300" y="3771900"/>
            <a:ext cx="495300" cy="171450"/>
          </a:xfrm>
          <a:prstGeom prst="roundRect">
            <a:avLst>
              <a:gd name="adj" fmla="val 50000"/>
            </a:avLst>
          </a:prstGeom>
          <a:solidFill>
            <a:srgbClr val="EAF8F5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9696450" y="3800475"/>
            <a:ext cx="3810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85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P1</a:t>
            </a:r>
            <a:endParaRPr lang="en-US" sz="1100"/>
          </a:p>
        </p:txBody>
      </p:sp>
      <p:sp>
        <p:nvSpPr>
          <p:cNvPr name="AutoShape 49" id="49"/>
          <p:cNvSpPr/>
          <p:nvPr/>
        </p:nvSpPr>
        <p:spPr>
          <a:xfrm rot="0" flipH="false" flipV="false">
            <a:off x="5943600" y="4038600"/>
            <a:ext cx="4762500" cy="247650"/>
          </a:xfrm>
          <a:prstGeom prst="roundRect">
            <a:avLst>
              <a:gd name="adj" fmla="val 2692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6115050" y="4105275"/>
            <a:ext cx="12192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缺失数据反馈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7486650" y="4105275"/>
            <a:ext cx="180975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有助于迭代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9639300" y="4076700"/>
            <a:ext cx="495300" cy="171450"/>
          </a:xfrm>
          <a:prstGeom prst="roundRect">
            <a:avLst>
              <a:gd name="adj" fmla="val 50000"/>
            </a:avLst>
          </a:prstGeom>
          <a:solidFill>
            <a:srgbClr val="EAF8F5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9696450" y="4105275"/>
            <a:ext cx="3810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85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P1</a:t>
            </a:r>
            <a:endParaRPr lang="en-US" sz="1100"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5943600" y="4343400"/>
            <a:ext cx="4762500" cy="247650"/>
          </a:xfrm>
          <a:prstGeom prst="roundRect">
            <a:avLst>
              <a:gd name="adj" fmla="val 26923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6115050" y="4410075"/>
            <a:ext cx="12192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自动政策抓取</a:t>
            </a:r>
            <a:endParaRPr lang="en-US" sz="1100"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7486650" y="4410075"/>
            <a:ext cx="180975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技术/数据复杂</a:t>
            </a:r>
            <a:endParaRPr lang="en-US" sz="1100"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9639300" y="4381500"/>
            <a:ext cx="495300" cy="171450"/>
          </a:xfrm>
          <a:prstGeom prst="roundRect">
            <a:avLst>
              <a:gd name="adj" fmla="val 50000"/>
            </a:avLst>
          </a:prstGeom>
          <a:solidFill>
            <a:srgbClr val="FFF4DD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9696450" y="4410075"/>
            <a:ext cx="3810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85">
                <a:solidFill>
                  <a:srgbClr val="F4A23A"/>
                </a:solidFill>
                <a:latin typeface="PingFang SC"/>
                <a:ea typeface="PingFang SC"/>
                <a:cs typeface="PingFang SC"/>
                <a:sym typeface="PingFang SC"/>
              </a:rPr>
              <a:t>P2</a:t>
            </a:r>
            <a:endParaRPr lang="en-US" sz="1100"/>
          </a:p>
        </p:txBody>
      </p:sp>
      <p:sp>
        <p:nvSpPr>
          <p:cNvPr name="AutoShape 59" id="59"/>
          <p:cNvSpPr/>
          <p:nvPr/>
        </p:nvSpPr>
        <p:spPr>
          <a:xfrm rot="0" flipH="false" flipV="false">
            <a:off x="5943600" y="4648200"/>
            <a:ext cx="4762500" cy="247650"/>
          </a:xfrm>
          <a:prstGeom prst="roundRect">
            <a:avLst>
              <a:gd name="adj" fmla="val 26923"/>
            </a:avLst>
          </a:prstGeom>
          <a:solidFill>
            <a:srgbClr val="FFF7F7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0" id="60"/>
          <p:cNvSpPr/>
          <p:nvPr/>
        </p:nvSpPr>
        <p:spPr>
          <a:xfrm rot="0" flipH="false" flipV="false">
            <a:off x="6115050" y="4714875"/>
            <a:ext cx="12192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治疗建议/话术</a:t>
            </a:r>
            <a:endParaRPr lang="en-US" sz="1100"/>
          </a:p>
        </p:txBody>
      </p:sp>
      <p:sp>
        <p:nvSpPr>
          <p:cNvPr name="AutoShape 61" id="61"/>
          <p:cNvSpPr/>
          <p:nvPr/>
        </p:nvSpPr>
        <p:spPr>
          <a:xfrm rot="0" flipH="false" flipV="false">
            <a:off x="7486650" y="4714875"/>
            <a:ext cx="180975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不符合工具定位</a:t>
            </a:r>
            <a:endParaRPr lang="en-US" sz="1100"/>
          </a:p>
        </p:txBody>
      </p:sp>
      <p:sp>
        <p:nvSpPr>
          <p:cNvPr name="AutoShape 62" id="62"/>
          <p:cNvSpPr/>
          <p:nvPr/>
        </p:nvSpPr>
        <p:spPr>
          <a:xfrm rot="0" flipH="false" flipV="false">
            <a:off x="9639300" y="4686300"/>
            <a:ext cx="495300" cy="171450"/>
          </a:xfrm>
          <a:prstGeom prst="roundRect">
            <a:avLst>
              <a:gd name="adj" fmla="val 50000"/>
            </a:avLst>
          </a:prstGeom>
          <a:solidFill>
            <a:srgbClr val="FFF1F1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3" id="63"/>
          <p:cNvSpPr/>
          <p:nvPr/>
        </p:nvSpPr>
        <p:spPr>
          <a:xfrm rot="0" flipH="false" flipV="false">
            <a:off x="9696450" y="4714875"/>
            <a:ext cx="3810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85">
                <a:solidFill>
                  <a:srgbClr val="D84A4A"/>
                </a:solidFill>
                <a:latin typeface="PingFang SC"/>
                <a:ea typeface="PingFang SC"/>
                <a:cs typeface="PingFang SC"/>
                <a:sym typeface="PingFang SC"/>
              </a:rPr>
              <a:t>不做</a:t>
            </a:r>
            <a:endParaRPr lang="en-US" sz="1100"/>
          </a:p>
        </p:txBody>
      </p:sp>
      <p:sp>
        <p:nvSpPr>
          <p:cNvPr name="AutoShape 64" id="64"/>
          <p:cNvSpPr/>
          <p:nvPr/>
        </p:nvSpPr>
        <p:spPr>
          <a:xfrm rot="0" flipH="false" flipV="false">
            <a:off x="5943600" y="4953000"/>
            <a:ext cx="4762500" cy="247650"/>
          </a:xfrm>
          <a:prstGeom prst="roundRect">
            <a:avLst>
              <a:gd name="adj" fmla="val 26923"/>
            </a:avLst>
          </a:prstGeom>
          <a:solidFill>
            <a:srgbClr val="FFF7F7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5" id="65"/>
          <p:cNvSpPr/>
          <p:nvPr/>
        </p:nvSpPr>
        <p:spPr>
          <a:xfrm rot="0" flipH="false" flipV="false">
            <a:off x="6115050" y="5019675"/>
            <a:ext cx="12192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外部客户材料</a:t>
            </a:r>
            <a:endParaRPr lang="en-US" sz="1100"/>
          </a:p>
        </p:txBody>
      </p:sp>
      <p:sp>
        <p:nvSpPr>
          <p:cNvPr name="AutoShape 66" id="66"/>
          <p:cNvSpPr/>
          <p:nvPr/>
        </p:nvSpPr>
        <p:spPr>
          <a:xfrm rot="0" flipH="false" flipV="false">
            <a:off x="7486650" y="5019675"/>
            <a:ext cx="180975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88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超出当前场景</a:t>
            </a:r>
            <a:endParaRPr lang="en-US" sz="1100"/>
          </a:p>
        </p:txBody>
      </p:sp>
      <p:sp>
        <p:nvSpPr>
          <p:cNvPr name="AutoShape 67" id="67"/>
          <p:cNvSpPr/>
          <p:nvPr/>
        </p:nvSpPr>
        <p:spPr>
          <a:xfrm rot="0" flipH="false" flipV="false">
            <a:off x="9639300" y="4991100"/>
            <a:ext cx="495300" cy="171450"/>
          </a:xfrm>
          <a:prstGeom prst="roundRect">
            <a:avLst>
              <a:gd name="adj" fmla="val 50000"/>
            </a:avLst>
          </a:prstGeom>
          <a:solidFill>
            <a:srgbClr val="FFF1F1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8" id="68"/>
          <p:cNvSpPr/>
          <p:nvPr/>
        </p:nvSpPr>
        <p:spPr>
          <a:xfrm rot="0" flipH="false" flipV="false">
            <a:off x="9696450" y="5019675"/>
            <a:ext cx="3810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85">
                <a:solidFill>
                  <a:srgbClr val="D84A4A"/>
                </a:solidFill>
                <a:latin typeface="PingFang SC"/>
                <a:ea typeface="PingFang SC"/>
                <a:cs typeface="PingFang SC"/>
                <a:sym typeface="PingFang SC"/>
              </a:rPr>
              <a:t>不做</a:t>
            </a:r>
            <a:endParaRPr lang="en-US" sz="1100"/>
          </a:p>
        </p:txBody>
      </p:sp>
      <p:sp>
        <p:nvSpPr>
          <p:cNvPr name="AutoShape 69" id="69"/>
          <p:cNvSpPr/>
          <p:nvPr/>
        </p:nvSpPr>
        <p:spPr>
          <a:xfrm rot="0" flipH="false" flipV="false">
            <a:off x="2286000" y="5905500"/>
            <a:ext cx="7620000" cy="457200"/>
          </a:xfrm>
          <a:prstGeom prst="roundRect">
            <a:avLst>
              <a:gd name="adj" fmla="val 41667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52400" rIns="1524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MVP 不只是决定先做什么，也要明确第一版不做什么。</a:t>
            </a:r>
            <a:endParaRPr lang="en-US" sz="1100"/>
          </a:p>
        </p:txBody>
      </p:sp>
      <p:sp>
        <p:nvSpPr>
          <p:cNvPr name="AutoShape 70" id="70"/>
          <p:cNvSpPr/>
          <p:nvPr/>
        </p:nvSpPr>
        <p:spPr>
          <a:xfrm rot="0" flipH="false" flipV="false">
            <a:off x="533400" y="6343650"/>
            <a:ext cx="247650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939">
                <a:solidFill>
                  <a:srgbClr val="7890A8"/>
                </a:solidFill>
                <a:latin typeface="PingFang SC"/>
                <a:ea typeface="PingFang SC"/>
                <a:cs typeface="PingFang SC"/>
                <a:sym typeface="PingFang SC"/>
              </a:rPr>
              <a:t>AI 训练营 · 模块 2 第 2 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12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一份够用的 AI 小应用 PRD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不需要厚文档，但要让 Agent 明确知道做什么、怎么判断做对。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581650" y="1600200"/>
            <a:ext cx="4953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PRD 不是目录，而是把问题回答完整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581650" y="2038350"/>
            <a:ext cx="5524500" cy="933450"/>
          </a:xfrm>
          <a:prstGeom prst="roundRect">
            <a:avLst>
              <a:gd name="adj" fmla="val 18367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810250" y="2266950"/>
            <a:ext cx="476250" cy="476250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96050" y="2209800"/>
            <a:ext cx="17145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为什么做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96050" y="2495550"/>
            <a:ext cx="2000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把想法放回业务场景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648700" y="2138045"/>
            <a:ext cx="9906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业务背景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753600" y="2138045"/>
            <a:ext cx="9906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目标用户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648700" y="2533650"/>
            <a:ext cx="9906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使用场景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753600" y="2533650"/>
            <a:ext cx="9906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核心目标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581650" y="3200400"/>
            <a:ext cx="5524500" cy="933450"/>
          </a:xfrm>
          <a:prstGeom prst="roundRect">
            <a:avLst>
              <a:gd name="adj" fmla="val 18367"/>
            </a:avLst>
          </a:prstGeom>
          <a:solidFill>
            <a:srgbClr val="F6FFFC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810250" y="3429000"/>
            <a:ext cx="476250" cy="476250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96050" y="3371850"/>
            <a:ext cx="17145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做什么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96050" y="3657600"/>
            <a:ext cx="2000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把体验拆成可开发模块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648700" y="3300095"/>
            <a:ext cx="9906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用户流程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753600" y="3300095"/>
            <a:ext cx="103124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页面与功能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648700" y="3695700"/>
            <a:ext cx="9906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数据字段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753600" y="3695700"/>
            <a:ext cx="103378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业务规则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581650" y="4362450"/>
            <a:ext cx="5524500" cy="933450"/>
          </a:xfrm>
          <a:prstGeom prst="roundRect">
            <a:avLst>
              <a:gd name="adj" fmla="val 18367"/>
            </a:avLst>
          </a:prstGeom>
          <a:solidFill>
            <a:srgbClr val="FFF9EB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5810250" y="4591050"/>
            <a:ext cx="476250" cy="476250"/>
          </a:xfrm>
          <a:prstGeom prst="ellipse">
            <a:avLst/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4A23A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96050" y="4533900"/>
            <a:ext cx="1714500" cy="2476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500">
                <a:solidFill>
                  <a:srgbClr val="F4A23A"/>
                </a:solidFill>
                <a:latin typeface="PingFang SC"/>
                <a:ea typeface="PingFang SC"/>
                <a:cs typeface="PingFang SC"/>
                <a:sym typeface="PingFang SC"/>
              </a:rPr>
              <a:t>怎么判断做对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96050" y="4819650"/>
            <a:ext cx="2000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把范围和验收说清楚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648700" y="4462145"/>
            <a:ext cx="9906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F4A23A"/>
                </a:solidFill>
                <a:latin typeface="PingFang SC"/>
                <a:ea typeface="PingFang SC"/>
                <a:cs typeface="PingFang SC"/>
                <a:sym typeface="PingFang SC"/>
              </a:rPr>
              <a:t>MVP 范围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753600" y="4462145"/>
            <a:ext cx="9906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F4A23A"/>
                </a:solidFill>
                <a:latin typeface="PingFang SC"/>
                <a:ea typeface="PingFang SC"/>
                <a:cs typeface="PingFang SC"/>
                <a:sym typeface="PingFang SC"/>
              </a:rPr>
              <a:t>使用边界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648700" y="4857750"/>
            <a:ext cx="9906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F4A23A"/>
                </a:solidFill>
                <a:latin typeface="PingFang SC"/>
                <a:ea typeface="PingFang SC"/>
                <a:cs typeface="PingFang SC"/>
                <a:sym typeface="PingFang SC"/>
              </a:rPr>
              <a:t>验收标准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914400" y="1600200"/>
            <a:ext cx="4171950" cy="4095750"/>
          </a:xfrm>
          <a:prstGeom prst="roundRect">
            <a:avLst>
              <a:gd name="adj" fmla="val 5581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1200150" y="1776095"/>
            <a:ext cx="1200150" cy="323850"/>
          </a:xfrm>
          <a:prstGeom prst="roundRect">
            <a:avLst>
              <a:gd name="adj" fmla="val 26470"/>
            </a:avLst>
          </a:prstGeom>
          <a:solidFill>
            <a:srgbClr val="1F6FE5">
              <a:alpha val="100000"/>
            </a:srgbClr>
          </a:solidFill>
          <a:ln w="12700">
            <a:solidFill>
              <a:srgbClr val="1F6FE5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371600" y="1852295"/>
            <a:ext cx="85725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89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PRD v0.1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1200150" y="2233295"/>
            <a:ext cx="2667000" cy="26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6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销售拜访准备助手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1200150" y="2538095"/>
            <a:ext cx="27622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89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产品与竞品对比卡片生成工具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200150" y="2919095"/>
            <a:ext cx="2000250" cy="323850"/>
          </a:xfrm>
          <a:prstGeom prst="roundRect">
            <a:avLst>
              <a:gd name="adj" fmla="val 50000"/>
            </a:avLst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目标：拜访前生成对比卡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3295650" y="2919095"/>
            <a:ext cx="1562100" cy="323850"/>
          </a:xfrm>
          <a:prstGeom prst="roundRect">
            <a:avLst>
              <a:gd name="adj" fmla="val 50000"/>
            </a:avLst>
          </a:prstGeom>
          <a:solidFill>
            <a:srgbClr val="EAF8F5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承载：轻量小程序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200150" y="3414395"/>
            <a:ext cx="9525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089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核心流程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200150" y="3681095"/>
            <a:ext cx="628650" cy="285750"/>
          </a:xfrm>
          <a:prstGeom prst="roundRect">
            <a:avLst>
              <a:gd name="adj" fmla="val 33333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1247775" y="3757295"/>
            <a:ext cx="533400" cy="133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6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选产品</a:t>
            </a:r>
            <a:endParaRPr lang="en-US" sz="1100"/>
          </a:p>
        </p:txBody>
      </p:sp>
      <p:cxnSp>
        <p:nvCxnSpPr>
          <p:cNvPr name="Connector 42" id="42"/>
          <p:cNvCxnSpPr/>
          <p:nvPr/>
        </p:nvCxnSpPr>
        <p:spPr>
          <a:xfrm rot="0" flipH="false" flipV="false">
            <a:off x="1847850" y="3823970"/>
            <a:ext cx="13335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43" id="43"/>
          <p:cNvSpPr/>
          <p:nvPr/>
        </p:nvSpPr>
        <p:spPr>
          <a:xfrm rot="0" flipH="false" flipV="false">
            <a:off x="2019300" y="3681095"/>
            <a:ext cx="628650" cy="285750"/>
          </a:xfrm>
          <a:prstGeom prst="roundRect">
            <a:avLst>
              <a:gd name="adj" fmla="val 33333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2066925" y="3757295"/>
            <a:ext cx="533400" cy="133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6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选竞品</a:t>
            </a:r>
            <a:endParaRPr lang="en-US" sz="1100"/>
          </a:p>
        </p:txBody>
      </p:sp>
      <p:cxnSp>
        <p:nvCxnSpPr>
          <p:cNvPr name="Connector 45" id="45"/>
          <p:cNvCxnSpPr/>
          <p:nvPr/>
        </p:nvCxnSpPr>
        <p:spPr>
          <a:xfrm rot="0" flipH="false" flipV="false">
            <a:off x="2667000" y="3823970"/>
            <a:ext cx="13335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46" id="46"/>
          <p:cNvSpPr/>
          <p:nvPr/>
        </p:nvSpPr>
        <p:spPr>
          <a:xfrm rot="0" flipH="false" flipV="false">
            <a:off x="2838450" y="3681095"/>
            <a:ext cx="628650" cy="285750"/>
          </a:xfrm>
          <a:prstGeom prst="roundRect">
            <a:avLst>
              <a:gd name="adj" fmla="val 33333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2886075" y="3757295"/>
            <a:ext cx="533400" cy="133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6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选字段</a:t>
            </a:r>
            <a:endParaRPr lang="en-US" sz="1100"/>
          </a:p>
        </p:txBody>
      </p:sp>
      <p:cxnSp>
        <p:nvCxnSpPr>
          <p:cNvPr name="Connector 48" id="48"/>
          <p:cNvCxnSpPr/>
          <p:nvPr/>
        </p:nvCxnSpPr>
        <p:spPr>
          <a:xfrm rot="0" flipH="false" flipV="false">
            <a:off x="3486150" y="3823970"/>
            <a:ext cx="13335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49" id="49"/>
          <p:cNvSpPr/>
          <p:nvPr/>
        </p:nvSpPr>
        <p:spPr>
          <a:xfrm rot="0" flipH="false" flipV="false">
            <a:off x="3657600" y="3681095"/>
            <a:ext cx="628650" cy="285750"/>
          </a:xfrm>
          <a:prstGeom prst="roundRect">
            <a:avLst>
              <a:gd name="adj" fmla="val 33333"/>
            </a:avLst>
          </a:prstGeom>
          <a:solidFill>
            <a:srgbClr val="EAF8F5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0" id="50"/>
          <p:cNvSpPr/>
          <p:nvPr/>
        </p:nvSpPr>
        <p:spPr>
          <a:xfrm rot="0" flipH="false" flipV="false">
            <a:off x="3705225" y="3757295"/>
            <a:ext cx="533400" cy="133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8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生成卡片</a:t>
            </a:r>
            <a:endParaRPr lang="en-US" sz="1100"/>
          </a:p>
        </p:txBody>
      </p:sp>
      <p:sp>
        <p:nvSpPr>
          <p:cNvPr name="AutoShape 51" id="51"/>
          <p:cNvSpPr/>
          <p:nvPr/>
        </p:nvSpPr>
        <p:spPr>
          <a:xfrm rot="0" flipH="false" flipV="false">
            <a:off x="1200150" y="4214495"/>
            <a:ext cx="1143000" cy="190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089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字段表（示意）</a:t>
            </a:r>
            <a:endParaRPr lang="en-US" sz="1100"/>
          </a:p>
        </p:txBody>
      </p:sp>
      <p:sp>
        <p:nvSpPr>
          <p:cNvPr name="AutoShape 52" id="52"/>
          <p:cNvSpPr/>
          <p:nvPr/>
        </p:nvSpPr>
        <p:spPr>
          <a:xfrm rot="0" flipH="false" flipV="false">
            <a:off x="1200150" y="4481195"/>
            <a:ext cx="2190750" cy="190500"/>
          </a:xfrm>
          <a:prstGeom prst="roundRect">
            <a:avLst>
              <a:gd name="adj" fmla="val 20000"/>
            </a:avLst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3" id="53"/>
          <p:cNvSpPr/>
          <p:nvPr/>
        </p:nvSpPr>
        <p:spPr>
          <a:xfrm rot="0" flipH="false" flipV="false">
            <a:off x="1314450" y="4519295"/>
            <a:ext cx="6096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73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字段</a:t>
            </a:r>
            <a:endParaRPr lang="en-US" sz="1100"/>
          </a:p>
        </p:txBody>
      </p:sp>
      <p:sp>
        <p:nvSpPr>
          <p:cNvPr name="AutoShape 54" id="54"/>
          <p:cNvSpPr/>
          <p:nvPr/>
        </p:nvSpPr>
        <p:spPr>
          <a:xfrm rot="0" flipH="false" flipV="false">
            <a:off x="2019300" y="4519295"/>
            <a:ext cx="6096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73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示例</a:t>
            </a:r>
            <a:endParaRPr lang="en-US" sz="1100"/>
          </a:p>
        </p:txBody>
      </p:sp>
      <p:sp>
        <p:nvSpPr>
          <p:cNvPr name="AutoShape 55" id="55"/>
          <p:cNvSpPr/>
          <p:nvPr/>
        </p:nvSpPr>
        <p:spPr>
          <a:xfrm rot="0" flipH="false" flipV="false">
            <a:off x="2724150" y="4519295"/>
            <a:ext cx="6096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73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状态</a:t>
            </a:r>
            <a:endParaRPr lang="en-US" sz="1100"/>
          </a:p>
        </p:txBody>
      </p:sp>
      <p:sp>
        <p:nvSpPr>
          <p:cNvPr name="AutoShape 56" id="56"/>
          <p:cNvSpPr/>
          <p:nvPr/>
        </p:nvSpPr>
        <p:spPr>
          <a:xfrm rot="0" flipH="false" flipV="false">
            <a:off x="1200150" y="4690745"/>
            <a:ext cx="219075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7" id="57"/>
          <p:cNvSpPr/>
          <p:nvPr/>
        </p:nvSpPr>
        <p:spPr>
          <a:xfrm rot="0" flipH="false" flipV="false">
            <a:off x="1314450" y="4728845"/>
            <a:ext cx="6096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73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价格</a:t>
            </a:r>
            <a:endParaRPr lang="en-US" sz="1100"/>
          </a:p>
        </p:txBody>
      </p:sp>
      <p:sp>
        <p:nvSpPr>
          <p:cNvPr name="AutoShape 58" id="58"/>
          <p:cNvSpPr/>
          <p:nvPr/>
        </p:nvSpPr>
        <p:spPr>
          <a:xfrm rot="0" flipH="false" flipV="false">
            <a:off x="2019300" y="4728845"/>
            <a:ext cx="6096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73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待补充</a:t>
            </a:r>
            <a:endParaRPr lang="en-US" sz="1100"/>
          </a:p>
        </p:txBody>
      </p:sp>
      <p:sp>
        <p:nvSpPr>
          <p:cNvPr name="AutoShape 59" id="59"/>
          <p:cNvSpPr/>
          <p:nvPr/>
        </p:nvSpPr>
        <p:spPr>
          <a:xfrm rot="0" flipH="false" flipV="false">
            <a:off x="2724150" y="4728845"/>
            <a:ext cx="6096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73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待确认</a:t>
            </a:r>
            <a:endParaRPr lang="en-US" sz="1100"/>
          </a:p>
        </p:txBody>
      </p:sp>
      <p:sp>
        <p:nvSpPr>
          <p:cNvPr name="AutoShape 60" id="60"/>
          <p:cNvSpPr/>
          <p:nvPr/>
        </p:nvSpPr>
        <p:spPr>
          <a:xfrm rot="0" flipH="false" flipV="false">
            <a:off x="1200150" y="4900295"/>
            <a:ext cx="219075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1" id="61"/>
          <p:cNvSpPr/>
          <p:nvPr/>
        </p:nvSpPr>
        <p:spPr>
          <a:xfrm rot="0" flipH="false" flipV="false">
            <a:off x="1314450" y="4938395"/>
            <a:ext cx="6096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73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DDD</a:t>
            </a:r>
            <a:endParaRPr lang="en-US" sz="1100"/>
          </a:p>
        </p:txBody>
      </p:sp>
      <p:sp>
        <p:nvSpPr>
          <p:cNvPr name="AutoShape 62" id="62"/>
          <p:cNvSpPr/>
          <p:nvPr/>
        </p:nvSpPr>
        <p:spPr>
          <a:xfrm rot="0" flipH="false" flipV="false">
            <a:off x="2019300" y="4938395"/>
            <a:ext cx="6096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73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待补充</a:t>
            </a:r>
            <a:endParaRPr lang="en-US" sz="1100"/>
          </a:p>
        </p:txBody>
      </p:sp>
      <p:sp>
        <p:nvSpPr>
          <p:cNvPr name="AutoShape 63" id="63"/>
          <p:cNvSpPr/>
          <p:nvPr/>
        </p:nvSpPr>
        <p:spPr>
          <a:xfrm rot="0" flipH="false" flipV="false">
            <a:off x="2724150" y="4938395"/>
            <a:ext cx="6096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73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待确认</a:t>
            </a:r>
            <a:endParaRPr lang="en-US" sz="1100"/>
          </a:p>
        </p:txBody>
      </p:sp>
      <p:sp>
        <p:nvSpPr>
          <p:cNvPr name="AutoShape 64" id="64"/>
          <p:cNvSpPr/>
          <p:nvPr/>
        </p:nvSpPr>
        <p:spPr>
          <a:xfrm rot="0" flipH="false" flipV="false">
            <a:off x="1200150" y="5109845"/>
            <a:ext cx="219075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5" id="65"/>
          <p:cNvSpPr/>
          <p:nvPr/>
        </p:nvSpPr>
        <p:spPr>
          <a:xfrm rot="0" flipH="false" flipV="false">
            <a:off x="1314450" y="5147945"/>
            <a:ext cx="6096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73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医保</a:t>
            </a:r>
            <a:endParaRPr lang="en-US" sz="1100"/>
          </a:p>
        </p:txBody>
      </p:sp>
      <p:sp>
        <p:nvSpPr>
          <p:cNvPr name="AutoShape 66" id="66"/>
          <p:cNvSpPr/>
          <p:nvPr/>
        </p:nvSpPr>
        <p:spPr>
          <a:xfrm rot="0" flipH="false" flipV="false">
            <a:off x="2019300" y="5147945"/>
            <a:ext cx="6096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73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按地区</a:t>
            </a:r>
            <a:endParaRPr lang="en-US" sz="1100"/>
          </a:p>
        </p:txBody>
      </p:sp>
      <p:sp>
        <p:nvSpPr>
          <p:cNvPr name="AutoShape 67" id="67"/>
          <p:cNvSpPr/>
          <p:nvPr/>
        </p:nvSpPr>
        <p:spPr>
          <a:xfrm rot="0" flipH="false" flipV="false">
            <a:off x="2724150" y="5147945"/>
            <a:ext cx="609600" cy="114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734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需更新</a:t>
            </a:r>
            <a:endParaRPr lang="en-US" sz="1100"/>
          </a:p>
        </p:txBody>
      </p:sp>
      <p:sp>
        <p:nvSpPr>
          <p:cNvPr name="AutoShape 68" id="68"/>
          <p:cNvSpPr/>
          <p:nvPr/>
        </p:nvSpPr>
        <p:spPr>
          <a:xfrm rot="0" flipH="false" flipV="false">
            <a:off x="3524250" y="4481195"/>
            <a:ext cx="1066800" cy="819150"/>
          </a:xfrm>
          <a:prstGeom prst="roundRect">
            <a:avLst>
              <a:gd name="adj" fmla="val 11628"/>
            </a:avLst>
          </a:prstGeom>
          <a:solidFill>
            <a:srgbClr val="FFF9EB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69" id="69"/>
          <p:cNvSpPr/>
          <p:nvPr/>
        </p:nvSpPr>
        <p:spPr>
          <a:xfrm rot="0" flipH="false" flipV="false">
            <a:off x="3733800" y="4595495"/>
            <a:ext cx="6477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050">
                <a:solidFill>
                  <a:srgbClr val="F4A23A"/>
                </a:solidFill>
                <a:latin typeface="PingFang SC"/>
                <a:ea typeface="PingFang SC"/>
                <a:cs typeface="PingFang SC"/>
                <a:sym typeface="PingFang SC"/>
              </a:rPr>
              <a:t>验收</a:t>
            </a:r>
            <a:endParaRPr lang="en-US" sz="1100"/>
          </a:p>
        </p:txBody>
      </p:sp>
      <p:sp>
        <p:nvSpPr>
          <p:cNvPr name="AutoShape 70" id="70"/>
          <p:cNvSpPr/>
          <p:nvPr/>
        </p:nvSpPr>
        <p:spPr>
          <a:xfrm rot="0" flipH="false" flipV="false">
            <a:off x="3714750" y="4843145"/>
            <a:ext cx="685800" cy="381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86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可生成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86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可导出</a:t>
            </a:r>
          </a:p>
          <a:p>
            <a:pPr algn="ctr" marL="0" indent="0">
              <a:lnSpc>
                <a:spcPct val="108333"/>
              </a:lnSpc>
            </a:pPr>
            <a:r>
              <a:rPr lang="en-US" b="false" i="false" strike="noStrike" u="none" sz="86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缺失有提示</a:t>
            </a:r>
          </a:p>
        </p:txBody>
      </p:sp>
      <p:sp>
        <p:nvSpPr>
          <p:cNvPr name="AutoShape 71" id="71"/>
          <p:cNvSpPr/>
          <p:nvPr/>
        </p:nvSpPr>
        <p:spPr>
          <a:xfrm rot="0" flipH="false" flipV="false">
            <a:off x="1200150" y="5376545"/>
            <a:ext cx="3314700" cy="1714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939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这不是完整长文档，而是可开发任务的压缩版</a:t>
            </a:r>
            <a:endParaRPr lang="en-US" sz="1100"/>
          </a:p>
        </p:txBody>
      </p:sp>
      <p:sp>
        <p:nvSpPr>
          <p:cNvPr name="AutoShape 72" id="72"/>
          <p:cNvSpPr/>
          <p:nvPr/>
        </p:nvSpPr>
        <p:spPr>
          <a:xfrm rot="0" flipH="false" flipV="false">
            <a:off x="2095500" y="5905500"/>
            <a:ext cx="8001000" cy="457200"/>
          </a:xfrm>
          <a:prstGeom prst="roundRect">
            <a:avLst>
              <a:gd name="adj" fmla="val 41667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52400" rIns="1524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PRD 的价值，不在于写得长，而在于让开发对象少猜。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13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哪个需求更适合交给 Agent？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什么样的需求才算“讲清楚”。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086100" y="1543050"/>
            <a:ext cx="60198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575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如果你是 Codex，你最愿意收到 A、B、C 哪一个？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295400" y="2247900"/>
            <a:ext cx="2857500" cy="27432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733550" y="2552700"/>
            <a:ext cx="1981200" cy="323850"/>
          </a:xfrm>
          <a:prstGeom prst="roundRect">
            <a:avLst>
              <a:gd name="adj" fmla="val 35294"/>
            </a:avLst>
          </a:prstGeom>
          <a:solidFill>
            <a:srgbClr val="1F6FE5">
              <a:alpha val="100000"/>
            </a:srgbClr>
          </a:solidFill>
          <a:ln w="12700">
            <a:solidFill>
              <a:srgbClr val="1F6FE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A 需求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619250" y="3105150"/>
            <a:ext cx="2209800" cy="742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做一个竞品对比工具。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133600" y="4447540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太模糊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724400" y="2247900"/>
            <a:ext cx="2857500" cy="27432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162550" y="2552700"/>
            <a:ext cx="1981200" cy="323850"/>
          </a:xfrm>
          <a:prstGeom prst="roundRect">
            <a:avLst>
              <a:gd name="adj" fmla="val 35294"/>
            </a:avLst>
          </a:prstGeom>
          <a:solidFill>
            <a:srgbClr val="16A085">
              <a:alpha val="100000"/>
            </a:srgbClr>
          </a:solidFill>
          <a:ln w="12700">
            <a:solidFill>
              <a:srgbClr val="16A085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B 需求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48250" y="3105150"/>
            <a:ext cx="2209800" cy="7429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16666"/>
              </a:lnSpc>
              <a:defRPr/>
            </a:pPr>
            <a:r>
              <a:rPr lang="en-US" b="false" i="false" strike="noStrike" u="none" sz="112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做一个给销售用的产品竞品对比工具，可以看价格、日治疗费用和医保信息。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562600" y="4447540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16A085"/>
                </a:solidFill>
                <a:latin typeface="PingFang SC"/>
                <a:ea typeface="PingFang SC"/>
                <a:cs typeface="PingFang SC"/>
                <a:sym typeface="PingFang SC"/>
              </a:rPr>
              <a:t>还不够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53400" y="2247900"/>
            <a:ext cx="2857500" cy="2743200"/>
          </a:xfrm>
          <a:prstGeom prst="roundRect">
            <a:avLst>
              <a:gd name="adj" fmla="val 8333"/>
            </a:avLst>
          </a:prstGeom>
          <a:solidFill>
            <a:srgbClr val="FFF9EB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591550" y="2552700"/>
            <a:ext cx="1981200" cy="323850"/>
          </a:xfrm>
          <a:prstGeom prst="roundRect">
            <a:avLst>
              <a:gd name="adj" fmla="val 35294"/>
            </a:avLst>
          </a:prstGeom>
          <a:solidFill>
            <a:srgbClr val="F4A23A">
              <a:alpha val="100000"/>
            </a:srgbClr>
          </a:solidFill>
          <a:ln w="12700">
            <a:solidFill>
              <a:srgbClr val="F4A23A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200">
                <a:solidFill>
                  <a:srgbClr val="FFFFFF"/>
                </a:solidFill>
                <a:latin typeface="PingFang SC"/>
                <a:ea typeface="PingFang SC"/>
                <a:cs typeface="PingFang SC"/>
                <a:sym typeface="PingFang SC"/>
              </a:rPr>
              <a:t>C 需求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477250" y="3105150"/>
            <a:ext cx="2209800" cy="12192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50000"/>
              </a:lnSpc>
              <a:defRPr/>
            </a:pPr>
            <a:r>
              <a:rPr lang="en-US" b="false" i="false" strike="noStrike" u="none" sz="96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销售内部使用的对比卡片工具：CFC 选择公司产品后，展示 2-3 个预设竞品在价格、日治疗费用、DDD、医保条件等字段上的对比；第一版使用模拟数据，不接真实系统，不生成治疗建议和销售话术。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91600" y="4447540"/>
            <a:ext cx="1181100" cy="323850"/>
          </a:xfrm>
          <a:prstGeom prst="roundRect">
            <a:avLst>
              <a:gd name="adj" fmla="val 50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ctr" rtlCol="false" wrap="square" lIns="76200" rIns="762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164">
                <a:solidFill>
                  <a:srgbClr val="F4A23A"/>
                </a:solidFill>
                <a:latin typeface="PingFang SC"/>
                <a:ea typeface="PingFang SC"/>
                <a:cs typeface="PingFang SC"/>
                <a:sym typeface="PingFang SC"/>
              </a:rPr>
              <a:t>最适合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2095500" y="5905500"/>
            <a:ext cx="8001000" cy="457200"/>
          </a:xfrm>
          <a:prstGeom prst="roundRect">
            <a:avLst>
              <a:gd name="adj" fmla="val 41667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52400" rIns="1524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C 最适合：用户、场景、字段、边界和第一版范围都更清楚。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14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AI Prompt 模板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当你请 AI 帮你生成 PRD 时，不要只给一句话需求。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352550" y="1562100"/>
            <a:ext cx="7239000" cy="4095750"/>
          </a:xfrm>
          <a:prstGeom prst="roundRect">
            <a:avLst>
              <a:gd name="adj" fmla="val 465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95450" y="1972310"/>
            <a:ext cx="6553200" cy="419100"/>
          </a:xfrm>
          <a:prstGeom prst="roundRect">
            <a:avLst>
              <a:gd name="adj" fmla="val 18182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885950" y="2048510"/>
            <a:ext cx="1428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089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角色（Role）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429000" y="2048510"/>
            <a:ext cx="4476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你是一名医药行业销售数字化产品助手。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695450" y="2524760"/>
            <a:ext cx="6553200" cy="419100"/>
          </a:xfrm>
          <a:prstGeom prst="roundRect">
            <a:avLst>
              <a:gd name="adj" fmla="val 1818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885950" y="2600960"/>
            <a:ext cx="1428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089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任务（Task）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29000" y="2600960"/>
            <a:ext cx="4476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根据用户输入，生成销售内部使用的产品需求文档。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95450" y="3077210"/>
            <a:ext cx="6553200" cy="419100"/>
          </a:xfrm>
          <a:prstGeom prst="roundRect">
            <a:avLst>
              <a:gd name="adj" fmla="val 18182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885950" y="3153410"/>
            <a:ext cx="1428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089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背景（Background）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429000" y="3153410"/>
            <a:ext cx="4476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目标工具是产品与竞品对比卡片，用于拜访前准备。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695450" y="3629660"/>
            <a:ext cx="6553200" cy="419100"/>
          </a:xfrm>
          <a:prstGeom prst="roundRect">
            <a:avLst>
              <a:gd name="adj" fmla="val 1818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885950" y="3705860"/>
            <a:ext cx="1428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089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输入（Input）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429000" y="3705860"/>
            <a:ext cx="4476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产品、竞品、地区/政策口径、关注字段、资料来源。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695450" y="4182110"/>
            <a:ext cx="6553200" cy="419100"/>
          </a:xfrm>
          <a:prstGeom prst="roundRect">
            <a:avLst>
              <a:gd name="adj" fmla="val 18182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885950" y="4258310"/>
            <a:ext cx="1428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089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输出（Output）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429000" y="4258310"/>
            <a:ext cx="4476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结构化 PRD：目标、用户、流程、字段、边界、验收。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695450" y="4734560"/>
            <a:ext cx="6553200" cy="419100"/>
          </a:xfrm>
          <a:prstGeom prst="roundRect">
            <a:avLst>
              <a:gd name="adj" fmla="val 18182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885950" y="4810760"/>
            <a:ext cx="1428750" cy="2095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089">
                <a:solidFill>
                  <a:srgbClr val="1F6FE5"/>
                </a:solidFill>
                <a:latin typeface="PingFang SC"/>
                <a:ea typeface="PingFang SC"/>
                <a:cs typeface="PingFang SC"/>
                <a:sym typeface="PingFang SC"/>
              </a:rPr>
              <a:t>约束（Constraints）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3429000" y="4810760"/>
            <a:ext cx="447675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014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仅供内部准备，不生成治疗建议，不使用未经批准资料。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953500" y="2766695"/>
            <a:ext cx="2050415" cy="2379345"/>
          </a:xfrm>
          <a:prstGeom prst="roundRect">
            <a:avLst>
              <a:gd name="adj" fmla="val 11428"/>
            </a:avLst>
          </a:prstGeom>
          <a:solidFill>
            <a:srgbClr val="F8FC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334500" y="3543300"/>
            <a:ext cx="1238250" cy="5334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8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让 AI</a:t>
            </a:r>
            <a:endParaRPr lang="en-US" sz="1100"/>
          </a:p>
          <a:p>
            <a:pPr algn="ctr" marL="0" indent="0">
              <a:lnSpc>
                <a:spcPct val="108333"/>
              </a:lnSpc>
            </a:pPr>
            <a:r>
              <a:rPr lang="en-US" b="true" i="false" strike="noStrike" u="none" sz="18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先追问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144000" y="4229100"/>
            <a:ext cx="1699260" cy="514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ctr" marL="0" indent="0">
              <a:lnSpc>
                <a:spcPct val="150000"/>
              </a:lnSpc>
              <a:defRPr/>
            </a:pPr>
            <a:r>
              <a:rPr lang="en-US" b="false" i="false" strike="noStrike" u="none" sz="975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如果信息不完整，先要求 AI 列出需要补充的问题，而不是直接写方案。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2095500" y="5905500"/>
            <a:ext cx="8001000" cy="457200"/>
          </a:xfrm>
          <a:prstGeom prst="roundRect">
            <a:avLst>
              <a:gd name="adj" fmla="val 41667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52400" rIns="15240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好 Prompt 的本质：把上下文、目标、输入、输出和边界讲清楚。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9408468" y="1745615"/>
            <a:ext cx="1193184" cy="167640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gradFill rotWithShape="false">
          <a:gsLst>
            <a:gs pos="0">
              <a:srgbClr val="F9FCFF">
                <a:alpha val="100000"/>
              </a:srgbClr>
            </a:gs>
            <a:gs pos="54000">
              <a:srgbClr val="EFF7FF">
                <a:alpha val="100000"/>
              </a:srgbClr>
            </a:gs>
            <a:gs pos="100000">
              <a:srgbClr val="F7FFFC">
                <a:alpha val="100000"/>
              </a:srgbClr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ect">
            <a:avLst/>
          </a:prstGeom>
          <a:solidFill>
            <a:srgbClr val="F9FC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8572500" y="-1714500"/>
            <a:ext cx="4953000" cy="34290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-1714500" y="4762500"/>
            <a:ext cx="4762500" cy="2667000"/>
          </a:xfrm>
          <a:prstGeom prst="ellipse">
            <a:avLst/>
          </a:prstGeom>
          <a:solidFill>
            <a:srgbClr val="EAF8F5">
              <a:alpha val="100000"/>
            </a:srgbClr>
          </a:solidFill>
          <a:ln w="12700">
            <a:noFill/>
            <a:prstDash val="solid"/>
          </a:ln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14350" y="381000"/>
            <a:ext cx="552450" cy="381000"/>
          </a:xfrm>
          <a:prstGeom prst="roundRect">
            <a:avLst>
              <a:gd name="adj" fmla="val 25000"/>
            </a:avLst>
          </a:prstGeom>
          <a:gradFill rotWithShape="false">
            <a:gsLst>
              <a:gs pos="0">
                <a:srgbClr val="1F6FE5">
                  <a:alpha val="100000"/>
                </a:srgbClr>
              </a:gs>
              <a:gs pos="100000">
                <a:srgbClr val="5EA6FF">
                  <a:alpha val="100000"/>
                </a:srgbClr>
              </a:gs>
            </a:gsLst>
            <a:lin ang="8100000"/>
          </a:gradFill>
          <a:ln w="12700">
            <a:solidFill>
              <a:srgbClr val="FFFFFF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500">
                <a:solidFill>
                  <a:srgbClr val="FFFFFF"/>
                </a:solidFill>
                <a:latin typeface="Aptos Display"/>
                <a:ea typeface="Aptos Display"/>
                <a:cs typeface="Aptos Display"/>
                <a:sym typeface="Aptos Display"/>
              </a:rPr>
              <a:t>15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57300" y="457200"/>
            <a:ext cx="7620000" cy="4953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8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下一步行动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57300" y="1028700"/>
            <a:ext cx="8572500" cy="2857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t" rtlCol="false" wrap="square" lIns="0" rIns="0" tIns="0" bIns="0">
            <a:noAutofit/>
          </a:bodyPr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500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从今天开始，把好想法变成可开发、可验证的小应用。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1714500"/>
            <a:ext cx="10287000" cy="3333750"/>
          </a:xfrm>
          <a:prstGeom prst="roundRect">
            <a:avLst>
              <a:gd name="adj" fmla="val 8000"/>
            </a:avLst>
          </a:prstGeom>
          <a:solidFill>
            <a:srgbClr val="FFFF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t" rtlCol="false" wrap="square" lIns="91440" rIns="91440" tIns="45720" bIns="45720">
            <a:noAutofit/>
          </a:bodyPr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866900" y="2190750"/>
            <a:ext cx="609600" cy="6096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95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352550" y="3067050"/>
            <a:ext cx="1638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完善需求清单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352550" y="3390900"/>
            <a:ext cx="1638300" cy="514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39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补齐用户、场景、字段、边界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0" flipH="false" flipV="false">
            <a:off x="2705100" y="2495550"/>
            <a:ext cx="53340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3810000" y="2190750"/>
            <a:ext cx="609600" cy="6096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95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295650" y="3067050"/>
            <a:ext cx="1638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组织用户验证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295650" y="3390900"/>
            <a:ext cx="1638300" cy="514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39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找 1-2 位用户确认场景是否真实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0" flipH="false" flipV="false">
            <a:off x="4648200" y="2495550"/>
            <a:ext cx="53340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5753100" y="2190750"/>
            <a:ext cx="609600" cy="6096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950">
                <a:solidFill>
                  <a:srgbClr val="1F6FE5"/>
                </a:solidFill>
                <a:latin typeface="Aptos"/>
                <a:ea typeface="Aptos"/>
                <a:cs typeface="Aptos"/>
                <a:sym typeface="Aptos"/>
              </a:rPr>
              <a:t>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238750" y="3067050"/>
            <a:ext cx="1638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输出 PRD 并评审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238750" y="3390900"/>
            <a:ext cx="1638300" cy="514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39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用一页 PRD 对齐范围和验收</a:t>
            </a:r>
            <a:endParaRPr lang="en-US" sz="1100"/>
          </a:p>
        </p:txBody>
      </p:sp>
      <p:cxnSp>
        <p:nvCxnSpPr>
          <p:cNvPr name="Connector 20" id="20"/>
          <p:cNvCxnSpPr/>
          <p:nvPr/>
        </p:nvCxnSpPr>
        <p:spPr>
          <a:xfrm rot="0" flipH="false" flipV="false">
            <a:off x="6591300" y="2495550"/>
            <a:ext cx="53340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21" id="21"/>
          <p:cNvSpPr/>
          <p:nvPr/>
        </p:nvSpPr>
        <p:spPr>
          <a:xfrm rot="0" flipH="false" flipV="false">
            <a:off x="7696200" y="2190750"/>
            <a:ext cx="609600" cy="6096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950">
                <a:solidFill>
                  <a:srgbClr val="F4A23A"/>
                </a:solidFill>
                <a:latin typeface="Aptos"/>
                <a:ea typeface="Aptos"/>
                <a:cs typeface="Aptos"/>
                <a:sym typeface="Aptos"/>
              </a:rPr>
              <a:t>4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181850" y="3067050"/>
            <a:ext cx="1638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启动 MVP 开发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181850" y="3390900"/>
            <a:ext cx="1638300" cy="514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39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下一节课交给 Codex 等 Agent 协作</a:t>
            </a:r>
            <a:endParaRPr lang="en-US" sz="1100"/>
          </a:p>
        </p:txBody>
      </p:sp>
      <p:cxnSp>
        <p:nvCxnSpPr>
          <p:cNvPr name="Connector 24" id="24"/>
          <p:cNvCxnSpPr/>
          <p:nvPr/>
        </p:nvCxnSpPr>
        <p:spPr>
          <a:xfrm rot="0" flipH="false" flipV="false">
            <a:off x="8534400" y="2495550"/>
            <a:ext cx="533400" cy="0"/>
          </a:xfrm>
          <a:prstGeom prst="line">
            <a:avLst/>
          </a:prstGeom>
          <a:noFill/>
          <a:ln w="12700">
            <a:solidFill>
              <a:srgbClr val="9BBFE9">
                <a:alpha val="100000"/>
              </a:srgbClr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name="AutoShape 25" id="25"/>
          <p:cNvSpPr/>
          <p:nvPr/>
        </p:nvSpPr>
        <p:spPr>
          <a:xfrm rot="0" flipH="false" flipV="false">
            <a:off x="9639300" y="2190750"/>
            <a:ext cx="609600" cy="609600"/>
          </a:xfrm>
          <a:prstGeom prst="ellipse">
            <a:avLst/>
          </a:prstGeom>
          <a:solidFill>
            <a:srgbClr val="EAF4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0" blurRad="12700" algn="b" rotWithShape="false">
              <a:srgbClr val="000000">
                <a:alpha val="6000"/>
              </a:srgbClr>
            </a:outerShdw>
          </a:effectLst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950">
                <a:solidFill>
                  <a:srgbClr val="16A085"/>
                </a:solidFill>
                <a:latin typeface="Aptos"/>
                <a:ea typeface="Aptos"/>
                <a:cs typeface="Aptos"/>
                <a:sym typeface="Aptos"/>
              </a:rPr>
              <a:t>5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124950" y="3067050"/>
            <a:ext cx="1638300" cy="228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持续迭代优化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9124950" y="3390900"/>
            <a:ext cx="1638300" cy="5143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anchor="ctr" rtlCol="false" wrap="square" lIns="0" rIns="0" tIns="0" bIns="0">
            <a:noAutofit/>
          </a:bodyPr>
          <a:lstStyle/>
          <a:p>
            <a:pPr algn="ctr" marL="0" indent="0">
              <a:lnSpc>
                <a:spcPct val="108333"/>
              </a:lnSpc>
              <a:defRPr/>
            </a:pPr>
            <a:r>
              <a:rPr lang="en-US" b="false" i="false" strike="noStrike" u="none" sz="1039">
                <a:solidFill>
                  <a:srgbClr val="60758C"/>
                </a:solidFill>
                <a:latin typeface="PingFang SC"/>
                <a:ea typeface="PingFang SC"/>
                <a:cs typeface="PingFang SC"/>
                <a:sym typeface="PingFang SC"/>
              </a:rPr>
              <a:t>根据反馈补字段、补流程、补边界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1631315" y="4754880"/>
            <a:ext cx="8953500" cy="537210"/>
          </a:xfrm>
          <a:prstGeom prst="roundRect">
            <a:avLst>
              <a:gd name="adj" fmla="val 42308"/>
            </a:avLst>
          </a:prstGeom>
          <a:solidFill>
            <a:srgbClr val="E9F7FF">
              <a:alpha val="100000"/>
            </a:srgbClr>
          </a:solidFill>
          <a:ln w="12700">
            <a:solidFill>
              <a:srgbClr val="C8DDF4">
                <a:alpha val="100000"/>
              </a:srgbClr>
            </a:solidFill>
            <a:prstDash val="solid"/>
          </a:ln>
          <a:effectLst>
            <a:outerShdw dir="5400000" dist="12700" blurRad="50800" algn="b" rotWithShape="false">
              <a:srgbClr val="000000">
                <a:alpha val="10000"/>
              </a:srgbClr>
            </a:outerShdw>
          </a:effectLst>
        </p:spPr>
        <p:txBody>
          <a:bodyPr anchor="ctr" rtlCol="false" wrap="square" lIns="171450" rIns="171450" tIns="0" bIns="0">
            <a:noAutofit/>
          </a:bodyPr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1650">
                <a:solidFill>
                  <a:srgbClr val="102A4C"/>
                </a:solidFill>
                <a:latin typeface="PingFang SC"/>
                <a:ea typeface="PingFang SC"/>
                <a:cs typeface="PingFang SC"/>
                <a:sym typeface="PingFang SC"/>
              </a:rPr>
              <a:t>从今天开始，把“我有一个想法” 变成 “我有一份可开发需求”。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